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93" r:id="rId3"/>
    <p:sldId id="257" r:id="rId4"/>
    <p:sldId id="329" r:id="rId5"/>
    <p:sldId id="294" r:id="rId6"/>
    <p:sldId id="260" r:id="rId7"/>
    <p:sldId id="295" r:id="rId8"/>
    <p:sldId id="265" r:id="rId9"/>
    <p:sldId id="266" r:id="rId10"/>
    <p:sldId id="259" r:id="rId11"/>
    <p:sldId id="269" r:id="rId12"/>
    <p:sldId id="337" r:id="rId13"/>
    <p:sldId id="272" r:id="rId14"/>
    <p:sldId id="270" r:id="rId15"/>
    <p:sldId id="273" r:id="rId16"/>
    <p:sldId id="262" r:id="rId17"/>
    <p:sldId id="292" r:id="rId18"/>
    <p:sldId id="274" r:id="rId19"/>
    <p:sldId id="275" r:id="rId20"/>
    <p:sldId id="276" r:id="rId21"/>
    <p:sldId id="277" r:id="rId22"/>
    <p:sldId id="278" r:id="rId23"/>
    <p:sldId id="279" r:id="rId24"/>
    <p:sldId id="280" r:id="rId25"/>
    <p:sldId id="281" r:id="rId26"/>
    <p:sldId id="282" r:id="rId27"/>
    <p:sldId id="284" r:id="rId28"/>
    <p:sldId id="285" r:id="rId29"/>
    <p:sldId id="286" r:id="rId30"/>
    <p:sldId id="287" r:id="rId31"/>
    <p:sldId id="288" r:id="rId32"/>
    <p:sldId id="289"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8B7E"/>
    <a:srgbClr val="C21873"/>
    <a:srgbClr val="0EA5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2031" autoAdjust="0"/>
  </p:normalViewPr>
  <p:slideViewPr>
    <p:cSldViewPr snapToGrid="0" snapToObjects="1">
      <p:cViewPr varScale="1">
        <p:scale>
          <a:sx n="90" d="100"/>
          <a:sy n="90" d="100"/>
        </p:scale>
        <p:origin x="820"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79933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
        <p:nvSpPr>
          <p:cNvPr id="5" name="Presenter Notes 1"/>
          <p:cNvSpPr>
            <a:spLocks noGrp="1"/>
          </p:cNvSpPr>
          <p:nvPr>
            <p:ph type="body" idx="1"/>
          </p:nvPr>
        </p:nvSpPr>
        <p:spPr/>
        <p:txBody>
          <a:bodyPr/>
          <a:lstStyle/>
          <a:p>
            <a:r>
              <a:rPr lang="en-US" dirty="0"/>
              <a:t>Good morning, ladies and gentlemen, my name is Ryan Verghese and my thesis is on “</a:t>
            </a:r>
            <a:r>
              <a:rPr lang="en-US" dirty="0" err="1"/>
              <a:t>Polarisation</a:t>
            </a:r>
            <a:r>
              <a:rPr lang="en-US" dirty="0"/>
              <a:t> estimation in quantum Rydberg Radio-Frequency Sensors” or in the most sci-fi way possible “Quantum Radar”. I am supervised by Dr Hattori and Prof Miroshnichenko.</a:t>
            </a:r>
          </a:p>
          <a:p>
            <a:endParaRPr lang="en-US" dirty="0"/>
          </a:p>
          <a:p>
            <a:r>
              <a:rPr lang="en-US" dirty="0"/>
              <a:t>My work asks a simple but demanding question: can a quantum Rydberg RF receiver recover microwave </a:t>
            </a:r>
            <a:r>
              <a:rPr lang="en-US" dirty="0" err="1"/>
              <a:t>polarisation</a:t>
            </a:r>
            <a:r>
              <a:rPr lang="en-US" dirty="0"/>
              <a:t>, not just detect how much of an RF field is present (Power)?</a:t>
            </a:r>
          </a:p>
          <a:p>
            <a:endParaRPr lang="en-US" dirty="0"/>
          </a:p>
          <a:p>
            <a:r>
              <a:rPr lang="en-US" dirty="0"/>
              <a:t>Power tells us how strong a signal is; </a:t>
            </a:r>
            <a:r>
              <a:rPr lang="en-US" dirty="0" err="1"/>
              <a:t>polarisation</a:t>
            </a:r>
            <a:r>
              <a:rPr lang="en-US" dirty="0"/>
              <a:t> tells us something about how the wave is oriented, how it has propagated, and sometimes what sort of emitter or interaction produced it.</a:t>
            </a:r>
          </a:p>
          <a:p>
            <a:endParaRPr lang="en-US" dirty="0"/>
          </a:p>
          <a:p>
            <a:r>
              <a:rPr lang="en-US" dirty="0"/>
              <a:t>First, let’s define the problem.</a:t>
            </a: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2"/>
          <p:cNvSpPr>
            <a:spLocks noGrp="1"/>
          </p:cNvSpPr>
          <p:nvPr>
            <p:ph type="body" idx="1"/>
          </p:nvPr>
        </p:nvSpPr>
        <p:spPr/>
        <p:txBody>
          <a:bodyPr/>
          <a:lstStyle/>
          <a:p>
            <a:r>
              <a:rPr lang="en-AU" dirty="0"/>
              <a:t>Modern RF environments are crowded. Satellites, radar, aircraft links, mobile systems and interference can all occupy the same broad electromagnetic environment. In that setting, measuring power alone is often not enough.</a:t>
            </a:r>
          </a:p>
          <a:p>
            <a:r>
              <a:rPr lang="en-AU" dirty="0"/>
              <a:t>Polarisation gives us an additional layer of information. It can tell us something about propagation, orientation, scattering and emitter behaviour. Put simply: power tells us how much signal is there; polarisation helps tell us what kind of field we are looking at.</a:t>
            </a:r>
          </a:p>
          <a:p>
            <a:r>
              <a:rPr lang="en-AU" dirty="0"/>
              <a:t>This is why Rydberg RF sensing is interesting. The microwave field interacts with atom-defined energy levels, and we read the response optically. That means the sensing element is tied to atomic physics rather than a conventional antenna geometry. My focus here is the vector part of the field: its polarisation, which can </a:t>
            </a:r>
            <a:r>
              <a:rPr lang="en-US" dirty="0"/>
              <a:t>help unlock a key degree of freedom when it comes to detecting a target, For instance, we could track targets of interest quietly, precisely, and flexibly across a wide band of frequencies.</a:t>
            </a:r>
          </a:p>
          <a:p>
            <a:endParaRPr lang="en-US" dirty="0"/>
          </a:p>
          <a:p>
            <a:r>
              <a:rPr lang="en-US" dirty="0"/>
              <a:t>So what exactly is Rydberg and how does it work?</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
        <p:nvSpPr>
          <p:cNvPr id="5" name="Presenter Notes 3"/>
          <p:cNvSpPr>
            <a:spLocks noGrp="1"/>
          </p:cNvSpPr>
          <p:nvPr>
            <p:ph type="body" idx="1"/>
          </p:nvPr>
        </p:nvSpPr>
        <p:spPr/>
        <p:txBody>
          <a:bodyPr/>
          <a:lstStyle/>
          <a:p>
            <a:r>
              <a:rPr lang="en-US" dirty="0"/>
              <a:t>A Rydberg atom is an atom with a very high principle quantum number (n). Usually a Group 1 element, a Rydberg atom has 1 outer orbiting electron that is far from the nucleus. This causes the atom to be sensitive to perturbations such as RF which is the core idea of how Rydberg works.</a:t>
            </a:r>
          </a:p>
          <a:p>
            <a:endParaRPr lang="en-US" dirty="0"/>
          </a:p>
          <a:p>
            <a:r>
              <a:rPr lang="en-US" dirty="0"/>
              <a:t>So, we get a glass tube and fill it up with Rb (some papers use Cs as they are more sensitive due to the electron being further away from the nucleus) </a:t>
            </a:r>
            <a:r>
              <a:rPr lang="en-US" dirty="0" err="1"/>
              <a:t>vapour</a:t>
            </a:r>
            <a:r>
              <a:rPr lang="en-US" dirty="0"/>
              <a:t>, shine a 780-nanometre probe laser through it to measure how much light goes through, and add another counterpropagating 480-nanometre coupling laser to shift the atoms into a transition phenomena we call Electromagnetically Induced Transparency (EIT) which causes the </a:t>
            </a:r>
            <a:r>
              <a:rPr lang="en-US" dirty="0" err="1"/>
              <a:t>vapour</a:t>
            </a:r>
            <a:r>
              <a:rPr lang="en-US" dirty="0"/>
              <a:t> cell to be more or less transparent as the name suggests.</a:t>
            </a:r>
          </a:p>
          <a:p>
            <a:endParaRPr lang="en-US" dirty="0"/>
          </a:p>
          <a:p>
            <a:r>
              <a:rPr lang="en-US" dirty="0"/>
              <a:t>Click 1, 2: And ultimately, this is what it looks like on a scope. The 780-nanometre probe measures optical absorption. The 480-nanometre laser opens a Rydberg EIT window. And when an RF field couples </a:t>
            </a:r>
            <a:r>
              <a:rPr lang="en-US" dirty="0" err="1"/>
              <a:t>neighbouring</a:t>
            </a:r>
            <a:r>
              <a:rPr lang="en-US" dirty="0"/>
              <a:t> Rydberg states, the optical spectrum changes; in the strong enough regime it produces </a:t>
            </a:r>
            <a:r>
              <a:rPr lang="en-US" dirty="0" err="1"/>
              <a:t>Autler</a:t>
            </a:r>
            <a:r>
              <a:rPr lang="en-US" dirty="0"/>
              <a:t>–Townes splitting. The amount of splitting is proportional to the frequency of the RF signal.</a:t>
            </a: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4"/>
          <p:cNvSpPr>
            <a:spLocks noGrp="1"/>
          </p:cNvSpPr>
          <p:nvPr>
            <p:ph type="body" idx="1"/>
          </p:nvPr>
        </p:nvSpPr>
        <p:spPr/>
        <p:txBody>
          <a:bodyPr/>
          <a:lstStyle/>
          <a:p>
            <a:r>
              <a:rPr lang="en-AU" dirty="0"/>
              <a:t>Rydberg RF sensing is now being pursued by major organisations because it sits at the intersection of metrology, resilient communications and electromagnetic situational awareness. NIST is strongly associated with traceable RF measurements and atom-based receivers. DEVCOM is interested in defence sensing and resilient communications. JPL and NASA care about remote and space-relevant electromagnetic environments.</a:t>
            </a:r>
          </a:p>
          <a:p>
            <a:r>
              <a:rPr lang="en-AU" dirty="0"/>
              <a:t>The reason I include this slide is to show that the problem is not isolated to one thesis. RF polarimetry is becoming a serious measurement challenge. My project is one piece of that larger question: can we make the polarisation part of the field measurable in a simple and defensible way?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5"/>
          <p:cNvSpPr>
            <a:spLocks noGrp="1"/>
          </p:cNvSpPr>
          <p:nvPr>
            <p:ph type="body" idx="1"/>
          </p:nvPr>
        </p:nvSpPr>
        <p:spPr/>
        <p:txBody>
          <a:bodyPr/>
          <a:lstStyle/>
          <a:p>
            <a:r>
              <a:rPr lang="en-US" dirty="0"/>
              <a:t>Rydberg RF sensors are powerful, but they are not magic. There are practical limitations.</a:t>
            </a:r>
          </a:p>
          <a:p>
            <a:endParaRPr lang="en-US" dirty="0"/>
          </a:p>
          <a:p>
            <a:r>
              <a:rPr lang="en-US" dirty="0"/>
              <a:t>First, </a:t>
            </a:r>
            <a:r>
              <a:rPr lang="en-US" dirty="0" err="1"/>
              <a:t>polarisation</a:t>
            </a:r>
            <a:r>
              <a:rPr lang="en-US" dirty="0"/>
              <a:t> detection is weakly developed. Power tells us how much signal arrived, but </a:t>
            </a:r>
            <a:r>
              <a:rPr lang="en-US" dirty="0" err="1"/>
              <a:t>polarisation</a:t>
            </a:r>
            <a:r>
              <a:rPr lang="en-US" dirty="0"/>
              <a:t> can reveal orientation, propagation and emitter </a:t>
            </a:r>
            <a:r>
              <a:rPr lang="en-US" dirty="0" err="1"/>
              <a:t>behaviour</a:t>
            </a:r>
            <a:r>
              <a:rPr lang="en-US" dirty="0"/>
              <a:t>.</a:t>
            </a:r>
          </a:p>
          <a:p>
            <a:r>
              <a:rPr lang="en-US" dirty="0"/>
              <a:t>Click 1: Second, instantaneous bandwidth remains a practical issue. The transition can be tuned, but high-speed, wideband operation is still a system challenge.</a:t>
            </a:r>
          </a:p>
          <a:p>
            <a:r>
              <a:rPr lang="en-US" dirty="0"/>
              <a:t>Click 2: Third, the optical system is still relatively complex, with lasers, </a:t>
            </a:r>
            <a:r>
              <a:rPr lang="en-US" dirty="0" err="1"/>
              <a:t>stabilisation</a:t>
            </a:r>
            <a:r>
              <a:rPr lang="en-US" dirty="0"/>
              <a:t>, alignment and photodetection.</a:t>
            </a:r>
          </a:p>
          <a:p>
            <a:r>
              <a:rPr lang="en-US" dirty="0"/>
              <a:t>Click 3: This talk addresses the first limitation: how to turn a scalar atomic RF response into a calibrated vector measurement.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
        <p:nvSpPr>
          <p:cNvPr id="5" name="Presenter Notes 6"/>
          <p:cNvSpPr>
            <a:spLocks noGrp="1"/>
          </p:cNvSpPr>
          <p:nvPr>
            <p:ph type="body" idx="1"/>
          </p:nvPr>
        </p:nvSpPr>
        <p:spPr/>
        <p:txBody>
          <a:bodyPr/>
          <a:lstStyle/>
          <a:p>
            <a:r>
              <a:rPr lang="en-AU" dirty="0"/>
              <a:t>This is the central architecture of the project. On the left we start with an unknown RF polarisation state. We then need calibrated projections: horizontal/vertical, diagonal/anti-diagonal, and ultimately right/left circular or another independent non-coplanar channel.</a:t>
            </a:r>
          </a:p>
          <a:p>
            <a:r>
              <a:rPr lang="en-AU" dirty="0"/>
              <a:t>The atom provides the optical readout through the EIT or </a:t>
            </a:r>
            <a:r>
              <a:rPr lang="en-AU" dirty="0" err="1"/>
              <a:t>Autler</a:t>
            </a:r>
            <a:r>
              <a:rPr lang="en-AU" dirty="0"/>
              <a:t>–Townes response. Then, after calibration, we use an inversion matrix to estimate the Stokes vector: s1, s2 and s3.</a:t>
            </a:r>
          </a:p>
          <a:p>
            <a:r>
              <a:rPr lang="en-AU" dirty="0"/>
              <a:t>The key contribution is the chain as a whole: calibrated RF projections plus atomic optical readout, leading to a microwave Stokes estimate with explicit validation limits.</a:t>
            </a: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7"/>
          <p:cNvSpPr>
            <a:spLocks noGrp="1"/>
          </p:cNvSpPr>
          <p:nvPr>
            <p:ph type="body" idx="1"/>
          </p:nvPr>
        </p:nvSpPr>
        <p:spPr/>
        <p:txBody>
          <a:bodyPr/>
          <a:lstStyle/>
          <a:p>
            <a:r>
              <a:rPr lang="en-AU" dirty="0"/>
              <a:t>This is the main experimental result in the talk. The measured linear states remain ordered through the RF and atomic readout chain. At 2 GHz, the H or 0° state is the strongest, the D or 45° state sits between, and the V or 90° state is strongly rejected.</a:t>
            </a:r>
          </a:p>
          <a:p>
            <a:r>
              <a:rPr lang="en-AU" dirty="0"/>
              <a:t>The useful headline is the pass–reject separation: 9.7 </a:t>
            </a:r>
            <a:r>
              <a:rPr lang="en-AU" dirty="0" err="1"/>
              <a:t>dB.</a:t>
            </a:r>
            <a:r>
              <a:rPr lang="en-AU" dirty="0"/>
              <a:t> In linear terms that is a strong contrast, and it tells us that useful linear-polarisation information survives the experimental chain.</a:t>
            </a:r>
          </a:p>
          <a:p>
            <a:r>
              <a:rPr lang="en-AU" dirty="0"/>
              <a:t>The photograph on the right is the linear polariser hardware and testing arrangement, not the complete optical setup. That is worth saying clearly because it avoids overclaiming what the image represents.</a:t>
            </a:r>
          </a:p>
          <a:p>
            <a:r>
              <a:rPr lang="en-AU" dirty="0"/>
              <a:t>So the honest conclusion is: this proves linear discrimination survives atomic readout. It does not yet prove full-Stokes polarimetry, because the circular component, S3, is still not measured.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
        <p:nvSpPr>
          <p:cNvPr id="5" name="Presenter Notes 8"/>
          <p:cNvSpPr>
            <a:spLocks noGrp="1"/>
          </p:cNvSpPr>
          <p:nvPr>
            <p:ph type="body" idx="1"/>
          </p:nvPr>
        </p:nvSpPr>
        <p:spPr/>
        <p:txBody>
          <a:bodyPr/>
          <a:lstStyle/>
          <a:p>
            <a:r>
              <a:rPr lang="en-AU" dirty="0"/>
              <a:t>This is the conceptual centre of the presentation. The </a:t>
            </a:r>
            <a:r>
              <a:rPr lang="en-AU" dirty="0" err="1"/>
              <a:t>Poincaré</a:t>
            </a:r>
            <a:r>
              <a:rPr lang="en-AU" dirty="0"/>
              <a:t> sphere is a map of polarisation states. The teal ring is the equator, where S3 equals zero. Every point on that ring is a linear polarisation state. The circular states sit at the poles, off the equatorial plane.</a:t>
            </a:r>
          </a:p>
          <a:p>
            <a:r>
              <a:rPr lang="en-AU" dirty="0"/>
              <a:t>The table gives the Stokes-related estimates from five averaged runs. The measured H, D and V values follow the expected ordering: H is high, D is intermediate, and V is low. The H/V contrast is the same 9.7 dB result, which is roughly a 9.3 times contrast in linear power.</a:t>
            </a:r>
          </a:p>
          <a:p>
            <a:r>
              <a:rPr lang="en-AU" dirty="0"/>
              <a:t>The statistical point is deliberately conservative. With the averaged values shown here, the strongest defensible statement is an effect-size and ordering check against the theoretical expectation: H greater than D greater than V, consistent with Malus-law behaviour. A formal p-value would require the individual repeat values and their variance, not just the displayed averages.</a:t>
            </a:r>
          </a:p>
          <a:p>
            <a:r>
              <a:rPr lang="en-AU" dirty="0"/>
              <a:t>The deeper message is that this is not a curve-fitting problem. Linear measurements estimate S1 and part of S2, but they cannot uniquely determine the sign or magnitude of S3. The missing information is an observability problem. No clever algorithm can reconstruct a component that was never measured.</a:t>
            </a: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
        <p:nvSpPr>
          <p:cNvPr id="5" name="Presenter Notes 9"/>
          <p:cNvSpPr>
            <a:spLocks noGrp="1"/>
          </p:cNvSpPr>
          <p:nvPr>
            <p:ph type="body" idx="1"/>
          </p:nvPr>
        </p:nvSpPr>
        <p:spPr/>
        <p:txBody>
          <a:bodyPr/>
          <a:lstStyle/>
          <a:p>
            <a:r>
              <a:rPr lang="en-AU"/>
              <a:t>6:30–7:35 | Full-Stokes path</a:t>
            </a:r>
          </a:p>
          <a:p>
            <a:r>
              <a:rPr lang="en-AU"/>
              <a:t>This slide answers the obvious question: what has to change to make S3 observable? Card 1 is the linear-algebra statement. Linear projections give a rank-three view of the full Stokes problem. To solve for the full vector, we need a fourth independent measurement, either an R/L channel or a non-coplanar analyser state.</a:t>
            </a:r>
          </a:p>
          <a:p>
            <a:r>
              <a:rPr lang="en-AU"/>
              <a:t>Card 2 is the reconstruction statement. The calibrated measurements form a response vector q. The analyser matrix A maps Stokes space to those measured responses, and after calibration we use the pseudoinverse A-plus to map back from q to an estimated Stokes vector. The important point is that A should be measured from calibration, not simply assumed from an ideal drawing.</a:t>
            </a:r>
          </a:p>
          <a:p>
            <a:r>
              <a:rPr lang="en-AU"/>
              <a:t>The simulation number, around 1.17 degrees median angular error at 1% readout noise, is a design target showing that a well-conditioned four-state basis can control noise amplification.</a:t>
            </a:r>
          </a:p>
          <a:p>
            <a:r>
              <a:rPr lang="en-AU"/>
              <a:t>Card 3 is the hardware route: a switchable PIN-diode unit cell. The goal is to change the RF projection electronically before the vapour cell, rather than physically rotating the receiver. That makes the next experiment clear: calibrate the switchable analyser, reconstruct held-out linear and circular states, and verify both angular error and handedness.</a:t>
            </a: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
        <p:nvSpPr>
          <p:cNvPr id="5" name="Presenter Notes 10"/>
          <p:cNvSpPr>
            <a:spLocks noGrp="1"/>
          </p:cNvSpPr>
          <p:nvPr>
            <p:ph type="body" idx="1"/>
          </p:nvPr>
        </p:nvSpPr>
        <p:spPr/>
        <p:txBody>
          <a:bodyPr/>
          <a:lstStyle/>
          <a:p>
            <a:r>
              <a:rPr lang="en-AU"/>
              <a:t>7:35–8:20 | Broader atomic RF channel</a:t>
            </a:r>
          </a:p>
          <a:p>
            <a:r>
              <a:rPr lang="en-AU"/>
              <a:t>This slide widens the lens. Even beyond polarisation, atom-based RF sensing can complement conventional front ends. Atomic mixing can provide an additional RF readout channel and enable frequency translation. Atomic spectra can retain useful structure in environments where conventional RF measurements are degraded by interference. And by changing the Rydberg transition, the operating band can shift without replacing the vapour-cell sensing element.</a:t>
            </a:r>
          </a:p>
          <a:p>
            <a:r>
              <a:rPr lang="en-AU"/>
              <a:t>The connection to this thesis is that I am using the atom as an optical RF readout, then adding calibrated projections so that the output carries vector information, not merely scalar field strength.</a:t>
            </a:r>
          </a:p>
          <a:p>
            <a:r>
              <a:rPr lang="en-AU"/>
              <a:t>For an industry or defence audience, this is where the work becomes practical: richer RF-state information can help with discrimination, robustness and validation in complex electromagnetic environments.</a:t>
            </a: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
        <p:nvSpPr>
          <p:cNvPr id="5" name="Presenter Notes 11"/>
          <p:cNvSpPr>
            <a:spLocks noGrp="1"/>
          </p:cNvSpPr>
          <p:nvPr>
            <p:ph type="body" idx="1"/>
          </p:nvPr>
        </p:nvSpPr>
        <p:spPr/>
        <p:txBody>
          <a:bodyPr/>
          <a:lstStyle/>
          <a:p>
            <a:r>
              <a:rPr lang="en-AU"/>
              <a:t>8:20–9:10 | Conclusions</a:t>
            </a:r>
          </a:p>
          <a:p>
            <a:r>
              <a:rPr lang="en-AU"/>
              <a:t>This conclusion is intentionally separated into what is measured, what is modelled and what comes next. Measured now: absorption and EIT-bearing spectra were recorded, and the linear-polariser run demonstrates ordered linear-polarisation response after atomic readout.</a:t>
            </a:r>
          </a:p>
          <a:p>
            <a:r>
              <a:rPr lang="en-AU"/>
              <a:t>Supported by modelling: the observability analysis shows why an independent S3-sensitive channel is required, and the magnetic-bias modelling provides a physically credible route to circular-handedness sensitivity.</a:t>
            </a:r>
          </a:p>
          <a:p>
            <a:r>
              <a:rPr lang="en-AU"/>
              <a:t>What remains: a calibrated R/L-sensitive measurement has not yet been demonstrated. The current experimental result is linear-polarisation discrimination, not complete full-Stokes recovery.</a:t>
            </a:r>
          </a:p>
          <a:p>
            <a:r>
              <a:rPr lang="en-AU"/>
              <a:t>The next proof is beautifully concrete: calibrate H/V, D/A and R/L projections, measure a stable circular response, invert the calibrated response to a Stokes vector, and validate it against known RF references.</a:t>
            </a: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12"/>
          <p:cNvSpPr>
            <a:spLocks noGrp="1"/>
          </p:cNvSpPr>
          <p:nvPr>
            <p:ph type="body" idx="1"/>
          </p:nvPr>
        </p:nvSpPr>
        <p:spPr/>
        <p:txBody>
          <a:bodyPr/>
          <a:lstStyle/>
          <a:p>
            <a:r>
              <a:rPr lang="en-AU"/>
              <a:t>9:10–9:35 | Team</a:t>
            </a:r>
          </a:p>
          <a:p>
            <a:r>
              <a:rPr lang="en-AU"/>
              <a:t>I want to acknowledge the team behind the work. Dr Haroldo Hattori and Prof Andrey Miroshnichenko supervised the project, and Ishara Weerasinghe contributed valuable group context and support.</a:t>
            </a:r>
          </a:p>
          <a:p>
            <a:r>
              <a:rPr lang="en-AU"/>
              <a:t>And this young and handsome fella on the left is me a few years ago — clearly before thesis writing aged me in real time. Jokes aside, this work sits within the wider UNSW quantum RF sensing programme, and I am grateful to everyone who helped make the experimental and theoretical pieces possible.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
        <p:nvSpPr>
          <p:cNvPr id="5" name="Presenter Notes 13"/>
          <p:cNvSpPr>
            <a:spLocks noGrp="1"/>
          </p:cNvSpPr>
          <p:nvPr>
            <p:ph type="body" idx="1"/>
          </p:nvPr>
        </p:nvSpPr>
        <p:spPr/>
        <p:txBody>
          <a:bodyPr/>
          <a:lstStyle/>
          <a:p>
            <a:r>
              <a:rPr lang="en-AU"/>
              <a:t>9:35–9:45 | References</a:t>
            </a:r>
          </a:p>
          <a:p>
            <a:r>
              <a:rPr lang="en-AU"/>
              <a:t>I will not walk through every reference during the talk, but this slide documents the foundations: Rydberg electrometry, Autler–Townes field measurement, Rydberg receivers, Stokes polarimetry, analyser matrices and the recent work on complete RF polarimetry with atomic sensors.</a:t>
            </a:r>
          </a:p>
          <a:p>
            <a:r>
              <a:rPr lang="en-AU"/>
              <a:t>If a question comes up about precedent or novelty, this is the slide I can point to. The novelty here is not that Rydberg atoms sense RF fields; it is the calibrated polarimetric pathway from an atomic optical response toward microwave Stokes recovery.</a:t>
            </a: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
        <p:nvSpPr>
          <p:cNvPr id="5" name="Presenter Notes 14"/>
          <p:cNvSpPr>
            <a:spLocks noGrp="1"/>
          </p:cNvSpPr>
          <p:nvPr>
            <p:ph type="body" idx="1"/>
          </p:nvPr>
        </p:nvSpPr>
        <p:spPr/>
        <p:txBody>
          <a:bodyPr/>
          <a:lstStyle/>
          <a:p>
            <a:r>
              <a:rPr lang="en-AU"/>
              <a:t>9:45–10:00 | Questions</a:t>
            </a:r>
          </a:p>
          <a:p>
            <a:r>
              <a:rPr lang="en-AU"/>
              <a:t>To close: the one idea I want you to remember is that the atom already preserves useful linear-polarisation information, but full polarimetry requires observability of S3. The path forward is a calibrated switchable analyser that makes that missing component measurable.</a:t>
            </a:r>
          </a:p>
          <a:p>
            <a:r>
              <a:rPr lang="en-AU"/>
              <a:t>Thank you very much. I would be happy to take questions.</a:t>
            </a: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
        <p:nvSpPr>
          <p:cNvPr id="5" name="Presenter Notes 15"/>
          <p:cNvSpPr>
            <a:spLocks noGrp="1"/>
          </p:cNvSpPr>
          <p:nvPr>
            <p:ph type="body" idx="1"/>
          </p:nvPr>
        </p:nvSpPr>
        <p:spPr/>
        <p:txBody>
          <a:bodyPr/>
          <a:lstStyle/>
          <a:p>
            <a:r>
              <a:rPr lang="en-AU"/>
              <a:t>Appendix divider</a:t>
            </a:r>
          </a:p>
          <a:p>
            <a:r>
              <a:rPr lang="en-AU"/>
              <a:t>This is the start of the backup material. Do not present it in the main 10-minute talk unless asked. Use it as a signal that the main story is complete and that technical details are available for questions.</a:t>
            </a: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
        <p:nvSpPr>
          <p:cNvPr id="5" name="Presenter Notes 16"/>
          <p:cNvSpPr>
            <a:spLocks noGrp="1"/>
          </p:cNvSpPr>
          <p:nvPr>
            <p:ph type="body" idx="1"/>
          </p:nvPr>
        </p:nvSpPr>
        <p:spPr/>
        <p:txBody>
          <a:bodyPr/>
          <a:lstStyle/>
          <a:p>
            <a:r>
              <a:rPr lang="en-AU"/>
              <a:t>Backup: magnetic biasing matters</a:t>
            </a:r>
          </a:p>
          <a:p>
            <a:r>
              <a:rPr lang="en-AU"/>
              <a:t>Use this slide if someone asks how circular handedness could become visible to the atom. The key answer is that a DC magnetic bias defines a quantisation axis. With sufficient stability and calibration, sigma-plus and sigma-minus pathways can map right- and left-handed circular components to different spectral responses.</a:t>
            </a:r>
          </a:p>
          <a:p>
            <a:r>
              <a:rPr lang="en-AU"/>
              <a:t>Be conservative: this is a modelled mechanism and physical route, not a completed experimental proof in the current dataset.</a:t>
            </a: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2CA58-31A8-7FAB-D0F2-44839ACED9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073A11-733B-A6B3-F1A8-45B52E4534E0}"/>
              </a:ext>
            </a:extLst>
          </p:cNvPr>
          <p:cNvSpPr>
            <a:spLocks noGrp="1" noRot="1" noChangeAspect="1"/>
          </p:cNvSpPr>
          <p:nvPr>
            <p:ph type="sldImg"/>
          </p:nvPr>
        </p:nvSpPr>
        <p:spPr/>
      </p:sp>
      <p:sp>
        <p:nvSpPr>
          <p:cNvPr id="4" name="Slide Number Placeholder 3">
            <a:extLst>
              <a:ext uri="{FF2B5EF4-FFF2-40B4-BE49-F238E27FC236}">
                <a16:creationId xmlns:a16="http://schemas.microsoft.com/office/drawing/2014/main" id="{EEDF49AF-3435-87D0-66DD-F7B65940491D}"/>
              </a:ext>
            </a:extLst>
          </p:cNvPr>
          <p:cNvSpPr>
            <a:spLocks noGrp="1"/>
          </p:cNvSpPr>
          <p:nvPr>
            <p:ph type="sldNum" sz="quarter" idx="10"/>
          </p:nvPr>
        </p:nvSpPr>
        <p:spPr/>
        <p:txBody>
          <a:bodyPr/>
          <a:lstStyle/>
          <a:p>
            <a:fld id="{F7021451-1387-4CA6-816F-3879F97B5CBC}" type="slidenum">
              <a:rPr lang="en-US"/>
              <a:t>17</a:t>
            </a:fld>
            <a:endParaRPr lang="en-US"/>
          </a:p>
        </p:txBody>
      </p:sp>
      <p:sp>
        <p:nvSpPr>
          <p:cNvPr id="5" name="Presenter Notes 17"/>
          <p:cNvSpPr>
            <a:spLocks noGrp="1"/>
          </p:cNvSpPr>
          <p:nvPr>
            <p:ph type="body" idx="1"/>
          </p:nvPr>
        </p:nvSpPr>
        <p:spPr/>
        <p:txBody>
          <a:bodyPr/>
          <a:lstStyle/>
          <a:p>
            <a:r>
              <a:rPr lang="en-AU"/>
              <a:t>Backup: raw optical trace</a:t>
            </a:r>
          </a:p>
          <a:p>
            <a:r>
              <a:rPr lang="en-AU"/>
              <a:t>Use this if asked whether the optical signal was actually observed. The main point is that the photodetector records an optical transmission feature, and the raw trace is the experimental basis for extracting EIT or related spectral structure.</a:t>
            </a:r>
          </a:p>
          <a:p>
            <a:r>
              <a:rPr lang="en-AU"/>
              <a:t>Keep the answer short: raw traces are evidence of the optical readout chain, not by themselves proof of full polarimetry.</a:t>
            </a:r>
          </a:p>
        </p:txBody>
      </p:sp>
    </p:spTree>
    <p:extLst>
      <p:ext uri="{BB962C8B-B14F-4D97-AF65-F5344CB8AC3E}">
        <p14:creationId xmlns:p14="http://schemas.microsoft.com/office/powerpoint/2010/main" val="8473842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
        <p:nvSpPr>
          <p:cNvPr id="5" name="Presenter Notes 18"/>
          <p:cNvSpPr>
            <a:spLocks noGrp="1"/>
          </p:cNvSpPr>
          <p:nvPr>
            <p:ph type="body" idx="1"/>
          </p:nvPr>
        </p:nvSpPr>
        <p:spPr/>
        <p:txBody>
          <a:bodyPr/>
          <a:lstStyle/>
          <a:p>
            <a:r>
              <a:rPr lang="en-AU"/>
              <a:t>Backup: raw optical traces and variation</a:t>
            </a:r>
          </a:p>
          <a:p>
            <a:r>
              <a:rPr lang="en-AU"/>
              <a:t>Use this if asked about repeatability or scan-to-scan variability. The figure is useful for explaining that real vapour-cell EIT data are not perfectly clean; drift, noise and scan variation are part of the measurement environment.</a:t>
            </a:r>
          </a:p>
          <a:p>
            <a:r>
              <a:rPr lang="en-AU"/>
              <a:t>This supports the cautious wording in the main talk: I claim ordered linear discrimination, not a fully validated circular-handedness measurement.</a:t>
            </a: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
        <p:nvSpPr>
          <p:cNvPr id="5" name="Presenter Notes 19"/>
          <p:cNvSpPr>
            <a:spLocks noGrp="1"/>
          </p:cNvSpPr>
          <p:nvPr>
            <p:ph type="body" idx="1"/>
          </p:nvPr>
        </p:nvSpPr>
        <p:spPr/>
        <p:txBody>
          <a:bodyPr/>
          <a:lstStyle/>
          <a:p>
            <a:r>
              <a:rPr lang="en-AU"/>
              <a:t>Backup: field-level calibration</a:t>
            </a:r>
          </a:p>
          <a:p>
            <a:r>
              <a:rPr lang="en-AU"/>
              <a:t>Use this if asked why generator power is not equal to field at the atoms. The safe statement is that Autler–Townes splitting depends on the local electric field at the cell, the transition dipole moment and the optical/RF environment, not just the signal generator display.</a:t>
            </a:r>
          </a:p>
          <a:p>
            <a:r>
              <a:rPr lang="en-AU"/>
              <a:t>The correct strategy is to simulate as a function of RF Rabi frequency, then calibrate the effective field from measured splitting where possible.</a:t>
            </a: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
        <p:nvSpPr>
          <p:cNvPr id="5" name="Presenter Notes 20"/>
          <p:cNvSpPr>
            <a:spLocks noGrp="1"/>
          </p:cNvSpPr>
          <p:nvPr>
            <p:ph type="body" idx="1"/>
          </p:nvPr>
        </p:nvSpPr>
        <p:spPr/>
        <p:txBody>
          <a:bodyPr/>
          <a:lstStyle/>
          <a:p>
            <a:r>
              <a:rPr lang="en-AU"/>
              <a:t>Backup: level and systematic screening</a:t>
            </a:r>
          </a:p>
          <a:p>
            <a:r>
              <a:rPr lang="en-AU"/>
              <a:t>Use this if asked about transition choice. The 1–2 GHz range points to high-n Rydberg candidates, but final assignment needs wavemeter-verified optical tuning and observed EIT or Autler–Townes calibration.</a:t>
            </a:r>
          </a:p>
          <a:p>
            <a:r>
              <a:rPr lang="en-AU"/>
              <a:t>Also mention that high-n states are sensitive to stray fields, so Stark-map checks are useful for deployment or metasurface environments, even though they are not the main novelty of the thesis.</a:t>
            </a: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
        <p:nvSpPr>
          <p:cNvPr id="5" name="Presenter Notes 21"/>
          <p:cNvSpPr>
            <a:spLocks noGrp="1"/>
          </p:cNvSpPr>
          <p:nvPr>
            <p:ph type="body" idx="1"/>
          </p:nvPr>
        </p:nvSpPr>
        <p:spPr/>
        <p:txBody>
          <a:bodyPr/>
          <a:lstStyle/>
          <a:p>
            <a:r>
              <a:rPr lang="en-AU"/>
              <a:t>Backup: magnetic-bias mechanism</a:t>
            </a:r>
          </a:p>
          <a:p>
            <a:r>
              <a:rPr lang="en-AU"/>
              <a:t>Use this if someone wants the atomic-selection-rule explanation. A calibrated bias can define the quantisation axis and separate sigma and pi branches in principle. That gives a route to making circular components spectrally distinguishable.</a:t>
            </a:r>
          </a:p>
          <a:p>
            <a:r>
              <a:rPr lang="en-AU"/>
              <a:t>Again, keep the boundary clear: this explains mechanism and design logic, not a claim that the present magnetic-bias experiment conclusively demonstrated handedness detection.</a:t>
            </a: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
        <p:nvSpPr>
          <p:cNvPr id="5" name="Presenter Notes 22"/>
          <p:cNvSpPr>
            <a:spLocks noGrp="1"/>
          </p:cNvSpPr>
          <p:nvPr>
            <p:ph type="body" idx="1"/>
          </p:nvPr>
        </p:nvSpPr>
        <p:spPr/>
        <p:txBody>
          <a:bodyPr/>
          <a:lstStyle/>
          <a:p>
            <a:r>
              <a:rPr lang="en-AU"/>
              <a:t>Backup: Stokes inversion convention</a:t>
            </a:r>
          </a:p>
          <a:p>
            <a:r>
              <a:rPr lang="en-AU"/>
              <a:t>Use this if asked how dBm values enter Stokes calculations. The answer is that dBm must be converted to linear power before forming Stokes projections.</a:t>
            </a:r>
          </a:p>
          <a:p>
            <a:r>
              <a:rPr lang="en-AU"/>
              <a:t>The convention here is s1 from H minus V and s2 from D minus A, while s3 requires R minus L. In the current main dataset, the result is an equatorial estimate, not a full-sphere reconstruction.</a:t>
            </a:r>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
        <p:nvSpPr>
          <p:cNvPr id="5" name="Presenter Notes 23"/>
          <p:cNvSpPr>
            <a:spLocks noGrp="1"/>
          </p:cNvSpPr>
          <p:nvPr>
            <p:ph type="body" idx="1"/>
          </p:nvPr>
        </p:nvSpPr>
        <p:spPr/>
        <p:txBody>
          <a:bodyPr/>
          <a:lstStyle/>
          <a:p>
            <a:r>
              <a:rPr lang="en-AU"/>
              <a:t>Backup: broader programme evidence</a:t>
            </a:r>
          </a:p>
          <a:p>
            <a:r>
              <a:rPr lang="en-AU"/>
              <a:t>Use this only for context. The slide supports the wider UNSW quantum RF sensing programme, but do not present these as the thesis polarimetry results.</a:t>
            </a:r>
          </a:p>
          <a:p>
            <a:r>
              <a:rPr lang="en-AU"/>
              <a:t>A good one-sentence answer is: these results show why the group is interested in atom-based RF sensing more broadly, while my thesis focuses specifically on polarisation observability and calibrated Stokes recovery.</a:t>
            </a:r>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7C0AD-63E9-CC73-DA5A-D1FA5E4107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05E5C5-27D6-650C-021D-D4E91ADE4072}"/>
              </a:ext>
            </a:extLst>
          </p:cNvPr>
          <p:cNvSpPr>
            <a:spLocks noGrp="1" noRot="1" noChangeAspect="1"/>
          </p:cNvSpPr>
          <p:nvPr>
            <p:ph type="sldImg"/>
          </p:nvPr>
        </p:nvSpPr>
        <p:spPr/>
      </p:sp>
      <p:sp>
        <p:nvSpPr>
          <p:cNvPr id="4" name="Slide Number Placeholder 3">
            <a:extLst>
              <a:ext uri="{FF2B5EF4-FFF2-40B4-BE49-F238E27FC236}">
                <a16:creationId xmlns:a16="http://schemas.microsoft.com/office/drawing/2014/main" id="{1A1F7E52-2550-B3E7-68C0-702F48E177A6}"/>
              </a:ext>
            </a:extLst>
          </p:cNvPr>
          <p:cNvSpPr>
            <a:spLocks noGrp="1"/>
          </p:cNvSpPr>
          <p:nvPr>
            <p:ph type="sldNum" sz="quarter" idx="10"/>
          </p:nvPr>
        </p:nvSpPr>
        <p:spPr/>
        <p:txBody>
          <a:bodyPr/>
          <a:lstStyle/>
          <a:p>
            <a:fld id="{F7021451-1387-4CA6-816F-3879F97B5CBC}" type="slidenum">
              <a:rPr lang="en-US"/>
              <a:t>24</a:t>
            </a:fld>
            <a:endParaRPr lang="en-US"/>
          </a:p>
        </p:txBody>
      </p:sp>
      <p:sp>
        <p:nvSpPr>
          <p:cNvPr id="5" name="Presenter Notes 24"/>
          <p:cNvSpPr>
            <a:spLocks noGrp="1"/>
          </p:cNvSpPr>
          <p:nvPr>
            <p:ph type="body" idx="1"/>
          </p:nvPr>
        </p:nvSpPr>
        <p:spPr/>
        <p:txBody>
          <a:bodyPr/>
          <a:lstStyle/>
          <a:p>
            <a:r>
              <a:rPr lang="en-AU"/>
              <a:t>Backup: research gap</a:t>
            </a:r>
          </a:p>
          <a:p>
            <a:r>
              <a:rPr lang="en-AU"/>
              <a:t>Use this if asked what remains open in the literature. The central gap is not whether Rydberg sensors can detect RF fields; it is how to recover polarisation in an experimentally simple, calibrated and validated way.</a:t>
            </a:r>
          </a:p>
          <a:p>
            <a:r>
              <a:rPr lang="en-AU"/>
              <a:t>The three questions to emphasise are: what observables encode RF polarisation, how much architecture complexity is necessary, and can calibrated projections enable feasible Rydberg polarisation inference?</a:t>
            </a:r>
          </a:p>
        </p:txBody>
      </p:sp>
    </p:spTree>
    <p:extLst>
      <p:ext uri="{BB962C8B-B14F-4D97-AF65-F5344CB8AC3E}">
        <p14:creationId xmlns:p14="http://schemas.microsoft.com/office/powerpoint/2010/main" val="19174715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982B6-0620-5D94-5297-A0722BCA9E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33171B-D117-7EED-4ADF-1DDEBE1735C1}"/>
              </a:ext>
            </a:extLst>
          </p:cNvPr>
          <p:cNvSpPr>
            <a:spLocks noGrp="1" noRot="1" noChangeAspect="1"/>
          </p:cNvSpPr>
          <p:nvPr>
            <p:ph type="sldImg"/>
          </p:nvPr>
        </p:nvSpPr>
        <p:spPr/>
      </p:sp>
      <p:sp>
        <p:nvSpPr>
          <p:cNvPr id="4" name="Slide Number Placeholder 3">
            <a:extLst>
              <a:ext uri="{FF2B5EF4-FFF2-40B4-BE49-F238E27FC236}">
                <a16:creationId xmlns:a16="http://schemas.microsoft.com/office/drawing/2014/main" id="{1E1647C1-5CC9-A5CB-9A2D-542064BAD4B1}"/>
              </a:ext>
            </a:extLst>
          </p:cNvPr>
          <p:cNvSpPr>
            <a:spLocks noGrp="1"/>
          </p:cNvSpPr>
          <p:nvPr>
            <p:ph type="sldNum" sz="quarter" idx="10"/>
          </p:nvPr>
        </p:nvSpPr>
        <p:spPr/>
        <p:txBody>
          <a:bodyPr/>
          <a:lstStyle/>
          <a:p>
            <a:fld id="{F7021451-1387-4CA6-816F-3879F97B5CBC}" type="slidenum">
              <a:rPr lang="en-US"/>
              <a:t>25</a:t>
            </a:fld>
            <a:endParaRPr lang="en-US"/>
          </a:p>
        </p:txBody>
      </p:sp>
      <p:sp>
        <p:nvSpPr>
          <p:cNvPr id="5" name="Presenter Notes 25"/>
          <p:cNvSpPr>
            <a:spLocks noGrp="1"/>
          </p:cNvSpPr>
          <p:nvPr>
            <p:ph type="body" idx="1"/>
          </p:nvPr>
        </p:nvSpPr>
        <p:spPr/>
        <p:txBody>
          <a:bodyPr/>
          <a:lstStyle/>
          <a:p>
            <a:r>
              <a:rPr lang="en-AU"/>
              <a:t>Backup: receiver architecture</a:t>
            </a:r>
          </a:p>
          <a:p>
            <a:r>
              <a:rPr lang="en-AU"/>
              <a:t>Use this if someone asks how the proposed switchable analyser would sit in the system. The architecture is: unknown RF field, switchable analyser or metasurface projection, vapour-cell atomic readout, calibrated response matrix, Stokes reconstruction.</a:t>
            </a:r>
          </a:p>
          <a:p>
            <a:r>
              <a:rPr lang="en-AU"/>
              <a:t>Make clear that this is the proposed validation path, not a claim that every component has already been experimentally completed.</a:t>
            </a:r>
          </a:p>
        </p:txBody>
      </p:sp>
    </p:spTree>
    <p:extLst>
      <p:ext uri="{BB962C8B-B14F-4D97-AF65-F5344CB8AC3E}">
        <p14:creationId xmlns:p14="http://schemas.microsoft.com/office/powerpoint/2010/main" val="18710215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B84D6-78EC-BAA3-6980-D7A39EE858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9A6E6D-6B9D-3096-4C5F-9E41C14184B4}"/>
              </a:ext>
            </a:extLst>
          </p:cNvPr>
          <p:cNvSpPr>
            <a:spLocks noGrp="1" noRot="1" noChangeAspect="1"/>
          </p:cNvSpPr>
          <p:nvPr>
            <p:ph type="sldImg"/>
          </p:nvPr>
        </p:nvSpPr>
        <p:spPr/>
      </p:sp>
      <p:sp>
        <p:nvSpPr>
          <p:cNvPr id="4" name="Slide Number Placeholder 3">
            <a:extLst>
              <a:ext uri="{FF2B5EF4-FFF2-40B4-BE49-F238E27FC236}">
                <a16:creationId xmlns:a16="http://schemas.microsoft.com/office/drawing/2014/main" id="{66BF7B14-4E5C-BB77-DD8C-22AFE5ADC6E8}"/>
              </a:ext>
            </a:extLst>
          </p:cNvPr>
          <p:cNvSpPr>
            <a:spLocks noGrp="1"/>
          </p:cNvSpPr>
          <p:nvPr>
            <p:ph type="sldNum" sz="quarter" idx="10"/>
          </p:nvPr>
        </p:nvSpPr>
        <p:spPr/>
        <p:txBody>
          <a:bodyPr/>
          <a:lstStyle/>
          <a:p>
            <a:fld id="{F7021451-1387-4CA6-816F-3879F97B5CBC}" type="slidenum">
              <a:rPr lang="en-US"/>
              <a:t>26</a:t>
            </a:fld>
            <a:endParaRPr lang="en-US"/>
          </a:p>
        </p:txBody>
      </p:sp>
      <p:sp>
        <p:nvSpPr>
          <p:cNvPr id="5" name="Presenter Notes 26"/>
          <p:cNvSpPr>
            <a:spLocks noGrp="1"/>
          </p:cNvSpPr>
          <p:nvPr>
            <p:ph type="body" idx="1"/>
          </p:nvPr>
        </p:nvSpPr>
        <p:spPr/>
        <p:txBody>
          <a:bodyPr/>
          <a:lstStyle/>
          <a:p>
            <a:r>
              <a:rPr lang="en-AU"/>
              <a:t>Backup: Poincaré sphere</a:t>
            </a:r>
          </a:p>
          <a:p>
            <a:r>
              <a:rPr lang="en-AU"/>
              <a:t>Use this if someone wants the geometry explained more slowly. Linear states lie on the equator; circular states lie at the poles. A set of analyser states confined to the equator cannot distinguish the two poles.</a:t>
            </a:r>
          </a:p>
          <a:p>
            <a:r>
              <a:rPr lang="en-AU"/>
              <a:t>This is the visual reason why S3 is unobservable from H/V/D/A alone.</a:t>
            </a:r>
          </a:p>
        </p:txBody>
      </p:sp>
    </p:spTree>
    <p:extLst>
      <p:ext uri="{BB962C8B-B14F-4D97-AF65-F5344CB8AC3E}">
        <p14:creationId xmlns:p14="http://schemas.microsoft.com/office/powerpoint/2010/main" val="22315900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5C781-902A-15C6-3A09-83E08F8915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ABB101-71CA-B6AC-8857-B653EB552434}"/>
              </a:ext>
            </a:extLst>
          </p:cNvPr>
          <p:cNvSpPr>
            <a:spLocks noGrp="1" noRot="1" noChangeAspect="1"/>
          </p:cNvSpPr>
          <p:nvPr>
            <p:ph type="sldImg"/>
          </p:nvPr>
        </p:nvSpPr>
        <p:spPr/>
      </p:sp>
      <p:sp>
        <p:nvSpPr>
          <p:cNvPr id="4" name="Slide Number Placeholder 3">
            <a:extLst>
              <a:ext uri="{FF2B5EF4-FFF2-40B4-BE49-F238E27FC236}">
                <a16:creationId xmlns:a16="http://schemas.microsoft.com/office/drawing/2014/main" id="{1656C6DD-5C68-FD44-3C91-9B2FE5AF6125}"/>
              </a:ext>
            </a:extLst>
          </p:cNvPr>
          <p:cNvSpPr>
            <a:spLocks noGrp="1"/>
          </p:cNvSpPr>
          <p:nvPr>
            <p:ph type="sldNum" sz="quarter" idx="10"/>
          </p:nvPr>
        </p:nvSpPr>
        <p:spPr/>
        <p:txBody>
          <a:bodyPr/>
          <a:lstStyle/>
          <a:p>
            <a:fld id="{F7021451-1387-4CA6-816F-3879F97B5CBC}" type="slidenum">
              <a:rPr lang="en-US"/>
              <a:t>27</a:t>
            </a:fld>
            <a:endParaRPr lang="en-US"/>
          </a:p>
        </p:txBody>
      </p:sp>
      <p:sp>
        <p:nvSpPr>
          <p:cNvPr id="5" name="Presenter Notes 27"/>
          <p:cNvSpPr>
            <a:spLocks noGrp="1"/>
          </p:cNvSpPr>
          <p:nvPr>
            <p:ph type="body" idx="1"/>
          </p:nvPr>
        </p:nvSpPr>
        <p:spPr/>
        <p:txBody>
          <a:bodyPr/>
          <a:lstStyle/>
          <a:p>
            <a:r>
              <a:rPr lang="en-AU"/>
              <a:t>Backup: antenna S11</a:t>
            </a:r>
          </a:p>
          <a:p>
            <a:r>
              <a:rPr lang="en-AU"/>
              <a:t>Use this for RF-hardware questions. S11 describes how well the antenna is matched over frequency. A poor match reduces delivered RF power and complicates interpretation of field strength at the cell.</a:t>
            </a:r>
          </a:p>
          <a:p>
            <a:r>
              <a:rPr lang="en-AU"/>
              <a:t>Tie it back to calibration: the atomic response must be interpreted through the actual RF chain, not just ideal source settings.</a:t>
            </a:r>
          </a:p>
        </p:txBody>
      </p:sp>
    </p:spTree>
    <p:extLst>
      <p:ext uri="{BB962C8B-B14F-4D97-AF65-F5344CB8AC3E}">
        <p14:creationId xmlns:p14="http://schemas.microsoft.com/office/powerpoint/2010/main" val="5630274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C22B9-6BCF-971E-0599-FCA6D03CB8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990E48-B47D-1C3F-522A-2F15788C0FB2}"/>
              </a:ext>
            </a:extLst>
          </p:cNvPr>
          <p:cNvSpPr>
            <a:spLocks noGrp="1" noRot="1" noChangeAspect="1"/>
          </p:cNvSpPr>
          <p:nvPr>
            <p:ph type="sldImg"/>
          </p:nvPr>
        </p:nvSpPr>
        <p:spPr/>
      </p:sp>
      <p:sp>
        <p:nvSpPr>
          <p:cNvPr id="4" name="Slide Number Placeholder 3">
            <a:extLst>
              <a:ext uri="{FF2B5EF4-FFF2-40B4-BE49-F238E27FC236}">
                <a16:creationId xmlns:a16="http://schemas.microsoft.com/office/drawing/2014/main" id="{882A2C82-6DB3-F4FE-360E-FB214DD98EA5}"/>
              </a:ext>
            </a:extLst>
          </p:cNvPr>
          <p:cNvSpPr>
            <a:spLocks noGrp="1"/>
          </p:cNvSpPr>
          <p:nvPr>
            <p:ph type="sldNum" sz="quarter" idx="10"/>
          </p:nvPr>
        </p:nvSpPr>
        <p:spPr/>
        <p:txBody>
          <a:bodyPr/>
          <a:lstStyle/>
          <a:p>
            <a:fld id="{F7021451-1387-4CA6-816F-3879F97B5CBC}" type="slidenum">
              <a:rPr lang="en-US"/>
              <a:t>28</a:t>
            </a:fld>
            <a:endParaRPr lang="en-US"/>
          </a:p>
        </p:txBody>
      </p:sp>
      <p:sp>
        <p:nvSpPr>
          <p:cNvPr id="5" name="Presenter Notes 28"/>
          <p:cNvSpPr>
            <a:spLocks noGrp="1"/>
          </p:cNvSpPr>
          <p:nvPr>
            <p:ph type="body" idx="1"/>
          </p:nvPr>
        </p:nvSpPr>
        <p:spPr/>
        <p:txBody>
          <a:bodyPr/>
          <a:lstStyle/>
          <a:p>
            <a:r>
              <a:rPr lang="en-AU"/>
              <a:t>Backup: linear-to-linear S21</a:t>
            </a:r>
          </a:p>
          <a:p>
            <a:r>
              <a:rPr lang="en-AU"/>
              <a:t>Use this if asked about transmission through the linear path. S21 gives the forward transmission behaviour and helps show how much signal reaches the receiver after the analyser or fixture.</a:t>
            </a:r>
          </a:p>
          <a:p>
            <a:r>
              <a:rPr lang="en-AU"/>
              <a:t>This is supporting RF characterisation; the thesis claim still comes from calibrated polarisation-dependent response.</a:t>
            </a:r>
          </a:p>
        </p:txBody>
      </p:sp>
    </p:spTree>
    <p:extLst>
      <p:ext uri="{BB962C8B-B14F-4D97-AF65-F5344CB8AC3E}">
        <p14:creationId xmlns:p14="http://schemas.microsoft.com/office/powerpoint/2010/main" val="18099358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7953A-4CF3-2B74-BEF0-4FC3A1763B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C571C-B11B-5823-823A-1EB624FA9E4D}"/>
              </a:ext>
            </a:extLst>
          </p:cNvPr>
          <p:cNvSpPr>
            <a:spLocks noGrp="1" noRot="1" noChangeAspect="1"/>
          </p:cNvSpPr>
          <p:nvPr>
            <p:ph type="sldImg"/>
          </p:nvPr>
        </p:nvSpPr>
        <p:spPr/>
      </p:sp>
      <p:sp>
        <p:nvSpPr>
          <p:cNvPr id="4" name="Slide Number Placeholder 3">
            <a:extLst>
              <a:ext uri="{FF2B5EF4-FFF2-40B4-BE49-F238E27FC236}">
                <a16:creationId xmlns:a16="http://schemas.microsoft.com/office/drawing/2014/main" id="{CCE3DAD5-45C8-AE65-DBDB-AD16043EBE58}"/>
              </a:ext>
            </a:extLst>
          </p:cNvPr>
          <p:cNvSpPr>
            <a:spLocks noGrp="1"/>
          </p:cNvSpPr>
          <p:nvPr>
            <p:ph type="sldNum" sz="quarter" idx="10"/>
          </p:nvPr>
        </p:nvSpPr>
        <p:spPr/>
        <p:txBody>
          <a:bodyPr/>
          <a:lstStyle/>
          <a:p>
            <a:fld id="{F7021451-1387-4CA6-816F-3879F97B5CBC}" type="slidenum">
              <a:rPr lang="en-US"/>
              <a:t>29</a:t>
            </a:fld>
            <a:endParaRPr lang="en-US"/>
          </a:p>
        </p:txBody>
      </p:sp>
      <p:sp>
        <p:nvSpPr>
          <p:cNvPr id="5" name="Presenter Notes 29"/>
          <p:cNvSpPr>
            <a:spLocks noGrp="1"/>
          </p:cNvSpPr>
          <p:nvPr>
            <p:ph type="body" idx="1"/>
          </p:nvPr>
        </p:nvSpPr>
        <p:spPr/>
        <p:txBody>
          <a:bodyPr/>
          <a:lstStyle/>
          <a:p>
            <a:r>
              <a:rPr lang="en-AU"/>
              <a:t>Backup: linear polariser S21</a:t>
            </a:r>
          </a:p>
          <a:p>
            <a:r>
              <a:rPr lang="en-AU"/>
              <a:t>Use this if asked how the polariser behaves as an RF component. The purpose is to demonstrate pass and reject behaviour for orthogonal linear orientations.</a:t>
            </a:r>
          </a:p>
          <a:p>
            <a:r>
              <a:rPr lang="en-AU"/>
              <a:t>If time is short, summarise it as: the hardware creates a measurable projection before the atomic readout, which is exactly what a Stokes analyser needs.</a:t>
            </a:r>
          </a:p>
        </p:txBody>
      </p:sp>
    </p:spTree>
    <p:extLst>
      <p:ext uri="{BB962C8B-B14F-4D97-AF65-F5344CB8AC3E}">
        <p14:creationId xmlns:p14="http://schemas.microsoft.com/office/powerpoint/2010/main" val="26828957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7058B-472E-CC1F-4115-FB3420F4F3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E83162-D5C1-69B7-5845-0C39D82E1FF9}"/>
              </a:ext>
            </a:extLst>
          </p:cNvPr>
          <p:cNvSpPr>
            <a:spLocks noGrp="1" noRot="1" noChangeAspect="1"/>
          </p:cNvSpPr>
          <p:nvPr>
            <p:ph type="sldImg"/>
          </p:nvPr>
        </p:nvSpPr>
        <p:spPr/>
      </p:sp>
      <p:sp>
        <p:nvSpPr>
          <p:cNvPr id="4" name="Slide Number Placeholder 3">
            <a:extLst>
              <a:ext uri="{FF2B5EF4-FFF2-40B4-BE49-F238E27FC236}">
                <a16:creationId xmlns:a16="http://schemas.microsoft.com/office/drawing/2014/main" id="{ABD28352-4C0B-33AE-5191-385A8445DFDA}"/>
              </a:ext>
            </a:extLst>
          </p:cNvPr>
          <p:cNvSpPr>
            <a:spLocks noGrp="1"/>
          </p:cNvSpPr>
          <p:nvPr>
            <p:ph type="sldNum" sz="quarter" idx="10"/>
          </p:nvPr>
        </p:nvSpPr>
        <p:spPr/>
        <p:txBody>
          <a:bodyPr/>
          <a:lstStyle/>
          <a:p>
            <a:fld id="{F7021451-1387-4CA6-816F-3879F97B5CBC}" type="slidenum">
              <a:rPr lang="en-US"/>
              <a:t>30</a:t>
            </a:fld>
            <a:endParaRPr lang="en-US"/>
          </a:p>
        </p:txBody>
      </p:sp>
      <p:sp>
        <p:nvSpPr>
          <p:cNvPr id="5" name="Presenter Notes 30"/>
          <p:cNvSpPr>
            <a:spLocks noGrp="1"/>
          </p:cNvSpPr>
          <p:nvPr>
            <p:ph type="body" idx="1"/>
          </p:nvPr>
        </p:nvSpPr>
        <p:spPr/>
        <p:txBody>
          <a:bodyPr/>
          <a:lstStyle/>
          <a:p>
            <a:r>
              <a:rPr lang="en-AU"/>
              <a:t>Backup: linear-to-circular S21</a:t>
            </a:r>
          </a:p>
          <a:p>
            <a:r>
              <a:rPr lang="en-AU"/>
              <a:t>Use this if asked about circular or hybrid analyser behaviour. The key issue is whether the hardware can create an independent channel that is sensitive to circular handedness or non-coplanar Stokes information.</a:t>
            </a:r>
          </a:p>
          <a:p>
            <a:r>
              <a:rPr lang="en-AU"/>
              <a:t>Be careful not to overstate: it is part of the route to S3 sensitivity, not a completed full-Stokes validation by itself.</a:t>
            </a:r>
          </a:p>
        </p:txBody>
      </p:sp>
    </p:spTree>
    <p:extLst>
      <p:ext uri="{BB962C8B-B14F-4D97-AF65-F5344CB8AC3E}">
        <p14:creationId xmlns:p14="http://schemas.microsoft.com/office/powerpoint/2010/main" val="18123323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4C339-D2F7-D2CD-FD98-F7A9E71E2A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A459C3-117B-3DB6-919F-583C75B40FC5}"/>
              </a:ext>
            </a:extLst>
          </p:cNvPr>
          <p:cNvSpPr>
            <a:spLocks noGrp="1" noRot="1" noChangeAspect="1"/>
          </p:cNvSpPr>
          <p:nvPr>
            <p:ph type="sldImg"/>
          </p:nvPr>
        </p:nvSpPr>
        <p:spPr/>
      </p:sp>
      <p:sp>
        <p:nvSpPr>
          <p:cNvPr id="4" name="Slide Number Placeholder 3">
            <a:extLst>
              <a:ext uri="{FF2B5EF4-FFF2-40B4-BE49-F238E27FC236}">
                <a16:creationId xmlns:a16="http://schemas.microsoft.com/office/drawing/2014/main" id="{88BCC8AC-C585-104C-905B-D7A90DD1BAF7}"/>
              </a:ext>
            </a:extLst>
          </p:cNvPr>
          <p:cNvSpPr>
            <a:spLocks noGrp="1"/>
          </p:cNvSpPr>
          <p:nvPr>
            <p:ph type="sldNum" sz="quarter" idx="10"/>
          </p:nvPr>
        </p:nvSpPr>
        <p:spPr/>
        <p:txBody>
          <a:bodyPr/>
          <a:lstStyle/>
          <a:p>
            <a:fld id="{F7021451-1387-4CA6-816F-3879F97B5CBC}" type="slidenum">
              <a:rPr lang="en-US"/>
              <a:t>31</a:t>
            </a:fld>
            <a:endParaRPr lang="en-US"/>
          </a:p>
        </p:txBody>
      </p:sp>
      <p:sp>
        <p:nvSpPr>
          <p:cNvPr id="5" name="Presenter Notes 31"/>
          <p:cNvSpPr>
            <a:spLocks noGrp="1"/>
          </p:cNvSpPr>
          <p:nvPr>
            <p:ph type="body" idx="1"/>
          </p:nvPr>
        </p:nvSpPr>
        <p:spPr/>
        <p:txBody>
          <a:bodyPr/>
          <a:lstStyle/>
          <a:p>
            <a:r>
              <a:rPr lang="en-AU"/>
              <a:t>Backup: magnetic calibration</a:t>
            </a:r>
          </a:p>
          <a:p>
            <a:r>
              <a:rPr lang="en-AU"/>
              <a:t>Use this if asked about how magnetic-field strength relates to spectral shift. The purpose of magnetic calibration is to connect the applied bias to predictable Zeeman shifts or channel separation.</a:t>
            </a:r>
          </a:p>
          <a:p>
            <a:r>
              <a:rPr lang="en-AU"/>
              <a:t>The important caveat is stability: without stable bias and repeatable optical readout, magnetic effects can be difficult to separate from drift.</a:t>
            </a:r>
          </a:p>
        </p:txBody>
      </p:sp>
    </p:spTree>
    <p:extLst>
      <p:ext uri="{BB962C8B-B14F-4D97-AF65-F5344CB8AC3E}">
        <p14:creationId xmlns:p14="http://schemas.microsoft.com/office/powerpoint/2010/main" val="8676223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9D64C-CD1E-482E-D095-DA1C0BDD7A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B9CDD7-E31D-C530-C4B4-061456E79AB4}"/>
              </a:ext>
            </a:extLst>
          </p:cNvPr>
          <p:cNvSpPr>
            <a:spLocks noGrp="1" noRot="1" noChangeAspect="1"/>
          </p:cNvSpPr>
          <p:nvPr>
            <p:ph type="sldImg"/>
          </p:nvPr>
        </p:nvSpPr>
        <p:spPr/>
      </p:sp>
      <p:sp>
        <p:nvSpPr>
          <p:cNvPr id="4" name="Slide Number Placeholder 3">
            <a:extLst>
              <a:ext uri="{FF2B5EF4-FFF2-40B4-BE49-F238E27FC236}">
                <a16:creationId xmlns:a16="http://schemas.microsoft.com/office/drawing/2014/main" id="{31EA6852-7828-9314-3B74-76975E00F955}"/>
              </a:ext>
            </a:extLst>
          </p:cNvPr>
          <p:cNvSpPr>
            <a:spLocks noGrp="1"/>
          </p:cNvSpPr>
          <p:nvPr>
            <p:ph type="sldNum" sz="quarter" idx="10"/>
          </p:nvPr>
        </p:nvSpPr>
        <p:spPr/>
        <p:txBody>
          <a:bodyPr/>
          <a:lstStyle/>
          <a:p>
            <a:fld id="{F7021451-1387-4CA6-816F-3879F97B5CBC}" type="slidenum">
              <a:rPr lang="en-US"/>
              <a:t>32</a:t>
            </a:fld>
            <a:endParaRPr lang="en-US"/>
          </a:p>
        </p:txBody>
      </p:sp>
      <p:sp>
        <p:nvSpPr>
          <p:cNvPr id="5" name="Presenter Notes 32"/>
          <p:cNvSpPr>
            <a:spLocks noGrp="1"/>
          </p:cNvSpPr>
          <p:nvPr>
            <p:ph type="body" idx="1"/>
          </p:nvPr>
        </p:nvSpPr>
        <p:spPr/>
        <p:txBody>
          <a:bodyPr/>
          <a:lstStyle/>
          <a:p>
            <a:r>
              <a:rPr lang="en-AU"/>
              <a:t>Backup: magnetic experiments with Rydberg</a:t>
            </a:r>
          </a:p>
          <a:p>
            <a:r>
              <a:rPr lang="en-AU"/>
              <a:t>Use this if asked what happened experimentally with magnetic bias. The safe answer is that magnetic bias is physically motivated and modelled, but the available data should be described conservatively.</a:t>
            </a:r>
          </a:p>
          <a:p>
            <a:r>
              <a:rPr lang="en-AU"/>
              <a:t>The present thesis can strongly claim linear-polarisation discrimination and a full-Stokes validation path. It should not claim completed magnetic-bias handedness detection unless additional stable R/L data are available.</a:t>
            </a:r>
          </a:p>
        </p:txBody>
      </p:sp>
    </p:spTree>
    <p:extLst>
      <p:ext uri="{BB962C8B-B14F-4D97-AF65-F5344CB8AC3E}">
        <p14:creationId xmlns:p14="http://schemas.microsoft.com/office/powerpoint/2010/main" val="2229608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9/25/2026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845326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gif"/><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20.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17" name="Rectangle 16"/>
          <p:cNvSpPr/>
          <p:nvPr/>
        </p:nvSpPr>
        <p:spPr>
          <a:xfrm>
            <a:off x="0" y="0"/>
            <a:ext cx="12192000" cy="6858000"/>
          </a:xfrm>
          <a:prstGeom prst="rect">
            <a:avLst/>
          </a:prstGeom>
          <a:solidFill>
            <a:srgbClr val="F8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AU"/>
          </a:p>
        </p:txBody>
      </p:sp>
      <p:pic>
        <p:nvPicPr>
          <p:cNvPr id="3" name="Image 0" descr="/mnt/data/src_media/current/ppt/media/image1.jpeg"/>
          <p:cNvPicPr>
            <a:picLocks noChangeAspect="1"/>
          </p:cNvPicPr>
          <p:nvPr/>
        </p:nvPicPr>
        <p:blipFill>
          <a:blip r:embed="rId3"/>
          <a:srcRect t="5917" b="5917"/>
          <a:stretch/>
        </p:blipFill>
        <p:spPr>
          <a:xfrm>
            <a:off x="6355080" y="0"/>
            <a:ext cx="5833872" cy="6858000"/>
          </a:xfrm>
          <a:prstGeom prst="rect">
            <a:avLst/>
          </a:prstGeom>
        </p:spPr>
      </p:pic>
      <p:sp>
        <p:nvSpPr>
          <p:cNvPr id="4" name="Shape 1"/>
          <p:cNvSpPr/>
          <p:nvPr/>
        </p:nvSpPr>
        <p:spPr>
          <a:xfrm>
            <a:off x="6355080" y="0"/>
            <a:ext cx="5833872" cy="6858000"/>
          </a:xfrm>
          <a:prstGeom prst="rect">
            <a:avLst/>
          </a:prstGeom>
          <a:solidFill>
            <a:srgbClr val="111827">
              <a:alpha val="32000"/>
            </a:srgbClr>
          </a:solidFill>
          <a:ln w="12700">
            <a:solidFill>
              <a:srgbClr val="111827">
                <a:alpha val="0"/>
              </a:srgbClr>
            </a:solidFill>
            <a:prstDash val="solid"/>
          </a:ln>
        </p:spPr>
        <p:txBody>
          <a:bodyPr/>
          <a:lstStyle/>
          <a:p>
            <a:endParaRPr lang="en-AU"/>
          </a:p>
        </p:txBody>
      </p:sp>
      <p:sp>
        <p:nvSpPr>
          <p:cNvPr id="5" name="Text 2"/>
          <p:cNvSpPr/>
          <p:nvPr/>
        </p:nvSpPr>
        <p:spPr>
          <a:xfrm>
            <a:off x="566928" y="438912"/>
            <a:ext cx="4937760" cy="228600"/>
          </a:xfrm>
          <a:prstGeom prst="rect">
            <a:avLst/>
          </a:prstGeom>
          <a:noFill/>
          <a:ln/>
        </p:spPr>
        <p:txBody>
          <a:bodyPr wrap="square" lIns="0" tIns="0" rIns="0" bIns="0" rtlCol="0" anchor="ctr">
            <a:normAutofit/>
          </a:bodyPr>
          <a:lstStyle/>
          <a:p>
            <a:pPr marL="0" indent="0">
              <a:buNone/>
            </a:pPr>
            <a:r>
              <a:rPr lang="en-US" sz="1000" b="1" dirty="0">
                <a:solidFill>
                  <a:srgbClr val="0EA5B7"/>
                </a:solidFill>
                <a:latin typeface="Aptos"/>
              </a:rPr>
              <a:t>CONFERENCE  •  ELECTRICAL ENGINEERING</a:t>
            </a:r>
            <a:endParaRPr lang="en-US" sz="1000" dirty="0"/>
          </a:p>
        </p:txBody>
      </p:sp>
      <p:sp>
        <p:nvSpPr>
          <p:cNvPr id="6" name="Text 3"/>
          <p:cNvSpPr/>
          <p:nvPr/>
        </p:nvSpPr>
        <p:spPr>
          <a:xfrm>
            <a:off x="548640" y="1060704"/>
            <a:ext cx="5440680" cy="1417320"/>
          </a:xfrm>
          <a:prstGeom prst="rect">
            <a:avLst/>
          </a:prstGeom>
          <a:noFill/>
          <a:ln/>
        </p:spPr>
        <p:txBody>
          <a:bodyPr wrap="square" lIns="0" tIns="0" rIns="0" bIns="0" rtlCol="0" anchor="ctr">
            <a:normAutofit/>
          </a:bodyPr>
          <a:lstStyle/>
          <a:p>
            <a:pPr marL="0" indent="0">
              <a:buNone/>
            </a:pPr>
            <a:r>
              <a:rPr sz="2400" b="1">
                <a:solidFill>
                  <a:srgbClr val="111827"/>
                </a:solidFill>
                <a:latin typeface="Aptos Display"/>
              </a:rPr>
              <a:t>Polarisation estimation in quantum</a:t>
            </a:r>
            <a:endParaRPr lang="en-US" sz="2400" dirty="0"/>
          </a:p>
          <a:p>
            <a:r>
              <a:rPr sz="2400" b="1">
                <a:solidFill>
                  <a:srgbClr val="111827"/>
                </a:solidFill>
                <a:latin typeface="Aptos Display"/>
              </a:rPr>
              <a:t>Rydberg RF sensors</a:t>
            </a:r>
          </a:p>
        </p:txBody>
      </p:sp>
      <p:sp>
        <p:nvSpPr>
          <p:cNvPr id="7" name="Shape 4"/>
          <p:cNvSpPr/>
          <p:nvPr/>
        </p:nvSpPr>
        <p:spPr>
          <a:xfrm>
            <a:off x="548640" y="2377440"/>
            <a:ext cx="2286000" cy="0"/>
          </a:xfrm>
          <a:prstGeom prst="line">
            <a:avLst/>
          </a:prstGeom>
          <a:noFill/>
          <a:ln w="38100">
            <a:solidFill>
              <a:srgbClr val="C21873"/>
            </a:solidFill>
            <a:prstDash val="solid"/>
          </a:ln>
        </p:spPr>
        <p:txBody>
          <a:bodyPr/>
          <a:lstStyle/>
          <a:p>
            <a:endParaRPr lang="en-AU"/>
          </a:p>
        </p:txBody>
      </p:sp>
      <p:sp>
        <p:nvSpPr>
          <p:cNvPr id="8" name="Text 5"/>
          <p:cNvSpPr/>
          <p:nvPr/>
        </p:nvSpPr>
        <p:spPr>
          <a:xfrm>
            <a:off x="566928" y="3040957"/>
            <a:ext cx="5120640" cy="475488"/>
          </a:xfrm>
          <a:prstGeom prst="rect">
            <a:avLst/>
          </a:prstGeom>
          <a:noFill/>
          <a:ln/>
        </p:spPr>
        <p:txBody>
          <a:bodyPr wrap="square" lIns="0" tIns="0" rIns="0" bIns="0" rtlCol="0" anchor="ctr">
            <a:noAutofit/>
          </a:bodyPr>
          <a:lstStyle/>
          <a:p>
            <a:pPr marL="0" indent="0">
              <a:buNone/>
            </a:pPr>
            <a:r>
              <a:rPr sz="1600" b="1" dirty="0">
                <a:solidFill>
                  <a:srgbClr val="0F172A"/>
                </a:solidFill>
                <a:latin typeface="Aptos"/>
              </a:rPr>
              <a:t>Can a Rydberg </a:t>
            </a:r>
            <a:r>
              <a:rPr lang="en-AU" sz="1600" b="1" dirty="0">
                <a:solidFill>
                  <a:srgbClr val="0F172A"/>
                </a:solidFill>
                <a:latin typeface="Aptos"/>
              </a:rPr>
              <a:t>radio-frequency </a:t>
            </a:r>
            <a:r>
              <a:rPr sz="1600" b="1" dirty="0">
                <a:solidFill>
                  <a:srgbClr val="0F172A"/>
                </a:solidFill>
                <a:latin typeface="Aptos"/>
              </a:rPr>
              <a:t>receiver recover microwave</a:t>
            </a:r>
            <a:r>
              <a:rPr lang="en-US" sz="1600" dirty="0"/>
              <a:t> </a:t>
            </a:r>
            <a:r>
              <a:rPr sz="1600" b="1" dirty="0" err="1">
                <a:solidFill>
                  <a:srgbClr val="0F172A"/>
                </a:solidFill>
                <a:latin typeface="Aptos"/>
              </a:rPr>
              <a:t>polarisation</a:t>
            </a:r>
            <a:r>
              <a:rPr sz="1600" b="1" dirty="0">
                <a:solidFill>
                  <a:srgbClr val="0F172A"/>
                </a:solidFill>
                <a:latin typeface="Aptos"/>
              </a:rPr>
              <a:t>?</a:t>
            </a:r>
          </a:p>
        </p:txBody>
      </p:sp>
      <p:sp>
        <p:nvSpPr>
          <p:cNvPr id="9" name="Text 6"/>
          <p:cNvSpPr/>
          <p:nvPr/>
        </p:nvSpPr>
        <p:spPr>
          <a:xfrm>
            <a:off x="576072" y="4224528"/>
            <a:ext cx="4572000" cy="292608"/>
          </a:xfrm>
          <a:prstGeom prst="rect">
            <a:avLst/>
          </a:prstGeom>
          <a:noFill/>
          <a:ln/>
        </p:spPr>
        <p:txBody>
          <a:bodyPr wrap="square" lIns="0" tIns="0" rIns="0" bIns="0" rtlCol="0" anchor="ctr"/>
          <a:lstStyle/>
          <a:p>
            <a:pPr marL="0" indent="0">
              <a:buNone/>
            </a:pPr>
            <a:r>
              <a:rPr lang="en-US" sz="1200" b="1" dirty="0">
                <a:solidFill>
                  <a:srgbClr val="111827"/>
                </a:solidFill>
                <a:latin typeface="Aptos"/>
              </a:rPr>
              <a:t>Ryan N. Verghese</a:t>
            </a:r>
            <a:endParaRPr lang="en-US" sz="1200" dirty="0"/>
          </a:p>
        </p:txBody>
      </p:sp>
      <p:sp>
        <p:nvSpPr>
          <p:cNvPr id="10" name="Text 7"/>
          <p:cNvSpPr/>
          <p:nvPr/>
        </p:nvSpPr>
        <p:spPr>
          <a:xfrm>
            <a:off x="576072" y="4608576"/>
            <a:ext cx="5303520" cy="271622"/>
          </a:xfrm>
          <a:prstGeom prst="rect">
            <a:avLst/>
          </a:prstGeom>
          <a:noFill/>
          <a:ln/>
        </p:spPr>
        <p:txBody>
          <a:bodyPr wrap="square" lIns="0" tIns="0" rIns="0" bIns="0" rtlCol="0" anchor="ctr">
            <a:normAutofit/>
          </a:bodyPr>
          <a:lstStyle/>
          <a:p>
            <a:pPr marL="0" indent="0">
              <a:buNone/>
            </a:pPr>
            <a:r>
              <a:rPr sz="1000">
                <a:solidFill>
                  <a:srgbClr val="0F172A"/>
                </a:solidFill>
                <a:latin typeface="Aptos"/>
              </a:rPr>
              <a:t>Supervisors: Dr Haroldo T. Hattori  &amp;  Prof Andrey E. Miroshnichenko</a:t>
            </a:r>
            <a:endParaRPr lang="en-US" sz="1000" dirty="0"/>
          </a:p>
        </p:txBody>
      </p:sp>
      <p:sp>
        <p:nvSpPr>
          <p:cNvPr id="11" name="Text 8"/>
          <p:cNvSpPr/>
          <p:nvPr/>
        </p:nvSpPr>
        <p:spPr>
          <a:xfrm>
            <a:off x="576072" y="3600604"/>
            <a:ext cx="5303520" cy="228600"/>
          </a:xfrm>
          <a:prstGeom prst="rect">
            <a:avLst/>
          </a:prstGeom>
          <a:noFill/>
          <a:ln/>
        </p:spPr>
        <p:txBody>
          <a:bodyPr wrap="square" lIns="0" tIns="0" rIns="0" bIns="0" rtlCol="0" anchor="ctr">
            <a:normAutofit/>
          </a:bodyPr>
          <a:lstStyle/>
          <a:p>
            <a:pPr marL="0" indent="0">
              <a:buNone/>
            </a:pPr>
            <a:r>
              <a:rPr lang="en-AU" sz="1100" b="1" dirty="0">
                <a:solidFill>
                  <a:srgbClr val="C21873"/>
                </a:solidFill>
                <a:latin typeface="Aptos"/>
              </a:rPr>
              <a:t>Angle-of-Arrival</a:t>
            </a:r>
            <a:r>
              <a:rPr sz="1100" b="1" dirty="0">
                <a:solidFill>
                  <a:srgbClr val="C21873"/>
                </a:solidFill>
                <a:latin typeface="Aptos"/>
              </a:rPr>
              <a:t> • </a:t>
            </a:r>
            <a:r>
              <a:rPr lang="en-AU" sz="1100" b="1" dirty="0">
                <a:solidFill>
                  <a:srgbClr val="C21873"/>
                </a:solidFill>
                <a:latin typeface="Aptos"/>
              </a:rPr>
              <a:t>Satellite Communications</a:t>
            </a:r>
            <a:r>
              <a:rPr sz="1100" b="1" dirty="0">
                <a:solidFill>
                  <a:srgbClr val="C21873"/>
                </a:solidFill>
                <a:latin typeface="Aptos"/>
              </a:rPr>
              <a:t> • RF </a:t>
            </a:r>
            <a:r>
              <a:rPr lang="en-AU" sz="1100" b="1" dirty="0">
                <a:solidFill>
                  <a:srgbClr val="C21873"/>
                </a:solidFill>
                <a:latin typeface="Aptos"/>
              </a:rPr>
              <a:t>metrology</a:t>
            </a:r>
            <a:endParaRPr lang="en-US" sz="1100" dirty="0"/>
          </a:p>
        </p:txBody>
      </p:sp>
      <p:sp>
        <p:nvSpPr>
          <p:cNvPr id="15" name="Text 11"/>
          <p:cNvSpPr/>
          <p:nvPr/>
        </p:nvSpPr>
        <p:spPr>
          <a:xfrm>
            <a:off x="576072" y="6510528"/>
            <a:ext cx="5029200" cy="182880"/>
          </a:xfrm>
          <a:prstGeom prst="rect">
            <a:avLst/>
          </a:prstGeom>
          <a:noFill/>
          <a:ln/>
        </p:spPr>
        <p:txBody>
          <a:bodyPr wrap="square" lIns="0" tIns="0" rIns="0" bIns="0" rtlCol="0" anchor="ctr"/>
          <a:lstStyle/>
          <a:p>
            <a:pPr marL="0" indent="0">
              <a:buNone/>
            </a:pPr>
            <a:r>
              <a:rPr lang="en-US" sz="700" dirty="0">
                <a:solidFill>
                  <a:srgbClr val="64748B"/>
                </a:solidFill>
                <a:latin typeface="Aptos"/>
              </a:rPr>
              <a:t>Rydberg sensing | Conference</a:t>
            </a:r>
            <a:endParaRPr lang="en-US" sz="700" dirty="0"/>
          </a:p>
        </p:txBody>
      </p:sp>
      <p:pic>
        <p:nvPicPr>
          <p:cNvPr id="16" name="Picture 15" descr="Our people | Public Partnerships and Impact Hub">
            <a:extLst>
              <a:ext uri="{FF2B5EF4-FFF2-40B4-BE49-F238E27FC236}">
                <a16:creationId xmlns:a16="http://schemas.microsoft.com/office/drawing/2014/main" id="{EE6F4132-CB86-B52E-4417-D0E2C9A4D4CB}"/>
              </a:ext>
            </a:extLst>
          </p:cNvPr>
          <p:cNvPicPr>
            <a:picLocks noChangeAspect="1"/>
          </p:cNvPicPr>
          <p:nvPr/>
        </p:nvPicPr>
        <p:blipFill>
          <a:blip r:embed="rId4"/>
          <a:stretch>
            <a:fillRect/>
          </a:stretch>
        </p:blipFill>
        <p:spPr>
          <a:xfrm>
            <a:off x="0" y="5480114"/>
            <a:ext cx="1854200" cy="973455"/>
          </a:xfrm>
          <a:prstGeom prst="rect">
            <a:avLst/>
          </a:prstGeom>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6858000"/>
          </a:xfrm>
          <a:prstGeom prst="rect">
            <a:avLst/>
          </a:prstGeom>
          <a:solidFill>
            <a:srgbClr val="F8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A383AAD2-00F3-9AD4-FC88-A17358994D4B}"/>
              </a:ext>
            </a:extLst>
          </p:cNvPr>
          <p:cNvSpPr txBox="1"/>
          <p:nvPr/>
        </p:nvSpPr>
        <p:spPr>
          <a:xfrm>
            <a:off x="3941805" y="407773"/>
            <a:ext cx="4094205" cy="523220"/>
          </a:xfrm>
          <a:prstGeom prst="rect">
            <a:avLst/>
          </a:prstGeom>
          <a:noFill/>
        </p:spPr>
        <p:txBody>
          <a:bodyPr wrap="square" rtlCol="0">
            <a:spAutoFit/>
          </a:bodyPr>
          <a:lstStyle/>
          <a:p>
            <a:r>
              <a:rPr sz="2800">
                <a:solidFill>
                  <a:srgbClr val="00B0F0"/>
                </a:solidFill>
                <a:latin typeface="Aptos"/>
              </a:rPr>
              <a:t>Motivation of the work</a:t>
            </a:r>
            <a:endParaRPr lang="en-AU" sz="2800" dirty="0">
              <a:solidFill>
                <a:srgbClr val="00B0F0"/>
              </a:solidFill>
            </a:endParaRPr>
          </a:p>
        </p:txBody>
      </p:sp>
      <p:pic>
        <p:nvPicPr>
          <p:cNvPr id="4" name="Picture 3" descr="Operating in future electromagnetic environment symposium 2022 27 ...">
            <a:extLst>
              <a:ext uri="{FF2B5EF4-FFF2-40B4-BE49-F238E27FC236}">
                <a16:creationId xmlns:a16="http://schemas.microsoft.com/office/drawing/2014/main" id="{AE3EE0A6-4760-B8A9-485D-BD8CE9E2B486}"/>
              </a:ext>
            </a:extLst>
          </p:cNvPr>
          <p:cNvPicPr>
            <a:picLocks noChangeAspect="1"/>
          </p:cNvPicPr>
          <p:nvPr/>
        </p:nvPicPr>
        <p:blipFill>
          <a:blip r:embed="rId3"/>
          <a:stretch>
            <a:fillRect/>
          </a:stretch>
        </p:blipFill>
        <p:spPr>
          <a:xfrm>
            <a:off x="0" y="930993"/>
            <a:ext cx="4839987" cy="4443799"/>
          </a:xfrm>
          <a:prstGeom prst="rect">
            <a:avLst/>
          </a:prstGeom>
        </p:spPr>
      </p:pic>
      <p:sp>
        <p:nvSpPr>
          <p:cNvPr id="5" name="TextBox 4">
            <a:extLst>
              <a:ext uri="{FF2B5EF4-FFF2-40B4-BE49-F238E27FC236}">
                <a16:creationId xmlns:a16="http://schemas.microsoft.com/office/drawing/2014/main" id="{604329A2-FF61-28BB-7EF9-918EEBFFC5FB}"/>
              </a:ext>
            </a:extLst>
          </p:cNvPr>
          <p:cNvSpPr txBox="1"/>
          <p:nvPr/>
        </p:nvSpPr>
        <p:spPr>
          <a:xfrm>
            <a:off x="5029202" y="930993"/>
            <a:ext cx="6759144" cy="5632311"/>
          </a:xfrm>
          <a:prstGeom prst="rect">
            <a:avLst/>
          </a:prstGeom>
          <a:noFill/>
        </p:spPr>
        <p:txBody>
          <a:bodyPr wrap="square" rtlCol="0">
            <a:spAutoFit/>
          </a:bodyPr>
          <a:lstStyle/>
          <a:p>
            <a:pPr algn="just"/>
            <a:r>
              <a:rPr sz="2400">
                <a:solidFill>
                  <a:srgbClr val="131C2C"/>
                </a:solidFill>
                <a:latin typeface="Aptos"/>
              </a:rPr>
              <a:t>Modern RF environments are crowded: satellites, radar, aircraft links, mobile systems and interference can overlap.</a:t>
            </a:r>
          </a:p>
          <a:p>
            <a:pPr algn="just"/>
            <a:endParaRPr sz="2400">
              <a:solidFill>
                <a:srgbClr val="131C2C"/>
              </a:solidFill>
              <a:latin typeface="Aptos"/>
            </a:endParaRPr>
          </a:p>
          <a:p>
            <a:pPr algn="just"/>
            <a:r>
              <a:rPr sz="2400">
                <a:solidFill>
                  <a:srgbClr val="131C2C"/>
                </a:solidFill>
                <a:latin typeface="Aptos"/>
              </a:rPr>
              <a:t>Why are Rydberg RF sensors exciting?</a:t>
            </a:r>
          </a:p>
          <a:p>
            <a:pPr algn="just"/>
            <a:endParaRPr sz="2400">
              <a:solidFill>
                <a:srgbClr val="131C2C"/>
              </a:solidFill>
              <a:latin typeface="Aptos"/>
            </a:endParaRPr>
          </a:p>
          <a:p>
            <a:pPr algn="just"/>
            <a:r>
              <a:rPr sz="2400">
                <a:solidFill>
                  <a:srgbClr val="131C2C"/>
                </a:solidFill>
                <a:latin typeface="Aptos"/>
              </a:rPr>
              <a:t>• Atom-defined interaction with RF fields</a:t>
            </a:r>
          </a:p>
          <a:p>
            <a:pPr algn="just"/>
            <a:r>
              <a:rPr sz="2400">
                <a:solidFill>
                  <a:srgbClr val="131C2C"/>
                </a:solidFill>
                <a:latin typeface="Aptos"/>
              </a:rPr>
              <a:t>• Optical readout of microwave response</a:t>
            </a:r>
          </a:p>
          <a:p>
            <a:pPr algn="just"/>
            <a:r>
              <a:rPr sz="2400">
                <a:solidFill>
                  <a:srgbClr val="131C2C"/>
                </a:solidFill>
                <a:latin typeface="Aptos"/>
              </a:rPr>
              <a:t>• Tunable operating band via Rydberg transition choice</a:t>
            </a:r>
          </a:p>
          <a:p>
            <a:pPr algn="just"/>
            <a:r>
              <a:rPr sz="2400">
                <a:solidFill>
                  <a:srgbClr val="131C2C"/>
                </a:solidFill>
                <a:latin typeface="Aptos"/>
              </a:rPr>
              <a:t>• Potential access to amplitude, phase, frequency, angle-of-arrival and polarisation</a:t>
            </a:r>
          </a:p>
          <a:p>
            <a:pPr algn="just"/>
            <a:endParaRPr sz="2400">
              <a:solidFill>
                <a:srgbClr val="131C2C"/>
              </a:solidFill>
              <a:latin typeface="Aptos"/>
            </a:endParaRPr>
          </a:p>
          <a:p>
            <a:pPr algn="just"/>
            <a:r>
              <a:rPr sz="2400">
                <a:solidFill>
                  <a:srgbClr val="131C2C"/>
                </a:solidFill>
                <a:latin typeface="Aptos"/>
              </a:rPr>
              <a:t>Focus here: polarisation — treating the microwave field as a vector, not just power.</a:t>
            </a:r>
          </a:p>
        </p:txBody>
      </p:sp>
      <p:sp>
        <p:nvSpPr>
          <p:cNvPr id="7" name="Rectangle 6"/>
          <p:cNvSpPr/>
          <p:nvPr/>
        </p:nvSpPr>
        <p:spPr>
          <a:xfrm>
            <a:off x="0" y="0"/>
            <a:ext cx="12198096" cy="6419088"/>
          </a:xfrm>
          <a:prstGeom prst="rect">
            <a:avLst/>
          </a:prstGeom>
          <a:solidFill>
            <a:srgbClr val="F3FAFB"/>
          </a:solidFill>
          <a:ln>
            <a:solidFill>
              <a:srgbClr val="F3FA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320040"/>
            <a:ext cx="10789920" cy="384048"/>
          </a:xfrm>
          <a:prstGeom prst="rect">
            <a:avLst/>
          </a:prstGeom>
          <a:noFill/>
        </p:spPr>
        <p:txBody>
          <a:bodyPr wrap="square" lIns="45720" tIns="27432" rIns="45720" bIns="18288">
            <a:spAutoFit/>
          </a:bodyPr>
          <a:lstStyle/>
          <a:p>
            <a:pPr algn="l">
              <a:defRPr sz="2400" b="1">
                <a:solidFill>
                  <a:srgbClr val="172033"/>
                </a:solidFill>
                <a:latin typeface="Aptos"/>
              </a:defRPr>
            </a:pPr>
            <a:r>
              <a:t>Motivation of the work</a:t>
            </a:r>
          </a:p>
        </p:txBody>
      </p:sp>
      <p:sp>
        <p:nvSpPr>
          <p:cNvPr id="9" name="TextBox 8"/>
          <p:cNvSpPr txBox="1"/>
          <p:nvPr/>
        </p:nvSpPr>
        <p:spPr>
          <a:xfrm>
            <a:off x="512064" y="749808"/>
            <a:ext cx="10332720" cy="201168"/>
          </a:xfrm>
          <a:prstGeom prst="rect">
            <a:avLst/>
          </a:prstGeom>
          <a:noFill/>
        </p:spPr>
        <p:txBody>
          <a:bodyPr wrap="square" lIns="45720" tIns="27432" rIns="45720" bIns="18288">
            <a:spAutoFit/>
          </a:bodyPr>
          <a:lstStyle/>
          <a:p>
            <a:pPr algn="l">
              <a:defRPr sz="1070" b="0">
                <a:solidFill>
                  <a:srgbClr val="657381"/>
                </a:solidFill>
                <a:latin typeface="Aptos"/>
              </a:defRPr>
            </a:pPr>
            <a:r>
              <a:t>Crowded RF environments make vector information increasingly valuable.</a:t>
            </a:r>
          </a:p>
        </p:txBody>
      </p:sp>
      <p:sp>
        <p:nvSpPr>
          <p:cNvPr id="10" name="Rectangle 9"/>
          <p:cNvSpPr/>
          <p:nvPr/>
        </p:nvSpPr>
        <p:spPr>
          <a:xfrm>
            <a:off x="512064" y="987552"/>
            <a:ext cx="2697480" cy="32004"/>
          </a:xfrm>
          <a:prstGeom prst="rect">
            <a:avLst/>
          </a:prstGeom>
          <a:solidFill>
            <a:srgbClr val="149EA6"/>
          </a:solidFill>
          <a:ln>
            <a:solidFill>
              <a:srgbClr val="149E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image.png"/>
          <p:cNvPicPr>
            <a:picLocks noChangeAspect="1"/>
          </p:cNvPicPr>
          <p:nvPr/>
        </p:nvPicPr>
        <p:blipFill>
          <a:blip r:embed="rId3"/>
          <a:stretch>
            <a:fillRect/>
          </a:stretch>
        </p:blipFill>
        <p:spPr>
          <a:xfrm>
            <a:off x="566928" y="1559051"/>
            <a:ext cx="4251960" cy="2834640"/>
          </a:xfrm>
          <a:prstGeom prst="rect">
            <a:avLst/>
          </a:prstGeom>
        </p:spPr>
      </p:pic>
      <p:sp>
        <p:nvSpPr>
          <p:cNvPr id="12" name="Rounded Rectangle 11"/>
          <p:cNvSpPr/>
          <p:nvPr/>
        </p:nvSpPr>
        <p:spPr>
          <a:xfrm>
            <a:off x="5138928" y="1261872"/>
            <a:ext cx="6355080" cy="841248"/>
          </a:xfrm>
          <a:prstGeom prst="roundRect">
            <a:avLst/>
          </a:prstGeom>
          <a:solidFill>
            <a:srgbClr val="FFFFFF"/>
          </a:solidFill>
          <a:ln w="10160">
            <a:solidFill>
              <a:srgbClr val="D8E5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303520" y="1348739"/>
            <a:ext cx="5961888" cy="307777"/>
          </a:xfrm>
          <a:prstGeom prst="rect">
            <a:avLst/>
          </a:prstGeom>
          <a:noFill/>
        </p:spPr>
        <p:txBody>
          <a:bodyPr wrap="square" lIns="45720" tIns="27432" rIns="45720" bIns="18288">
            <a:spAutoFit/>
          </a:bodyPr>
          <a:lstStyle/>
          <a:p>
            <a:pPr algn="l">
              <a:defRPr sz="1700" b="1">
                <a:solidFill>
                  <a:srgbClr val="172033"/>
                </a:solidFill>
                <a:latin typeface="Aptos"/>
              </a:defRPr>
            </a:pPr>
            <a:r>
              <a:rPr dirty="0"/>
              <a:t>Modern RF environments are crowded</a:t>
            </a:r>
          </a:p>
        </p:txBody>
      </p:sp>
      <p:sp>
        <p:nvSpPr>
          <p:cNvPr id="14" name="TextBox 13"/>
          <p:cNvSpPr txBox="1"/>
          <p:nvPr/>
        </p:nvSpPr>
        <p:spPr>
          <a:xfrm>
            <a:off x="5303520" y="1660804"/>
            <a:ext cx="5897880" cy="228600"/>
          </a:xfrm>
          <a:prstGeom prst="rect">
            <a:avLst/>
          </a:prstGeom>
          <a:noFill/>
        </p:spPr>
        <p:txBody>
          <a:bodyPr wrap="square" lIns="45720" tIns="27432" rIns="45720" bIns="18288">
            <a:spAutoFit/>
          </a:bodyPr>
          <a:lstStyle/>
          <a:p>
            <a:pPr algn="l">
              <a:defRPr sz="1220" b="0">
                <a:solidFill>
                  <a:srgbClr val="657381"/>
                </a:solidFill>
                <a:latin typeface="Aptos"/>
              </a:defRPr>
            </a:pPr>
            <a:r>
              <a:rPr dirty="0"/>
              <a:t>Satellites, radar, aircraft links, mobile systems and interference can overlap in frequency, space and time.</a:t>
            </a:r>
          </a:p>
        </p:txBody>
      </p:sp>
      <p:sp>
        <p:nvSpPr>
          <p:cNvPr id="15" name="Rounded Rectangle 14"/>
          <p:cNvSpPr/>
          <p:nvPr/>
        </p:nvSpPr>
        <p:spPr>
          <a:xfrm>
            <a:off x="5138928" y="2340864"/>
            <a:ext cx="6355080" cy="1600200"/>
          </a:xfrm>
          <a:prstGeom prst="roundRect">
            <a:avLst/>
          </a:prstGeom>
          <a:solidFill>
            <a:srgbClr val="EAF6F8"/>
          </a:solidFill>
          <a:ln w="10160">
            <a:solidFill>
              <a:srgbClr val="C5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358384" y="2523744"/>
            <a:ext cx="5897880" cy="292388"/>
          </a:xfrm>
          <a:prstGeom prst="rect">
            <a:avLst/>
          </a:prstGeom>
          <a:noFill/>
        </p:spPr>
        <p:txBody>
          <a:bodyPr wrap="square" lIns="45720" tIns="27432" rIns="45720" bIns="18288">
            <a:spAutoFit/>
          </a:bodyPr>
          <a:lstStyle/>
          <a:p>
            <a:pPr algn="l">
              <a:defRPr sz="1600" b="1">
                <a:solidFill>
                  <a:srgbClr val="149EA6"/>
                </a:solidFill>
                <a:latin typeface="Aptos"/>
              </a:defRPr>
            </a:pPr>
            <a:r>
              <a:rPr dirty="0"/>
              <a:t>Why </a:t>
            </a:r>
            <a:r>
              <a:rPr lang="en-AU" dirty="0"/>
              <a:t>quantum </a:t>
            </a:r>
            <a:r>
              <a:rPr dirty="0"/>
              <a:t>Rydberg RF sensors are exciting</a:t>
            </a:r>
          </a:p>
        </p:txBody>
      </p:sp>
      <p:sp>
        <p:nvSpPr>
          <p:cNvPr id="17" name="TextBox 16"/>
          <p:cNvSpPr txBox="1"/>
          <p:nvPr/>
        </p:nvSpPr>
        <p:spPr>
          <a:xfrm>
            <a:off x="5440680" y="2871216"/>
            <a:ext cx="5623560" cy="786384"/>
          </a:xfrm>
          <a:prstGeom prst="rect">
            <a:avLst/>
          </a:prstGeom>
          <a:noFill/>
        </p:spPr>
        <p:txBody>
          <a:bodyPr wrap="square" lIns="45720" tIns="27432" rIns="45720" bIns="18288">
            <a:spAutoFit/>
          </a:bodyPr>
          <a:lstStyle/>
          <a:p>
            <a:pPr algn="l">
              <a:defRPr sz="1200" b="0">
                <a:solidFill>
                  <a:srgbClr val="172033"/>
                </a:solidFill>
                <a:latin typeface="Aptos"/>
              </a:defRPr>
            </a:pPr>
            <a:r>
              <a:t>• Atom-defined interaction with RF fields</a:t>
            </a:r>
            <a:br/>
            <a:r>
              <a:t>• Optical readout of microwave response</a:t>
            </a:r>
            <a:br/>
            <a:r>
              <a:t>• Tunable operating band via transition choice</a:t>
            </a:r>
            <a:br/>
            <a:r>
              <a:t>• Potential access to amplitude, phase, frequency, angle-of-arrival and polarisation</a:t>
            </a:r>
          </a:p>
        </p:txBody>
      </p:sp>
      <p:sp>
        <p:nvSpPr>
          <p:cNvPr id="18" name="Rounded Rectangle 17"/>
          <p:cNvSpPr/>
          <p:nvPr/>
        </p:nvSpPr>
        <p:spPr>
          <a:xfrm>
            <a:off x="5138928" y="4206240"/>
            <a:ext cx="6355080" cy="868680"/>
          </a:xfrm>
          <a:prstGeom prst="roundRect">
            <a:avLst/>
          </a:prstGeom>
          <a:solidFill>
            <a:srgbClr val="FCEEF6"/>
          </a:solidFill>
          <a:ln w="10160">
            <a:solidFill>
              <a:srgbClr val="E8BD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349240" y="4416552"/>
            <a:ext cx="5806440" cy="467820"/>
          </a:xfrm>
          <a:prstGeom prst="rect">
            <a:avLst/>
          </a:prstGeom>
          <a:noFill/>
        </p:spPr>
        <p:txBody>
          <a:bodyPr wrap="square" lIns="45720" tIns="18288" rIns="45720" bIns="18288">
            <a:spAutoFit/>
          </a:bodyPr>
          <a:lstStyle/>
          <a:p>
            <a:r>
              <a:rPr sz="1400" b="1" dirty="0">
                <a:solidFill>
                  <a:srgbClr val="C21877"/>
                </a:solidFill>
                <a:latin typeface="Aptos"/>
              </a:rPr>
              <a:t>Focus here: </a:t>
            </a:r>
            <a:r>
              <a:rPr sz="1400" b="0" dirty="0" err="1">
                <a:solidFill>
                  <a:srgbClr val="172033"/>
                </a:solidFill>
                <a:latin typeface="Aptos"/>
              </a:rPr>
              <a:t>polarisation</a:t>
            </a:r>
            <a:r>
              <a:rPr lang="en-AU" sz="1400" dirty="0">
                <a:solidFill>
                  <a:srgbClr val="172033"/>
                </a:solidFill>
                <a:latin typeface="Aptos"/>
              </a:rPr>
              <a:t>; </a:t>
            </a:r>
            <a:r>
              <a:rPr sz="1400" b="0" dirty="0">
                <a:solidFill>
                  <a:srgbClr val="172033"/>
                </a:solidFill>
                <a:latin typeface="Aptos"/>
              </a:rPr>
              <a:t>treating the microwave field as a vector</a:t>
            </a:r>
            <a:r>
              <a:rPr lang="en-AU" sz="1400" b="0" dirty="0">
                <a:solidFill>
                  <a:srgbClr val="172033"/>
                </a:solidFill>
                <a:latin typeface="Aptos"/>
              </a:rPr>
              <a:t> (direction &amp; magnitude)</a:t>
            </a:r>
            <a:r>
              <a:rPr sz="1400" b="0" dirty="0">
                <a:solidFill>
                  <a:srgbClr val="172033"/>
                </a:solidFill>
                <a:latin typeface="Aptos"/>
              </a:rPr>
              <a:t>.</a:t>
            </a:r>
          </a:p>
        </p:txBody>
      </p:sp>
      <p:sp>
        <p:nvSpPr>
          <p:cNvPr id="20" name="Rounded Rectangle 19"/>
          <p:cNvSpPr/>
          <p:nvPr/>
        </p:nvSpPr>
        <p:spPr>
          <a:xfrm>
            <a:off x="566928" y="5303520"/>
            <a:ext cx="10927080" cy="530352"/>
          </a:xfrm>
          <a:prstGeom prst="roundRect">
            <a:avLst/>
          </a:prstGeom>
          <a:solidFill>
            <a:srgbClr val="FFF6E4"/>
          </a:solidFill>
          <a:ln w="10160">
            <a:solidFill>
              <a:srgbClr val="ECD69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53967" y="5384532"/>
            <a:ext cx="10469880" cy="397032"/>
          </a:xfrm>
          <a:prstGeom prst="rect">
            <a:avLst/>
          </a:prstGeom>
          <a:noFill/>
        </p:spPr>
        <p:txBody>
          <a:bodyPr wrap="square" lIns="45720" tIns="27432" rIns="45720" bIns="18288">
            <a:spAutoFit/>
          </a:bodyPr>
          <a:lstStyle/>
          <a:p>
            <a:pPr algn="l">
              <a:defRPr sz="1140" b="1">
                <a:solidFill>
                  <a:srgbClr val="172033"/>
                </a:solidFill>
                <a:latin typeface="Aptos"/>
              </a:defRPr>
            </a:pPr>
            <a:r>
              <a:rPr lang="en-AU" dirty="0"/>
              <a:t>V</a:t>
            </a:r>
            <a:r>
              <a:rPr dirty="0" err="1"/>
              <a:t>ector</a:t>
            </a:r>
            <a:r>
              <a:rPr dirty="0"/>
              <a:t> RF sensing can help separate propagation, orientation and emitter </a:t>
            </a:r>
            <a:r>
              <a:rPr dirty="0" err="1"/>
              <a:t>behaviour</a:t>
            </a:r>
            <a:r>
              <a:rPr dirty="0"/>
              <a:t> when power alone is ambiguous.</a:t>
            </a:r>
            <a:r>
              <a:rPr lang="en-AU" dirty="0"/>
              <a:t> We can track targets of interest quietly, precisely, and flexibly.</a:t>
            </a:r>
            <a:endParaRPr dirty="0"/>
          </a:p>
        </p:txBody>
      </p:sp>
      <p:sp>
        <p:nvSpPr>
          <p:cNvPr id="22" name="TextBox 21"/>
          <p:cNvSpPr txBox="1"/>
          <p:nvPr/>
        </p:nvSpPr>
        <p:spPr>
          <a:xfrm>
            <a:off x="457200" y="6236208"/>
            <a:ext cx="2286000" cy="146194"/>
          </a:xfrm>
          <a:prstGeom prst="rect">
            <a:avLst/>
          </a:prstGeom>
          <a:noFill/>
        </p:spPr>
        <p:txBody>
          <a:bodyPr wrap="square" lIns="45720" tIns="27432" rIns="45720" bIns="18288">
            <a:spAutoFit/>
          </a:bodyPr>
          <a:lstStyle/>
          <a:p>
            <a:pPr algn="l">
              <a:defRPr sz="650" b="0">
                <a:solidFill>
                  <a:srgbClr val="657381"/>
                </a:solidFill>
                <a:latin typeface="Aptos"/>
              </a:defRPr>
            </a:pPr>
            <a:r>
              <a:rPr dirty="0"/>
              <a:t>Rydberg sensing | Conference</a:t>
            </a:r>
          </a:p>
        </p:txBody>
      </p:sp>
    </p:spTree>
    <p:extLst>
      <p:ext uri="{BB962C8B-B14F-4D97-AF65-F5344CB8AC3E}">
        <p14:creationId xmlns:p14="http://schemas.microsoft.com/office/powerpoint/2010/main" val="25437112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1"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1"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1"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5" grpId="1" animBg="1"/>
      <p:bldP spid="16" grpId="0" animBg="1"/>
      <p:bldP spid="16" grpId="1"/>
      <p:bldP spid="17" grpId="0" animBg="1"/>
      <p:bldP spid="17" grpId="1"/>
      <p:bldP spid="18" grpId="0" animBg="1"/>
      <p:bldP spid="18" grpId="1" animBg="1"/>
      <p:bldP spid="19" grpId="0" animBg="1"/>
      <p:bldP spid="19" grpId="1"/>
      <p:bldP spid="20" grpId="0" animBg="1"/>
      <p:bldP spid="20" grpId="1" animBg="1"/>
      <p:bldP spid="21" grpId="0" animBg="1"/>
      <p:bldP spid="21" grpId="1"/>
      <p:bldP spid="2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45" name="Rectangle 44"/>
          <p:cNvSpPr/>
          <p:nvPr/>
        </p:nvSpPr>
        <p:spPr>
          <a:xfrm>
            <a:off x="0" y="0"/>
            <a:ext cx="12192000" cy="6858000"/>
          </a:xfrm>
          <a:prstGeom prst="rect">
            <a:avLst/>
          </a:prstGeom>
          <a:solidFill>
            <a:srgbClr val="F8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502920" y="256032"/>
            <a:ext cx="8046720" cy="347472"/>
          </a:xfrm>
          <a:prstGeom prst="rect">
            <a:avLst/>
          </a:prstGeom>
          <a:noFill/>
          <a:ln/>
        </p:spPr>
        <p:txBody>
          <a:bodyPr wrap="square" lIns="0" tIns="0" rIns="0" bIns="0" rtlCol="0" anchor="ctr"/>
          <a:lstStyle/>
          <a:p>
            <a:pPr marL="0" indent="0">
              <a:buNone/>
            </a:pPr>
            <a:r>
              <a:rPr lang="en-US" sz="2000" b="1" dirty="0">
                <a:solidFill>
                  <a:srgbClr val="111827"/>
                </a:solidFill>
                <a:latin typeface="Aptos Display" pitchFamily="34" charset="0"/>
                <a:ea typeface="Aptos Display" pitchFamily="34" charset="-122"/>
                <a:cs typeface="Aptos Display" pitchFamily="34" charset="-120"/>
              </a:rPr>
              <a:t>Rydberg sensing in one slide</a:t>
            </a:r>
            <a:endParaRPr lang="en-US" sz="2000" dirty="0"/>
          </a:p>
        </p:txBody>
      </p:sp>
      <p:sp>
        <p:nvSpPr>
          <p:cNvPr id="3" name="Text 1"/>
          <p:cNvSpPr/>
          <p:nvPr/>
        </p:nvSpPr>
        <p:spPr>
          <a:xfrm>
            <a:off x="512064" y="658368"/>
            <a:ext cx="8046720" cy="219456"/>
          </a:xfrm>
          <a:prstGeom prst="rect">
            <a:avLst/>
          </a:prstGeom>
          <a:noFill/>
          <a:ln/>
        </p:spPr>
        <p:txBody>
          <a:bodyPr wrap="square" lIns="0" tIns="0" rIns="0" bIns="0" rtlCol="0" anchor="ctr"/>
          <a:lstStyle/>
          <a:p>
            <a:pPr marL="0" indent="0">
              <a:buNone/>
            </a:pPr>
            <a:r>
              <a:rPr sz="1000">
                <a:solidFill>
                  <a:srgbClr val="64748B"/>
                </a:solidFill>
                <a:latin typeface="Aptos"/>
              </a:rPr>
              <a:t>Atoms convert a microwave field into an optical spectrum</a:t>
            </a:r>
            <a:endParaRPr lang="en-US" sz="1000" dirty="0"/>
          </a:p>
        </p:txBody>
      </p:sp>
      <p:sp>
        <p:nvSpPr>
          <p:cNvPr id="4" name="Shape 2"/>
          <p:cNvSpPr/>
          <p:nvPr/>
        </p:nvSpPr>
        <p:spPr>
          <a:xfrm>
            <a:off x="502920" y="987552"/>
            <a:ext cx="2926080" cy="0"/>
          </a:xfrm>
          <a:prstGeom prst="line">
            <a:avLst/>
          </a:prstGeom>
          <a:noFill/>
          <a:ln w="25400">
            <a:solidFill>
              <a:srgbClr val="0EA5B7"/>
            </a:solidFill>
            <a:prstDash val="solid"/>
          </a:ln>
        </p:spPr>
        <p:txBody>
          <a:bodyPr/>
          <a:lstStyle/>
          <a:p>
            <a:endParaRPr lang="en-AU"/>
          </a:p>
        </p:txBody>
      </p:sp>
      <p:sp>
        <p:nvSpPr>
          <p:cNvPr id="5" name="Shape 3"/>
          <p:cNvSpPr/>
          <p:nvPr/>
        </p:nvSpPr>
        <p:spPr>
          <a:xfrm>
            <a:off x="457200" y="6547104"/>
            <a:ext cx="11247120" cy="0"/>
          </a:xfrm>
          <a:prstGeom prst="line">
            <a:avLst/>
          </a:prstGeom>
          <a:noFill/>
          <a:ln w="7620">
            <a:solidFill>
              <a:srgbClr val="E5E7EB"/>
            </a:solidFill>
            <a:prstDash val="solid"/>
          </a:ln>
        </p:spPr>
        <p:txBody>
          <a:bodyPr/>
          <a:lstStyle/>
          <a:p>
            <a:endParaRPr lang="en-AU"/>
          </a:p>
        </p:txBody>
      </p:sp>
      <p:sp>
        <p:nvSpPr>
          <p:cNvPr id="6" name="Text 4"/>
          <p:cNvSpPr/>
          <p:nvPr/>
        </p:nvSpPr>
        <p:spPr>
          <a:xfrm>
            <a:off x="502920" y="6583680"/>
            <a:ext cx="5943600" cy="164592"/>
          </a:xfrm>
          <a:prstGeom prst="rect">
            <a:avLst/>
          </a:prstGeom>
          <a:noFill/>
          <a:ln/>
        </p:spPr>
        <p:txBody>
          <a:bodyPr wrap="square" lIns="0" tIns="0" rIns="0" bIns="0" rtlCol="0" anchor="ctr"/>
          <a:lstStyle/>
          <a:p>
            <a:pPr marL="0" indent="0">
              <a:buNone/>
            </a:pPr>
            <a:r>
              <a:rPr lang="en-US" sz="660" dirty="0">
                <a:solidFill>
                  <a:srgbClr val="64748B"/>
                </a:solidFill>
                <a:latin typeface="Aptos" pitchFamily="34" charset="0"/>
                <a:ea typeface="Aptos" pitchFamily="34" charset="-122"/>
                <a:cs typeface="Aptos" pitchFamily="34" charset="-120"/>
              </a:rPr>
              <a:t>Rydberg sensing | Conference</a:t>
            </a:r>
            <a:endParaRPr lang="en-US" sz="660" dirty="0"/>
          </a:p>
        </p:txBody>
      </p:sp>
      <p:sp>
        <p:nvSpPr>
          <p:cNvPr id="7" name="Text 5"/>
          <p:cNvSpPr/>
          <p:nvPr/>
        </p:nvSpPr>
        <p:spPr>
          <a:xfrm>
            <a:off x="11292840" y="6583680"/>
            <a:ext cx="457200" cy="164592"/>
          </a:xfrm>
          <a:prstGeom prst="rect">
            <a:avLst/>
          </a:prstGeom>
          <a:noFill/>
          <a:ln/>
        </p:spPr>
        <p:txBody>
          <a:bodyPr wrap="square" lIns="0" tIns="0" rIns="0" bIns="0" rtlCol="0" anchor="ctr"/>
          <a:lstStyle/>
          <a:p>
            <a:pPr marL="0" indent="0" algn="r">
              <a:buNone/>
            </a:pPr>
            <a:r>
              <a:rPr lang="en-US" sz="660" dirty="0">
                <a:solidFill>
                  <a:srgbClr val="64748B"/>
                </a:solidFill>
                <a:latin typeface="Aptos" pitchFamily="34" charset="0"/>
                <a:ea typeface="Aptos" pitchFamily="34" charset="-122"/>
                <a:cs typeface="Aptos" pitchFamily="34" charset="-120"/>
              </a:rPr>
              <a:t>2</a:t>
            </a:r>
            <a:endParaRPr lang="en-US" sz="660" dirty="0"/>
          </a:p>
        </p:txBody>
      </p:sp>
      <p:pic>
        <p:nvPicPr>
          <p:cNvPr id="8" name="Image 0" descr="/mnt/data/src_media/current/ppt/media/image25.png"/>
          <p:cNvPicPr>
            <a:picLocks noChangeAspect="1"/>
          </p:cNvPicPr>
          <p:nvPr/>
        </p:nvPicPr>
        <p:blipFill>
          <a:blip r:embed="rId3"/>
          <a:stretch>
            <a:fillRect/>
          </a:stretch>
        </p:blipFill>
        <p:spPr>
          <a:xfrm>
            <a:off x="885801" y="1353312"/>
            <a:ext cx="3925067" cy="4754880"/>
          </a:xfrm>
          <a:prstGeom prst="rect">
            <a:avLst/>
          </a:prstGeom>
        </p:spPr>
      </p:pic>
      <p:sp>
        <p:nvSpPr>
          <p:cNvPr id="9" name="Text 6"/>
          <p:cNvSpPr/>
          <p:nvPr/>
        </p:nvSpPr>
        <p:spPr>
          <a:xfrm>
            <a:off x="9630311" y="1654923"/>
            <a:ext cx="2139696" cy="274320"/>
          </a:xfrm>
          <a:prstGeom prst="rect">
            <a:avLst/>
          </a:prstGeom>
          <a:noFill/>
          <a:ln/>
        </p:spPr>
        <p:txBody>
          <a:bodyPr wrap="square" lIns="0" tIns="0" rIns="0" bIns="0" rtlCol="0" anchor="ctr"/>
          <a:lstStyle/>
          <a:p>
            <a:pPr marL="0" indent="0">
              <a:buNone/>
            </a:pPr>
            <a:r>
              <a:rPr lang="en-US" sz="1500" b="1" dirty="0">
                <a:solidFill>
                  <a:srgbClr val="111827"/>
                </a:solidFill>
                <a:latin typeface="Aptos"/>
              </a:rPr>
              <a:t>Information chain</a:t>
            </a:r>
            <a:endParaRPr lang="en-US" sz="1500" dirty="0"/>
          </a:p>
        </p:txBody>
      </p:sp>
      <p:sp>
        <p:nvSpPr>
          <p:cNvPr id="10" name="Shape 7"/>
          <p:cNvSpPr/>
          <p:nvPr/>
        </p:nvSpPr>
        <p:spPr>
          <a:xfrm>
            <a:off x="9630311" y="1974963"/>
            <a:ext cx="2139696" cy="530352"/>
          </a:xfrm>
          <a:prstGeom prst="roundRect">
            <a:avLst>
              <a:gd name="adj" fmla="val 12069"/>
            </a:avLst>
          </a:prstGeom>
          <a:solidFill>
            <a:srgbClr val="FEE2E2"/>
          </a:solidFill>
          <a:ln w="12700">
            <a:solidFill>
              <a:srgbClr val="E64B4B"/>
            </a:solidFill>
            <a:prstDash val="solid"/>
          </a:ln>
        </p:spPr>
        <p:txBody>
          <a:bodyPr/>
          <a:lstStyle/>
          <a:p>
            <a:endParaRPr lang="en-AU"/>
          </a:p>
        </p:txBody>
      </p:sp>
      <p:sp>
        <p:nvSpPr>
          <p:cNvPr id="11" name="Text 8"/>
          <p:cNvSpPr/>
          <p:nvPr/>
        </p:nvSpPr>
        <p:spPr>
          <a:xfrm>
            <a:off x="9689103" y="2102979"/>
            <a:ext cx="800744" cy="274320"/>
          </a:xfrm>
          <a:prstGeom prst="rect">
            <a:avLst/>
          </a:prstGeom>
          <a:noFill/>
          <a:ln/>
        </p:spPr>
        <p:txBody>
          <a:bodyPr wrap="square" lIns="0" tIns="0" rIns="0" bIns="0" rtlCol="0" anchor="ctr"/>
          <a:lstStyle/>
          <a:p>
            <a:pPr marL="0" indent="0">
              <a:buNone/>
            </a:pPr>
            <a:r>
              <a:rPr lang="en-US" sz="1000" b="1" dirty="0">
                <a:solidFill>
                  <a:srgbClr val="E64B4B"/>
                </a:solidFill>
                <a:latin typeface="Aptos"/>
              </a:rPr>
              <a:t>780 nm probe</a:t>
            </a:r>
            <a:endParaRPr lang="en-US" sz="1000" dirty="0"/>
          </a:p>
        </p:txBody>
      </p:sp>
      <p:sp>
        <p:nvSpPr>
          <p:cNvPr id="12" name="Text 9"/>
          <p:cNvSpPr/>
          <p:nvPr/>
        </p:nvSpPr>
        <p:spPr>
          <a:xfrm>
            <a:off x="10686119" y="2038971"/>
            <a:ext cx="992447" cy="419032"/>
          </a:xfrm>
          <a:prstGeom prst="rect">
            <a:avLst/>
          </a:prstGeom>
          <a:noFill/>
          <a:ln/>
        </p:spPr>
        <p:txBody>
          <a:bodyPr wrap="square" lIns="0" tIns="0" rIns="0" bIns="0" rtlCol="0" anchor="ctr">
            <a:normAutofit/>
          </a:bodyPr>
          <a:lstStyle/>
          <a:p>
            <a:pPr marL="0" indent="0">
              <a:buNone/>
            </a:pPr>
            <a:r>
              <a:rPr sz="1000">
                <a:solidFill>
                  <a:srgbClr val="0F172A"/>
                </a:solidFill>
                <a:latin typeface="Aptos"/>
              </a:rPr>
              <a:t>reads optical absorption</a:t>
            </a:r>
            <a:endParaRPr lang="en-US" sz="1000" dirty="0"/>
          </a:p>
        </p:txBody>
      </p:sp>
      <p:sp>
        <p:nvSpPr>
          <p:cNvPr id="13" name="Shape 10"/>
          <p:cNvSpPr/>
          <p:nvPr/>
        </p:nvSpPr>
        <p:spPr>
          <a:xfrm>
            <a:off x="10572143" y="2551035"/>
            <a:ext cx="256032" cy="274320"/>
          </a:xfrm>
          <a:prstGeom prst="downArrow">
            <a:avLst/>
          </a:prstGeom>
          <a:solidFill>
            <a:srgbClr val="64748B"/>
          </a:solidFill>
          <a:ln w="12700">
            <a:solidFill>
              <a:srgbClr val="64748B"/>
            </a:solidFill>
            <a:prstDash val="solid"/>
          </a:ln>
        </p:spPr>
        <p:txBody>
          <a:bodyPr/>
          <a:lstStyle/>
          <a:p>
            <a:endParaRPr lang="en-AU"/>
          </a:p>
        </p:txBody>
      </p:sp>
      <p:sp>
        <p:nvSpPr>
          <p:cNvPr id="14" name="Shape 11"/>
          <p:cNvSpPr/>
          <p:nvPr/>
        </p:nvSpPr>
        <p:spPr>
          <a:xfrm>
            <a:off x="9630311" y="2871075"/>
            <a:ext cx="2139696" cy="530352"/>
          </a:xfrm>
          <a:prstGeom prst="roundRect">
            <a:avLst>
              <a:gd name="adj" fmla="val 12069"/>
            </a:avLst>
          </a:prstGeom>
          <a:solidFill>
            <a:srgbClr val="DFF7F5"/>
          </a:solidFill>
          <a:ln w="12700">
            <a:solidFill>
              <a:srgbClr val="078B7E"/>
            </a:solidFill>
            <a:prstDash val="solid"/>
          </a:ln>
        </p:spPr>
        <p:txBody>
          <a:bodyPr/>
          <a:lstStyle/>
          <a:p>
            <a:endParaRPr lang="en-AU"/>
          </a:p>
        </p:txBody>
      </p:sp>
      <p:sp>
        <p:nvSpPr>
          <p:cNvPr id="15" name="Text 12"/>
          <p:cNvSpPr/>
          <p:nvPr/>
        </p:nvSpPr>
        <p:spPr>
          <a:xfrm>
            <a:off x="9689103" y="3063099"/>
            <a:ext cx="1325880" cy="146304"/>
          </a:xfrm>
          <a:prstGeom prst="rect">
            <a:avLst/>
          </a:prstGeom>
          <a:noFill/>
          <a:ln/>
        </p:spPr>
        <p:txBody>
          <a:bodyPr wrap="square" lIns="0" tIns="0" rIns="0" bIns="0" rtlCol="0" anchor="ctr"/>
          <a:lstStyle/>
          <a:p>
            <a:pPr marL="0" indent="0">
              <a:buNone/>
            </a:pPr>
            <a:r>
              <a:rPr lang="en-US" sz="1000" b="1" dirty="0">
                <a:solidFill>
                  <a:srgbClr val="078B7E"/>
                </a:solidFill>
                <a:latin typeface="Aptos"/>
              </a:rPr>
              <a:t>480 nm coupling</a:t>
            </a:r>
            <a:endParaRPr lang="en-US" sz="1000" dirty="0"/>
          </a:p>
        </p:txBody>
      </p:sp>
      <p:sp>
        <p:nvSpPr>
          <p:cNvPr id="16" name="Text 13"/>
          <p:cNvSpPr/>
          <p:nvPr/>
        </p:nvSpPr>
        <p:spPr>
          <a:xfrm>
            <a:off x="10686119" y="2971659"/>
            <a:ext cx="992448" cy="428176"/>
          </a:xfrm>
          <a:prstGeom prst="rect">
            <a:avLst/>
          </a:prstGeom>
          <a:noFill/>
          <a:ln/>
        </p:spPr>
        <p:txBody>
          <a:bodyPr wrap="square" lIns="0" tIns="0" rIns="0" bIns="0" rtlCol="0" anchor="ctr">
            <a:normAutofit/>
          </a:bodyPr>
          <a:lstStyle/>
          <a:p>
            <a:pPr marL="0" indent="0">
              <a:buNone/>
            </a:pPr>
            <a:r>
              <a:rPr sz="1000">
                <a:solidFill>
                  <a:srgbClr val="0F172A"/>
                </a:solidFill>
                <a:latin typeface="Aptos"/>
              </a:rPr>
              <a:t>opens a Rydberg EIT window</a:t>
            </a:r>
            <a:endParaRPr lang="en-US" sz="1000" dirty="0"/>
          </a:p>
        </p:txBody>
      </p:sp>
      <p:sp>
        <p:nvSpPr>
          <p:cNvPr id="17" name="Shape 14"/>
          <p:cNvSpPr/>
          <p:nvPr/>
        </p:nvSpPr>
        <p:spPr>
          <a:xfrm>
            <a:off x="10572143" y="3447147"/>
            <a:ext cx="256032" cy="274320"/>
          </a:xfrm>
          <a:prstGeom prst="downArrow">
            <a:avLst/>
          </a:prstGeom>
          <a:solidFill>
            <a:srgbClr val="64748B"/>
          </a:solidFill>
          <a:ln w="12700">
            <a:solidFill>
              <a:srgbClr val="64748B"/>
            </a:solidFill>
            <a:prstDash val="solid"/>
          </a:ln>
        </p:spPr>
        <p:txBody>
          <a:bodyPr/>
          <a:lstStyle/>
          <a:p>
            <a:endParaRPr lang="en-AU"/>
          </a:p>
        </p:txBody>
      </p:sp>
      <p:sp>
        <p:nvSpPr>
          <p:cNvPr id="18" name="Shape 15"/>
          <p:cNvSpPr/>
          <p:nvPr/>
        </p:nvSpPr>
        <p:spPr>
          <a:xfrm>
            <a:off x="9630311" y="3767187"/>
            <a:ext cx="2139696" cy="530352"/>
          </a:xfrm>
          <a:prstGeom prst="roundRect">
            <a:avLst>
              <a:gd name="adj" fmla="val 12069"/>
            </a:avLst>
          </a:prstGeom>
          <a:solidFill>
            <a:srgbClr val="FCE7F3"/>
          </a:solidFill>
          <a:ln w="12700">
            <a:solidFill>
              <a:srgbClr val="C21873"/>
            </a:solidFill>
            <a:prstDash val="solid"/>
          </a:ln>
        </p:spPr>
        <p:txBody>
          <a:bodyPr/>
          <a:lstStyle/>
          <a:p>
            <a:endParaRPr lang="en-AU"/>
          </a:p>
        </p:txBody>
      </p:sp>
      <p:sp>
        <p:nvSpPr>
          <p:cNvPr id="19" name="Text 16"/>
          <p:cNvSpPr/>
          <p:nvPr/>
        </p:nvSpPr>
        <p:spPr>
          <a:xfrm>
            <a:off x="9676031" y="3959211"/>
            <a:ext cx="1325880" cy="146304"/>
          </a:xfrm>
          <a:prstGeom prst="rect">
            <a:avLst/>
          </a:prstGeom>
          <a:noFill/>
          <a:ln/>
        </p:spPr>
        <p:txBody>
          <a:bodyPr wrap="square" lIns="0" tIns="0" rIns="0" bIns="0" rtlCol="0" anchor="ctr"/>
          <a:lstStyle/>
          <a:p>
            <a:pPr marL="0" indent="0">
              <a:buNone/>
            </a:pPr>
            <a:r>
              <a:rPr lang="en-US" sz="1000" b="1" dirty="0">
                <a:solidFill>
                  <a:srgbClr val="C21873"/>
                </a:solidFill>
                <a:latin typeface="Aptos"/>
              </a:rPr>
              <a:t>RF field</a:t>
            </a:r>
            <a:endParaRPr lang="en-US" sz="1000" dirty="0"/>
          </a:p>
        </p:txBody>
      </p:sp>
      <p:sp>
        <p:nvSpPr>
          <p:cNvPr id="20" name="Text 17"/>
          <p:cNvSpPr/>
          <p:nvPr/>
        </p:nvSpPr>
        <p:spPr>
          <a:xfrm>
            <a:off x="10686118" y="3867770"/>
            <a:ext cx="1056657" cy="382457"/>
          </a:xfrm>
          <a:prstGeom prst="rect">
            <a:avLst/>
          </a:prstGeom>
          <a:noFill/>
          <a:ln/>
        </p:spPr>
        <p:txBody>
          <a:bodyPr wrap="square" lIns="0" tIns="0" rIns="0" bIns="0" rtlCol="0" anchor="ctr">
            <a:noAutofit/>
          </a:bodyPr>
          <a:lstStyle/>
          <a:p>
            <a:pPr marL="0" indent="0">
              <a:buNone/>
            </a:pPr>
            <a:r>
              <a:rPr sz="1000">
                <a:solidFill>
                  <a:srgbClr val="0F172A"/>
                </a:solidFill>
                <a:latin typeface="Aptos"/>
              </a:rPr>
              <a:t>couples neighbouring Rydberg states</a:t>
            </a:r>
            <a:endParaRPr lang="en-US" sz="1000" dirty="0"/>
          </a:p>
        </p:txBody>
      </p:sp>
      <p:sp>
        <p:nvSpPr>
          <p:cNvPr id="21" name="Shape 18"/>
          <p:cNvSpPr/>
          <p:nvPr/>
        </p:nvSpPr>
        <p:spPr>
          <a:xfrm>
            <a:off x="10572143" y="4343259"/>
            <a:ext cx="256032" cy="274320"/>
          </a:xfrm>
          <a:prstGeom prst="downArrow">
            <a:avLst/>
          </a:prstGeom>
          <a:solidFill>
            <a:srgbClr val="64748B"/>
          </a:solidFill>
          <a:ln w="12700">
            <a:solidFill>
              <a:srgbClr val="64748B"/>
            </a:solidFill>
            <a:prstDash val="solid"/>
          </a:ln>
        </p:spPr>
        <p:txBody>
          <a:bodyPr/>
          <a:lstStyle/>
          <a:p>
            <a:endParaRPr lang="en-AU"/>
          </a:p>
        </p:txBody>
      </p:sp>
      <p:sp>
        <p:nvSpPr>
          <p:cNvPr id="22" name="Shape 19"/>
          <p:cNvSpPr/>
          <p:nvPr/>
        </p:nvSpPr>
        <p:spPr>
          <a:xfrm>
            <a:off x="9630311" y="4663299"/>
            <a:ext cx="2139696" cy="530352"/>
          </a:xfrm>
          <a:prstGeom prst="roundRect">
            <a:avLst>
              <a:gd name="adj" fmla="val 12069"/>
            </a:avLst>
          </a:prstGeom>
          <a:solidFill>
            <a:srgbClr val="EAF3F7"/>
          </a:solidFill>
          <a:ln w="12700">
            <a:solidFill>
              <a:srgbClr val="0EA5B7"/>
            </a:solidFill>
            <a:prstDash val="solid"/>
          </a:ln>
        </p:spPr>
        <p:txBody>
          <a:bodyPr/>
          <a:lstStyle/>
          <a:p>
            <a:endParaRPr lang="en-AU"/>
          </a:p>
        </p:txBody>
      </p:sp>
      <p:sp>
        <p:nvSpPr>
          <p:cNvPr id="23" name="Text 20"/>
          <p:cNvSpPr/>
          <p:nvPr/>
        </p:nvSpPr>
        <p:spPr>
          <a:xfrm>
            <a:off x="9666887" y="4827891"/>
            <a:ext cx="1325880" cy="146304"/>
          </a:xfrm>
          <a:prstGeom prst="rect">
            <a:avLst/>
          </a:prstGeom>
          <a:noFill/>
          <a:ln/>
        </p:spPr>
        <p:txBody>
          <a:bodyPr wrap="square" lIns="0" tIns="0" rIns="0" bIns="0" rtlCol="0" anchor="ctr"/>
          <a:lstStyle/>
          <a:p>
            <a:pPr marL="0" indent="0">
              <a:buNone/>
            </a:pPr>
            <a:r>
              <a:rPr lang="en-US" sz="1000" b="1" dirty="0">
                <a:solidFill>
                  <a:srgbClr val="0EA5B7"/>
                </a:solidFill>
                <a:latin typeface="Aptos"/>
              </a:rPr>
              <a:t>photodetector</a:t>
            </a:r>
            <a:endParaRPr lang="en-US" sz="1000" dirty="0"/>
          </a:p>
        </p:txBody>
      </p:sp>
      <p:sp>
        <p:nvSpPr>
          <p:cNvPr id="24" name="Text 21"/>
          <p:cNvSpPr/>
          <p:nvPr/>
        </p:nvSpPr>
        <p:spPr>
          <a:xfrm>
            <a:off x="10686119" y="4763883"/>
            <a:ext cx="992448" cy="274320"/>
          </a:xfrm>
          <a:prstGeom prst="rect">
            <a:avLst/>
          </a:prstGeom>
          <a:noFill/>
          <a:ln/>
        </p:spPr>
        <p:txBody>
          <a:bodyPr wrap="square" lIns="0" tIns="0" rIns="0" bIns="0" rtlCol="0" anchor="ctr">
            <a:noAutofit/>
          </a:bodyPr>
          <a:lstStyle/>
          <a:p>
            <a:pPr marL="0" indent="0">
              <a:buNone/>
            </a:pPr>
            <a:r>
              <a:rPr sz="1000">
                <a:solidFill>
                  <a:srgbClr val="0F172A"/>
                </a:solidFill>
                <a:latin typeface="Aptos"/>
              </a:rPr>
              <a:t>records optical transmission</a:t>
            </a:r>
            <a:endParaRPr lang="en-US" sz="1000" dirty="0"/>
          </a:p>
        </p:txBody>
      </p:sp>
      <p:pic>
        <p:nvPicPr>
          <p:cNvPr id="30" name="Picture 29">
            <a:extLst>
              <a:ext uri="{FF2B5EF4-FFF2-40B4-BE49-F238E27FC236}">
                <a16:creationId xmlns:a16="http://schemas.microsoft.com/office/drawing/2014/main" id="{ACF48F9B-21DD-6815-3C92-7C6B9C96550B}"/>
              </a:ext>
            </a:extLst>
          </p:cNvPr>
          <p:cNvPicPr>
            <a:picLocks noChangeAspect="1"/>
          </p:cNvPicPr>
          <p:nvPr/>
        </p:nvPicPr>
        <p:blipFill>
          <a:blip r:embed="rId4"/>
          <a:stretch>
            <a:fillRect/>
          </a:stretch>
        </p:blipFill>
        <p:spPr>
          <a:xfrm>
            <a:off x="4631873" y="1516256"/>
            <a:ext cx="1013002" cy="2031616"/>
          </a:xfrm>
          <a:prstGeom prst="rect">
            <a:avLst/>
          </a:prstGeom>
        </p:spPr>
      </p:pic>
      <p:pic>
        <p:nvPicPr>
          <p:cNvPr id="25" name="Picture 24" descr="Figure 1 from Design of Rydberg Sensor Arrays for Radio Frequency ...">
            <a:extLst>
              <a:ext uri="{FF2B5EF4-FFF2-40B4-BE49-F238E27FC236}">
                <a16:creationId xmlns:a16="http://schemas.microsoft.com/office/drawing/2014/main" id="{762420F3-656D-2E9D-A5BB-40A48607EB2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3710816"/>
            <a:ext cx="4782267" cy="2307528"/>
          </a:xfrm>
          <a:prstGeom prst="rect">
            <a:avLst/>
          </a:prstGeom>
          <a:noFill/>
          <a:extLst>
            <a:ext uri="{909E8E84-426E-40DD-AFC4-6F175D3DCCD1}">
              <a14:hiddenFill xmlns:a14="http://schemas.microsoft.com/office/drawing/2010/main">
                <a:solidFill>
                  <a:srgbClr val="FFFFFF"/>
                </a:solidFill>
              </a14:hiddenFill>
            </a:ext>
          </a:extLst>
        </p:spPr>
      </p:pic>
      <p:sp>
        <p:nvSpPr>
          <p:cNvPr id="27" name="Rectangle 26">
            <a:extLst>
              <a:ext uri="{FF2B5EF4-FFF2-40B4-BE49-F238E27FC236}">
                <a16:creationId xmlns:a16="http://schemas.microsoft.com/office/drawing/2014/main" id="{795BEB53-E87C-7E09-F1DD-0FC55B0941BA}"/>
              </a:ext>
            </a:extLst>
          </p:cNvPr>
          <p:cNvSpPr/>
          <p:nvPr/>
        </p:nvSpPr>
        <p:spPr>
          <a:xfrm>
            <a:off x="856974" y="1449197"/>
            <a:ext cx="244475" cy="26669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8" name="Picture 27">
            <a:extLst>
              <a:ext uri="{FF2B5EF4-FFF2-40B4-BE49-F238E27FC236}">
                <a16:creationId xmlns:a16="http://schemas.microsoft.com/office/drawing/2014/main" id="{02DC1FE1-21CB-DD1E-C8C2-3E1FB1FD5817}"/>
              </a:ext>
            </a:extLst>
          </p:cNvPr>
          <p:cNvPicPr>
            <a:picLocks noChangeAspect="1"/>
          </p:cNvPicPr>
          <p:nvPr/>
        </p:nvPicPr>
        <p:blipFill>
          <a:blip r:embed="rId6"/>
          <a:stretch>
            <a:fillRect/>
          </a:stretch>
        </p:blipFill>
        <p:spPr>
          <a:xfrm>
            <a:off x="5737737" y="256032"/>
            <a:ext cx="3676335" cy="6231076"/>
          </a:xfrm>
          <a:prstGeom prst="rect">
            <a:avLst/>
          </a:prstGeom>
        </p:spPr>
      </p:pic>
      <p:sp>
        <p:nvSpPr>
          <p:cNvPr id="29" name="Rectangle 28">
            <a:extLst>
              <a:ext uri="{FF2B5EF4-FFF2-40B4-BE49-F238E27FC236}">
                <a16:creationId xmlns:a16="http://schemas.microsoft.com/office/drawing/2014/main" id="{04D4C26E-8DC5-5945-350F-3E5D59D79C22}"/>
              </a:ext>
            </a:extLst>
          </p:cNvPr>
          <p:cNvSpPr/>
          <p:nvPr/>
        </p:nvSpPr>
        <p:spPr>
          <a:xfrm>
            <a:off x="1101449" y="5009197"/>
            <a:ext cx="801242" cy="6227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31" name="Picture 30">
            <a:extLst>
              <a:ext uri="{FF2B5EF4-FFF2-40B4-BE49-F238E27FC236}">
                <a16:creationId xmlns:a16="http://schemas.microsoft.com/office/drawing/2014/main" id="{78EC8A30-9EE2-59E3-BBF4-112E3A5C68A3}"/>
              </a:ext>
            </a:extLst>
          </p:cNvPr>
          <p:cNvPicPr>
            <a:picLocks noChangeAspect="1"/>
          </p:cNvPicPr>
          <p:nvPr/>
        </p:nvPicPr>
        <p:blipFill>
          <a:blip r:embed="rId7"/>
          <a:stretch>
            <a:fillRect/>
          </a:stretch>
        </p:blipFill>
        <p:spPr>
          <a:xfrm>
            <a:off x="6080760" y="1814534"/>
            <a:ext cx="5524930" cy="3107773"/>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1"/>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1"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1"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1"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1"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1"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1"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1"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1"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1"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1"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grpId="1"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grpId="1"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grpId="1"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grpId="1"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9" grpId="1" animBg="1"/>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30" grpId="0" animBg="1"/>
      <p:bldP spid="25" grpId="0" animBg="1"/>
      <p:bldP spid="27" grpId="0" animBg="1"/>
      <p:bldP spid="2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0" y="0"/>
            <a:ext cx="12192000" cy="6858000"/>
          </a:xfrm>
          <a:prstGeom prst="rect">
            <a:avLst/>
          </a:prstGeom>
          <a:solidFill>
            <a:srgbClr val="F8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a:extLst>
              <a:ext uri="{FF2B5EF4-FFF2-40B4-BE49-F238E27FC236}">
                <a16:creationId xmlns:a16="http://schemas.microsoft.com/office/drawing/2014/main" id="{54CC878D-7E86-2B1B-407A-6FA1689904CD}"/>
              </a:ext>
            </a:extLst>
          </p:cNvPr>
          <p:cNvPicPr>
            <a:picLocks noChangeAspect="1"/>
          </p:cNvPicPr>
          <p:nvPr/>
        </p:nvPicPr>
        <p:blipFill>
          <a:blip r:embed="rId3"/>
          <a:stretch>
            <a:fillRect/>
          </a:stretch>
        </p:blipFill>
        <p:spPr>
          <a:xfrm>
            <a:off x="825232" y="1522709"/>
            <a:ext cx="3347902" cy="770017"/>
          </a:xfrm>
          <a:prstGeom prst="rect">
            <a:avLst/>
          </a:prstGeom>
        </p:spPr>
      </p:pic>
      <p:pic>
        <p:nvPicPr>
          <p:cNvPr id="5" name="Content Placeholder 4">
            <a:extLst>
              <a:ext uri="{FF2B5EF4-FFF2-40B4-BE49-F238E27FC236}">
                <a16:creationId xmlns:a16="http://schemas.microsoft.com/office/drawing/2014/main" id="{D49C95AD-1507-8B79-C466-EA8B11524B74}"/>
              </a:ext>
            </a:extLst>
          </p:cNvPr>
          <p:cNvPicPr>
            <a:picLocks noGrp="1" noChangeAspect="1"/>
          </p:cNvPicPr>
          <p:nvPr>
            <p:ph idx="1"/>
          </p:nvPr>
        </p:nvPicPr>
        <p:blipFill>
          <a:blip r:embed="rId4"/>
          <a:stretch>
            <a:fillRect/>
          </a:stretch>
        </p:blipFill>
        <p:spPr>
          <a:xfrm>
            <a:off x="825232" y="2989279"/>
            <a:ext cx="3347898" cy="870453"/>
          </a:xfrm>
          <a:prstGeom prst="rect">
            <a:avLst/>
          </a:prstGeom>
        </p:spPr>
      </p:pic>
      <p:pic>
        <p:nvPicPr>
          <p:cNvPr id="9" name="Picture 8">
            <a:extLst>
              <a:ext uri="{FF2B5EF4-FFF2-40B4-BE49-F238E27FC236}">
                <a16:creationId xmlns:a16="http://schemas.microsoft.com/office/drawing/2014/main" id="{6BE39F87-9033-76A1-9950-2695372771EA}"/>
              </a:ext>
            </a:extLst>
          </p:cNvPr>
          <p:cNvPicPr>
            <a:picLocks noChangeAspect="1"/>
          </p:cNvPicPr>
          <p:nvPr/>
        </p:nvPicPr>
        <p:blipFill>
          <a:blip r:embed="rId5"/>
          <a:stretch>
            <a:fillRect/>
          </a:stretch>
        </p:blipFill>
        <p:spPr>
          <a:xfrm>
            <a:off x="825232" y="4561205"/>
            <a:ext cx="3353564" cy="863542"/>
          </a:xfrm>
          <a:prstGeom prst="rect">
            <a:avLst/>
          </a:prstGeom>
        </p:spPr>
      </p:pic>
      <p:sp>
        <p:nvSpPr>
          <p:cNvPr id="11" name="TextBox 10"/>
          <p:cNvSpPr txBox="1"/>
          <p:nvPr/>
        </p:nvSpPr>
        <p:spPr>
          <a:xfrm>
            <a:off x="4663440" y="841248"/>
            <a:ext cx="6217920" cy="502920"/>
          </a:xfrm>
          <a:prstGeom prst="rect">
            <a:avLst/>
          </a:prstGeom>
          <a:noFill/>
        </p:spPr>
        <p:txBody>
          <a:bodyPr wrap="none" lIns="45720" tIns="18288" rIns="45720" bIns="18288">
            <a:spAutoFit/>
          </a:bodyPr>
          <a:lstStyle/>
          <a:p>
            <a:pPr algn="l">
              <a:spcAft>
                <a:spcPts val="0"/>
              </a:spcAft>
            </a:pPr>
            <a:r>
              <a:rPr sz="2800" b="1">
                <a:solidFill>
                  <a:srgbClr val="141E2D"/>
                </a:solidFill>
                <a:latin typeface="Aptos"/>
              </a:rPr>
              <a:t>Key players in quantum RF sensing</a:t>
            </a:r>
          </a:p>
        </p:txBody>
      </p:sp>
      <p:sp>
        <p:nvSpPr>
          <p:cNvPr id="12" name="TextBox 11"/>
          <p:cNvSpPr txBox="1"/>
          <p:nvPr/>
        </p:nvSpPr>
        <p:spPr>
          <a:xfrm>
            <a:off x="4663440" y="1325880"/>
            <a:ext cx="6126480" cy="411480"/>
          </a:xfrm>
          <a:prstGeom prst="rect">
            <a:avLst/>
          </a:prstGeom>
          <a:noFill/>
        </p:spPr>
        <p:txBody>
          <a:bodyPr wrap="square" lIns="45720" tIns="18288" rIns="45720" bIns="18288">
            <a:spAutoFit/>
          </a:bodyPr>
          <a:lstStyle/>
          <a:p>
            <a:pPr algn="l">
              <a:spcAft>
                <a:spcPts val="0"/>
              </a:spcAft>
            </a:pPr>
            <a:r>
              <a:rPr sz="1200" b="0" dirty="0">
                <a:solidFill>
                  <a:srgbClr val="5C6975"/>
                </a:solidFill>
                <a:latin typeface="Aptos"/>
              </a:rPr>
              <a:t>Major laboratories are actively developing atom-based RF receivers because they offer optically read, atom-defined field measurements in challenging RF environments.</a:t>
            </a:r>
          </a:p>
        </p:txBody>
      </p:sp>
      <p:sp>
        <p:nvSpPr>
          <p:cNvPr id="13" name="Rounded Rectangle 12"/>
          <p:cNvSpPr/>
          <p:nvPr/>
        </p:nvSpPr>
        <p:spPr>
          <a:xfrm>
            <a:off x="4663440" y="2513791"/>
            <a:ext cx="5989320" cy="475488"/>
          </a:xfrm>
          <a:prstGeom prst="roundRect">
            <a:avLst/>
          </a:prstGeom>
          <a:solidFill>
            <a:srgbClr val="FFFFFF"/>
          </a:solidFill>
          <a:ln w="9525">
            <a:solidFill>
              <a:srgbClr val="DF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782312" y="2678383"/>
            <a:ext cx="100584" cy="100584"/>
          </a:xfrm>
          <a:prstGeom prst="ellipse">
            <a:avLst/>
          </a:prstGeom>
          <a:solidFill>
            <a:srgbClr val="0099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983480" y="2596087"/>
            <a:ext cx="5486400" cy="301752"/>
          </a:xfrm>
          <a:prstGeom prst="rect">
            <a:avLst/>
          </a:prstGeom>
          <a:noFill/>
        </p:spPr>
        <p:txBody>
          <a:bodyPr wrap="none" lIns="45720" tIns="18288" rIns="45720" bIns="18288">
            <a:spAutoFit/>
          </a:bodyPr>
          <a:lstStyle/>
          <a:p>
            <a:pPr algn="l">
              <a:spcAft>
                <a:spcPts val="0"/>
              </a:spcAft>
            </a:pPr>
            <a:r>
              <a:rPr sz="1250" b="0">
                <a:solidFill>
                  <a:srgbClr val="131C2C"/>
                </a:solidFill>
                <a:latin typeface="Aptos"/>
              </a:rPr>
              <a:t>NIST: RF metrology, atom-based receivers and traceable field standards</a:t>
            </a:r>
          </a:p>
        </p:txBody>
      </p:sp>
      <p:sp>
        <p:nvSpPr>
          <p:cNvPr id="16" name="Rounded Rectangle 15"/>
          <p:cNvSpPr/>
          <p:nvPr/>
        </p:nvSpPr>
        <p:spPr>
          <a:xfrm>
            <a:off x="4663440" y="3172159"/>
            <a:ext cx="5989320" cy="475488"/>
          </a:xfrm>
          <a:prstGeom prst="roundRect">
            <a:avLst/>
          </a:prstGeom>
          <a:solidFill>
            <a:srgbClr val="FFFFFF"/>
          </a:solidFill>
          <a:ln w="9525">
            <a:solidFill>
              <a:srgbClr val="DF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782312" y="3336751"/>
            <a:ext cx="100584" cy="100584"/>
          </a:xfrm>
          <a:prstGeom prst="ellipse">
            <a:avLst/>
          </a:prstGeom>
          <a:solidFill>
            <a:srgbClr val="C512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983480" y="3254455"/>
            <a:ext cx="5486400" cy="301752"/>
          </a:xfrm>
          <a:prstGeom prst="rect">
            <a:avLst/>
          </a:prstGeom>
          <a:noFill/>
        </p:spPr>
        <p:txBody>
          <a:bodyPr wrap="none" lIns="45720" tIns="18288" rIns="45720" bIns="18288">
            <a:spAutoFit/>
          </a:bodyPr>
          <a:lstStyle/>
          <a:p>
            <a:pPr algn="l">
              <a:spcAft>
                <a:spcPts val="0"/>
              </a:spcAft>
            </a:pPr>
            <a:r>
              <a:rPr sz="1250" b="0">
                <a:solidFill>
                  <a:srgbClr val="131C2C"/>
                </a:solidFill>
                <a:latin typeface="Aptos"/>
              </a:rPr>
              <a:t>DEVCOM: resilient communications, spectrum awareness and defence sensing</a:t>
            </a:r>
          </a:p>
        </p:txBody>
      </p:sp>
      <p:sp>
        <p:nvSpPr>
          <p:cNvPr id="19" name="Rounded Rectangle 18"/>
          <p:cNvSpPr/>
          <p:nvPr/>
        </p:nvSpPr>
        <p:spPr>
          <a:xfrm>
            <a:off x="4663440" y="3830527"/>
            <a:ext cx="5989320" cy="475488"/>
          </a:xfrm>
          <a:prstGeom prst="roundRect">
            <a:avLst/>
          </a:prstGeom>
          <a:solidFill>
            <a:srgbClr val="FFFFFF"/>
          </a:solidFill>
          <a:ln w="9525">
            <a:solidFill>
              <a:srgbClr val="DF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4782312" y="3995119"/>
            <a:ext cx="100584" cy="100584"/>
          </a:xfrm>
          <a:prstGeom prst="ellipse">
            <a:avLst/>
          </a:prstGeom>
          <a:solidFill>
            <a:srgbClr val="F7AD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983480" y="3912823"/>
            <a:ext cx="5486400" cy="301752"/>
          </a:xfrm>
          <a:prstGeom prst="rect">
            <a:avLst/>
          </a:prstGeom>
          <a:noFill/>
        </p:spPr>
        <p:txBody>
          <a:bodyPr wrap="none" lIns="45720" tIns="18288" rIns="45720" bIns="18288">
            <a:spAutoFit/>
          </a:bodyPr>
          <a:lstStyle/>
          <a:p>
            <a:pPr algn="l">
              <a:spcAft>
                <a:spcPts val="0"/>
              </a:spcAft>
            </a:pPr>
            <a:r>
              <a:rPr sz="1250" b="0">
                <a:solidFill>
                  <a:srgbClr val="131C2C"/>
                </a:solidFill>
                <a:latin typeface="Aptos"/>
              </a:rPr>
              <a:t>JPL / NASA: space-relevant sensing and remote electromagnetic environments</a:t>
            </a:r>
          </a:p>
        </p:txBody>
      </p:sp>
      <p:sp>
        <p:nvSpPr>
          <p:cNvPr id="22" name="Rounded Rectangle 21"/>
          <p:cNvSpPr/>
          <p:nvPr/>
        </p:nvSpPr>
        <p:spPr>
          <a:xfrm>
            <a:off x="4617720" y="5074920"/>
            <a:ext cx="6080760" cy="594360"/>
          </a:xfrm>
          <a:prstGeom prst="roundRect">
            <a:avLst/>
          </a:prstGeom>
          <a:solidFill>
            <a:srgbClr val="EAF6F8"/>
          </a:solidFill>
          <a:ln w="11430">
            <a:solidFill>
              <a:srgbClr val="C8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754880" y="5136651"/>
            <a:ext cx="5806440" cy="470898"/>
          </a:xfrm>
          <a:prstGeom prst="rect">
            <a:avLst/>
          </a:prstGeom>
          <a:noFill/>
        </p:spPr>
        <p:txBody>
          <a:bodyPr wrap="square" lIns="54864" tIns="27432" rIns="54864" bIns="27432">
            <a:spAutoFit/>
          </a:bodyPr>
          <a:lstStyle/>
          <a:p>
            <a:pPr algn="l">
              <a:lnSpc>
                <a:spcPct val="100000"/>
              </a:lnSpc>
              <a:defRPr sz="1350" b="1">
                <a:solidFill>
                  <a:srgbClr val="172033"/>
                </a:solidFill>
                <a:latin typeface="Aptos"/>
              </a:defRPr>
            </a:pPr>
            <a:r>
              <a:rPr dirty="0"/>
              <a:t>Why it matters: RF polarimetry is becoming a </a:t>
            </a:r>
            <a:r>
              <a:rPr lang="en-AU" dirty="0"/>
              <a:t>topic of interest in the broader regime</a:t>
            </a:r>
            <a:r>
              <a:rPr dirty="0"/>
              <a:t>.</a:t>
            </a:r>
          </a:p>
        </p:txBody>
      </p:sp>
    </p:spTree>
    <p:extLst>
      <p:ext uri="{BB962C8B-B14F-4D97-AF65-F5344CB8AC3E}">
        <p14:creationId xmlns:p14="http://schemas.microsoft.com/office/powerpoint/2010/main" val="26147685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1"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1"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1"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1"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1"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grpId="1"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1" nodeType="click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grpId="1"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animBg="1"/>
      <p:bldP spid="9" grpId="0" animBg="1"/>
      <p:bldP spid="12" grpId="0" animBg="1"/>
      <p:bldP spid="13" grpId="0" animBg="1"/>
      <p:bldP spid="13" grpId="1" animBg="1"/>
      <p:bldP spid="14" grpId="0" animBg="1"/>
      <p:bldP spid="14" grpId="1" animBg="1"/>
      <p:bldP spid="15" grpId="0" animBg="1"/>
      <p:bldP spid="15" grpId="1"/>
      <p:bldP spid="16" grpId="0" animBg="1"/>
      <p:bldP spid="16" grpId="1" animBg="1"/>
      <p:bldP spid="17" grpId="0" animBg="1"/>
      <p:bldP spid="17" grpId="1" animBg="1"/>
      <p:bldP spid="18" grpId="0" animBg="1"/>
      <p:bldP spid="18" grpId="1"/>
      <p:bldP spid="19" grpId="0" animBg="1"/>
      <p:bldP spid="19" grpId="1" animBg="1"/>
      <p:bldP spid="20" grpId="0" animBg="1"/>
      <p:bldP spid="20" grpId="1" animBg="1"/>
      <p:bldP spid="21" grpId="0" animBg="1"/>
      <p:bldP spid="21" grpId="1"/>
      <p:bldP spid="22" grpId="0" animBg="1"/>
      <p:bldP spid="22" grpId="1" animBg="1"/>
      <p:bldP spid="23" grpId="0" animBg="1"/>
      <p:bldP spid="23"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solidFill>
            <a:srgbClr val="F8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674BF4D2-48E8-9ECD-3B06-01982967AD96}"/>
              </a:ext>
            </a:extLst>
          </p:cNvPr>
          <p:cNvSpPr txBox="1"/>
          <p:nvPr/>
        </p:nvSpPr>
        <p:spPr>
          <a:xfrm>
            <a:off x="2273643" y="383059"/>
            <a:ext cx="6870357" cy="584775"/>
          </a:xfrm>
          <a:prstGeom prst="rect">
            <a:avLst/>
          </a:prstGeom>
          <a:noFill/>
        </p:spPr>
        <p:txBody>
          <a:bodyPr wrap="square" rtlCol="0">
            <a:spAutoFit/>
          </a:bodyPr>
          <a:lstStyle/>
          <a:p>
            <a:r>
              <a:rPr sz="2400">
                <a:solidFill>
                  <a:srgbClr val="131C2C"/>
                </a:solidFill>
                <a:latin typeface="Aptos"/>
              </a:rPr>
              <a:t>Limitation addressed here: polarisation</a:t>
            </a:r>
            <a:endParaRPr lang="en-AU" sz="3200" dirty="0">
              <a:solidFill>
                <a:srgbClr val="00B0F0"/>
              </a:solidFill>
            </a:endParaRPr>
          </a:p>
        </p:txBody>
      </p:sp>
      <p:sp>
        <p:nvSpPr>
          <p:cNvPr id="5" name="Rounded Rectangle 4"/>
          <p:cNvSpPr/>
          <p:nvPr/>
        </p:nvSpPr>
        <p:spPr>
          <a:xfrm>
            <a:off x="1051560" y="1417320"/>
            <a:ext cx="9875520" cy="932688"/>
          </a:xfrm>
          <a:prstGeom prst="roundRect">
            <a:avLst/>
          </a:prstGeom>
          <a:solidFill>
            <a:srgbClr val="E8F7F9"/>
          </a:solidFill>
          <a:ln w="9525">
            <a:solidFill>
              <a:srgbClr val="DF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25880" y="1563624"/>
            <a:ext cx="9326880" cy="228600"/>
          </a:xfrm>
          <a:prstGeom prst="rect">
            <a:avLst/>
          </a:prstGeom>
          <a:noFill/>
        </p:spPr>
        <p:txBody>
          <a:bodyPr wrap="none" lIns="45720" tIns="18288" rIns="45720" bIns="18288">
            <a:spAutoFit/>
          </a:bodyPr>
          <a:lstStyle/>
          <a:p>
            <a:pPr algn="l">
              <a:spcAft>
                <a:spcPts val="0"/>
              </a:spcAft>
            </a:pPr>
            <a:r>
              <a:rPr sz="1600" b="1">
                <a:solidFill>
                  <a:srgbClr val="0099A4"/>
                </a:solidFill>
                <a:latin typeface="Aptos"/>
              </a:rPr>
              <a:t>1  Polarisation is not just power</a:t>
            </a:r>
          </a:p>
        </p:txBody>
      </p:sp>
      <p:sp>
        <p:nvSpPr>
          <p:cNvPr id="7" name="TextBox 6"/>
          <p:cNvSpPr txBox="1"/>
          <p:nvPr/>
        </p:nvSpPr>
        <p:spPr>
          <a:xfrm>
            <a:off x="1325880" y="1856232"/>
            <a:ext cx="9326880" cy="329184"/>
          </a:xfrm>
          <a:prstGeom prst="rect">
            <a:avLst/>
          </a:prstGeom>
          <a:noFill/>
        </p:spPr>
        <p:txBody>
          <a:bodyPr wrap="none" lIns="45720" tIns="18288" rIns="45720" bIns="18288">
            <a:spAutoFit/>
          </a:bodyPr>
          <a:lstStyle/>
          <a:p>
            <a:pPr algn="l">
              <a:spcAft>
                <a:spcPts val="0"/>
              </a:spcAft>
            </a:pPr>
            <a:r>
              <a:rPr sz="1320" b="0">
                <a:solidFill>
                  <a:srgbClr val="131C2C"/>
                </a:solidFill>
                <a:latin typeface="Aptos"/>
              </a:rPr>
              <a:t>Power tells us “how much”. Polarisation helps infer propagation, orientation and emitter behaviour.</a:t>
            </a:r>
          </a:p>
        </p:txBody>
      </p:sp>
      <p:sp>
        <p:nvSpPr>
          <p:cNvPr id="8" name="Rounded Rectangle 7"/>
          <p:cNvSpPr/>
          <p:nvPr/>
        </p:nvSpPr>
        <p:spPr>
          <a:xfrm>
            <a:off x="1051560" y="2651760"/>
            <a:ext cx="9875520" cy="932688"/>
          </a:xfrm>
          <a:prstGeom prst="roundRect">
            <a:avLst/>
          </a:prstGeom>
          <a:solidFill>
            <a:srgbClr val="FFEEF7"/>
          </a:solidFill>
          <a:ln w="9525">
            <a:solidFill>
              <a:srgbClr val="DF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25880" y="2798064"/>
            <a:ext cx="9326880" cy="228600"/>
          </a:xfrm>
          <a:prstGeom prst="rect">
            <a:avLst/>
          </a:prstGeom>
          <a:noFill/>
        </p:spPr>
        <p:txBody>
          <a:bodyPr wrap="none" lIns="45720" tIns="18288" rIns="45720" bIns="18288">
            <a:spAutoFit/>
          </a:bodyPr>
          <a:lstStyle/>
          <a:p>
            <a:pPr algn="l">
              <a:spcAft>
                <a:spcPts val="0"/>
              </a:spcAft>
            </a:pPr>
            <a:r>
              <a:rPr sz="1600" b="1">
                <a:solidFill>
                  <a:srgbClr val="C5127B"/>
                </a:solidFill>
                <a:latin typeface="Aptos"/>
              </a:rPr>
              <a:t>2  Linear measurements are useful but incomplete</a:t>
            </a:r>
          </a:p>
        </p:txBody>
      </p:sp>
      <p:sp>
        <p:nvSpPr>
          <p:cNvPr id="10" name="TextBox 9"/>
          <p:cNvSpPr txBox="1"/>
          <p:nvPr/>
        </p:nvSpPr>
        <p:spPr>
          <a:xfrm>
            <a:off x="1325880" y="3090672"/>
            <a:ext cx="9326880" cy="329184"/>
          </a:xfrm>
          <a:prstGeom prst="rect">
            <a:avLst/>
          </a:prstGeom>
          <a:noFill/>
        </p:spPr>
        <p:txBody>
          <a:bodyPr wrap="none" lIns="45720" tIns="18288" rIns="45720" bIns="18288">
            <a:spAutoFit/>
          </a:bodyPr>
          <a:lstStyle/>
          <a:p>
            <a:pPr algn="l">
              <a:spcAft>
                <a:spcPts val="0"/>
              </a:spcAft>
            </a:pPr>
            <a:r>
              <a:rPr sz="1320" b="0">
                <a:solidFill>
                  <a:srgbClr val="131C2C"/>
                </a:solidFill>
                <a:latin typeface="Aptos"/>
              </a:rPr>
              <a:t>The present receiver distinguishes linear orientations, but H/V/D/A alone leave circular handedness unobserved.</a:t>
            </a:r>
          </a:p>
        </p:txBody>
      </p:sp>
      <p:sp>
        <p:nvSpPr>
          <p:cNvPr id="11" name="Rounded Rectangle 10"/>
          <p:cNvSpPr/>
          <p:nvPr/>
        </p:nvSpPr>
        <p:spPr>
          <a:xfrm>
            <a:off x="1051560" y="3886200"/>
            <a:ext cx="9875520" cy="932688"/>
          </a:xfrm>
          <a:prstGeom prst="roundRect">
            <a:avLst/>
          </a:prstGeom>
          <a:solidFill>
            <a:srgbClr val="FFFAE8"/>
          </a:solidFill>
          <a:ln w="9525">
            <a:solidFill>
              <a:srgbClr val="DF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325880" y="4032504"/>
            <a:ext cx="9326880" cy="228600"/>
          </a:xfrm>
          <a:prstGeom prst="rect">
            <a:avLst/>
          </a:prstGeom>
          <a:noFill/>
        </p:spPr>
        <p:txBody>
          <a:bodyPr wrap="none" lIns="45720" tIns="18288" rIns="45720" bIns="18288">
            <a:spAutoFit/>
          </a:bodyPr>
          <a:lstStyle/>
          <a:p>
            <a:pPr algn="l">
              <a:spcAft>
                <a:spcPts val="0"/>
              </a:spcAft>
            </a:pPr>
            <a:r>
              <a:rPr sz="1600" b="1">
                <a:solidFill>
                  <a:srgbClr val="131C2C"/>
                </a:solidFill>
                <a:latin typeface="Aptos"/>
              </a:rPr>
              <a:t>3  Thesis focus</a:t>
            </a:r>
          </a:p>
        </p:txBody>
      </p:sp>
      <p:sp>
        <p:nvSpPr>
          <p:cNvPr id="13" name="TextBox 12"/>
          <p:cNvSpPr txBox="1"/>
          <p:nvPr/>
        </p:nvSpPr>
        <p:spPr>
          <a:xfrm>
            <a:off x="1325880" y="4325112"/>
            <a:ext cx="9326880" cy="329184"/>
          </a:xfrm>
          <a:prstGeom prst="rect">
            <a:avLst/>
          </a:prstGeom>
          <a:noFill/>
        </p:spPr>
        <p:txBody>
          <a:bodyPr wrap="none" lIns="45720" tIns="18288" rIns="45720" bIns="18288">
            <a:spAutoFit/>
          </a:bodyPr>
          <a:lstStyle/>
          <a:p>
            <a:pPr algn="l">
              <a:spcAft>
                <a:spcPts val="0"/>
              </a:spcAft>
            </a:pPr>
            <a:r>
              <a:rPr sz="1320" b="0">
                <a:solidFill>
                  <a:srgbClr val="131C2C"/>
                </a:solidFill>
                <a:latin typeface="Aptos"/>
              </a:rPr>
              <a:t>Use calibrated RF projections with Rydberg optical readout, then reconstruct the Stokes vector with a clear validation path.</a:t>
            </a:r>
          </a:p>
        </p:txBody>
      </p:sp>
      <p:sp>
        <p:nvSpPr>
          <p:cNvPr id="14" name="Rounded Rectangle 13"/>
          <p:cNvSpPr/>
          <p:nvPr/>
        </p:nvSpPr>
        <p:spPr>
          <a:xfrm>
            <a:off x="1051560" y="5440680"/>
            <a:ext cx="9875520" cy="411480"/>
          </a:xfrm>
          <a:prstGeom prst="roundRect">
            <a:avLst/>
          </a:prstGeom>
          <a:solidFill>
            <a:srgbClr val="FFFFFF"/>
          </a:solidFill>
          <a:ln w="9525">
            <a:solidFill>
              <a:srgbClr val="C4E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61872" y="5522976"/>
            <a:ext cx="9418320" cy="201168"/>
          </a:xfrm>
          <a:prstGeom prst="rect">
            <a:avLst/>
          </a:prstGeom>
          <a:noFill/>
        </p:spPr>
        <p:txBody>
          <a:bodyPr wrap="none" lIns="45720" tIns="18288" rIns="45720" bIns="18288">
            <a:spAutoFit/>
          </a:bodyPr>
          <a:lstStyle/>
          <a:p>
            <a:pPr algn="l">
              <a:spcAft>
                <a:spcPts val="0"/>
              </a:spcAft>
            </a:pPr>
            <a:r>
              <a:rPr sz="1250" b="1">
                <a:solidFill>
                  <a:srgbClr val="131C2C"/>
                </a:solidFill>
                <a:latin typeface="Aptos"/>
              </a:rPr>
              <a:t>Take-away: the remaining gap is not RF detection itself; it is complete, calibrated polarisation recovery.</a:t>
            </a:r>
          </a:p>
        </p:txBody>
      </p:sp>
      <p:sp>
        <p:nvSpPr>
          <p:cNvPr id="16" name="Rectangle 15"/>
          <p:cNvSpPr/>
          <p:nvPr/>
        </p:nvSpPr>
        <p:spPr>
          <a:xfrm>
            <a:off x="0" y="0"/>
            <a:ext cx="12198096" cy="6419088"/>
          </a:xfrm>
          <a:prstGeom prst="rect">
            <a:avLst/>
          </a:prstGeom>
          <a:solidFill>
            <a:srgbClr val="F3FAFB"/>
          </a:solidFill>
          <a:ln>
            <a:solidFill>
              <a:srgbClr val="F3FA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 y="320040"/>
            <a:ext cx="10789920" cy="384048"/>
          </a:xfrm>
          <a:prstGeom prst="rect">
            <a:avLst/>
          </a:prstGeom>
          <a:noFill/>
        </p:spPr>
        <p:txBody>
          <a:bodyPr wrap="square" lIns="45720" tIns="27432" rIns="45720" bIns="18288">
            <a:spAutoFit/>
          </a:bodyPr>
          <a:lstStyle/>
          <a:p>
            <a:pPr algn="l">
              <a:defRPr sz="2400" b="1">
                <a:solidFill>
                  <a:srgbClr val="172033"/>
                </a:solidFill>
                <a:latin typeface="Aptos"/>
              </a:defRPr>
            </a:pPr>
            <a:r>
              <a:t>Limitations of Rydberg sensors</a:t>
            </a:r>
          </a:p>
        </p:txBody>
      </p:sp>
      <p:sp>
        <p:nvSpPr>
          <p:cNvPr id="18" name="TextBox 17"/>
          <p:cNvSpPr txBox="1"/>
          <p:nvPr/>
        </p:nvSpPr>
        <p:spPr>
          <a:xfrm>
            <a:off x="512064" y="749808"/>
            <a:ext cx="10332720" cy="201168"/>
          </a:xfrm>
          <a:prstGeom prst="rect">
            <a:avLst/>
          </a:prstGeom>
          <a:noFill/>
        </p:spPr>
        <p:txBody>
          <a:bodyPr wrap="square" lIns="45720" tIns="27432" rIns="45720" bIns="18288">
            <a:spAutoFit/>
          </a:bodyPr>
          <a:lstStyle/>
          <a:p>
            <a:pPr algn="l">
              <a:defRPr sz="1070" b="0">
                <a:solidFill>
                  <a:srgbClr val="657381"/>
                </a:solidFill>
                <a:latin typeface="Aptos"/>
              </a:defRPr>
            </a:pPr>
            <a:r>
              <a:t>The platform is powerful, but practical receivers still face system-level constraints.</a:t>
            </a:r>
          </a:p>
        </p:txBody>
      </p:sp>
      <p:sp>
        <p:nvSpPr>
          <p:cNvPr id="19" name="Rectangle 18"/>
          <p:cNvSpPr/>
          <p:nvPr/>
        </p:nvSpPr>
        <p:spPr>
          <a:xfrm>
            <a:off x="512064" y="987552"/>
            <a:ext cx="2697480" cy="32004"/>
          </a:xfrm>
          <a:prstGeom prst="rect">
            <a:avLst/>
          </a:prstGeom>
          <a:solidFill>
            <a:srgbClr val="149EA6"/>
          </a:solidFill>
          <a:ln>
            <a:solidFill>
              <a:srgbClr val="149E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58368" y="1298448"/>
            <a:ext cx="10881360" cy="969264"/>
          </a:xfrm>
          <a:prstGeom prst="roundRect">
            <a:avLst/>
          </a:prstGeom>
          <a:solidFill>
            <a:srgbClr val="FCEEF6"/>
          </a:solidFill>
          <a:ln w="10160">
            <a:solidFill>
              <a:srgbClr val="D8E5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68680" y="1545336"/>
            <a:ext cx="384048" cy="384048"/>
          </a:xfrm>
          <a:prstGeom prst="ellipse">
            <a:avLst/>
          </a:prstGeom>
          <a:solidFill>
            <a:srgbClr val="C21877"/>
          </a:solidFill>
          <a:ln>
            <a:solidFill>
              <a:srgbClr val="C218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41832" y="1609344"/>
            <a:ext cx="228600" cy="109728"/>
          </a:xfrm>
          <a:prstGeom prst="rect">
            <a:avLst/>
          </a:prstGeom>
          <a:noFill/>
        </p:spPr>
        <p:txBody>
          <a:bodyPr wrap="square" lIns="45720" tIns="27432" rIns="45720" bIns="18288">
            <a:spAutoFit/>
          </a:bodyPr>
          <a:lstStyle/>
          <a:p>
            <a:pPr algn="ctr">
              <a:defRPr sz="1100" b="1">
                <a:solidFill>
                  <a:srgbClr val="FFFFFF"/>
                </a:solidFill>
                <a:latin typeface="Aptos"/>
              </a:defRPr>
            </a:pPr>
            <a:r>
              <a:t>1</a:t>
            </a:r>
          </a:p>
        </p:txBody>
      </p:sp>
      <p:sp>
        <p:nvSpPr>
          <p:cNvPr id="23" name="TextBox 22"/>
          <p:cNvSpPr txBox="1"/>
          <p:nvPr/>
        </p:nvSpPr>
        <p:spPr>
          <a:xfrm>
            <a:off x="1417320" y="1481328"/>
            <a:ext cx="4114800" cy="210312"/>
          </a:xfrm>
          <a:prstGeom prst="rect">
            <a:avLst/>
          </a:prstGeom>
          <a:noFill/>
        </p:spPr>
        <p:txBody>
          <a:bodyPr wrap="square" lIns="45720" tIns="27432" rIns="45720" bIns="18288">
            <a:spAutoFit/>
          </a:bodyPr>
          <a:lstStyle/>
          <a:p>
            <a:pPr algn="l">
              <a:defRPr sz="1540" b="1">
                <a:solidFill>
                  <a:srgbClr val="C21877"/>
                </a:solidFill>
                <a:latin typeface="Aptos"/>
              </a:defRPr>
            </a:pPr>
            <a:r>
              <a:t>Weak polarisation detection</a:t>
            </a:r>
          </a:p>
        </p:txBody>
      </p:sp>
      <p:sp>
        <p:nvSpPr>
          <p:cNvPr id="24" name="TextBox 23"/>
          <p:cNvSpPr txBox="1"/>
          <p:nvPr/>
        </p:nvSpPr>
        <p:spPr>
          <a:xfrm>
            <a:off x="1417320" y="1810512"/>
            <a:ext cx="9646920" cy="256032"/>
          </a:xfrm>
          <a:prstGeom prst="rect">
            <a:avLst/>
          </a:prstGeom>
          <a:noFill/>
        </p:spPr>
        <p:txBody>
          <a:bodyPr wrap="square" lIns="45720" tIns="27432" rIns="45720" bIns="18288">
            <a:spAutoFit/>
          </a:bodyPr>
          <a:lstStyle/>
          <a:p>
            <a:pPr algn="l">
              <a:defRPr sz="1110" b="0">
                <a:solidFill>
                  <a:srgbClr val="172033"/>
                </a:solidFill>
                <a:latin typeface="Aptos"/>
              </a:defRPr>
            </a:pPr>
            <a:r>
              <a:t>Polarisation carries information about signal origin, propagation and emitter characteristics that cannot be obtained from received power alone.</a:t>
            </a:r>
          </a:p>
        </p:txBody>
      </p:sp>
      <p:sp>
        <p:nvSpPr>
          <p:cNvPr id="25" name="Rounded Rectangle 24"/>
          <p:cNvSpPr/>
          <p:nvPr/>
        </p:nvSpPr>
        <p:spPr>
          <a:xfrm>
            <a:off x="658368" y="2459736"/>
            <a:ext cx="10881360" cy="969264"/>
          </a:xfrm>
          <a:prstGeom prst="roundRect">
            <a:avLst/>
          </a:prstGeom>
          <a:solidFill>
            <a:srgbClr val="EAF6F8"/>
          </a:solidFill>
          <a:ln w="10160">
            <a:solidFill>
              <a:srgbClr val="D8E5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68680" y="2706624"/>
            <a:ext cx="384048" cy="384048"/>
          </a:xfrm>
          <a:prstGeom prst="ellipse">
            <a:avLst/>
          </a:prstGeom>
          <a:solidFill>
            <a:srgbClr val="149EA6"/>
          </a:solidFill>
          <a:ln>
            <a:solidFill>
              <a:srgbClr val="149E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41832" y="2770632"/>
            <a:ext cx="228600" cy="109728"/>
          </a:xfrm>
          <a:prstGeom prst="rect">
            <a:avLst/>
          </a:prstGeom>
          <a:noFill/>
        </p:spPr>
        <p:txBody>
          <a:bodyPr wrap="square" lIns="45720" tIns="27432" rIns="45720" bIns="18288">
            <a:spAutoFit/>
          </a:bodyPr>
          <a:lstStyle/>
          <a:p>
            <a:pPr algn="ctr">
              <a:defRPr sz="1100" b="1">
                <a:solidFill>
                  <a:srgbClr val="FFFFFF"/>
                </a:solidFill>
                <a:latin typeface="Aptos"/>
              </a:defRPr>
            </a:pPr>
            <a:r>
              <a:t>2</a:t>
            </a:r>
          </a:p>
        </p:txBody>
      </p:sp>
      <p:sp>
        <p:nvSpPr>
          <p:cNvPr id="28" name="TextBox 27"/>
          <p:cNvSpPr txBox="1"/>
          <p:nvPr/>
        </p:nvSpPr>
        <p:spPr>
          <a:xfrm>
            <a:off x="1417320" y="2642616"/>
            <a:ext cx="4114800" cy="210312"/>
          </a:xfrm>
          <a:prstGeom prst="rect">
            <a:avLst/>
          </a:prstGeom>
          <a:noFill/>
        </p:spPr>
        <p:txBody>
          <a:bodyPr wrap="square" lIns="45720" tIns="27432" rIns="45720" bIns="18288">
            <a:spAutoFit/>
          </a:bodyPr>
          <a:lstStyle/>
          <a:p>
            <a:pPr algn="l">
              <a:defRPr sz="1540" b="1">
                <a:solidFill>
                  <a:srgbClr val="149EA6"/>
                </a:solidFill>
                <a:latin typeface="Aptos"/>
              </a:defRPr>
            </a:pPr>
            <a:r>
              <a:t>Limited instantaneous bandwidth</a:t>
            </a:r>
          </a:p>
        </p:txBody>
      </p:sp>
      <p:sp>
        <p:nvSpPr>
          <p:cNvPr id="29" name="TextBox 28"/>
          <p:cNvSpPr txBox="1"/>
          <p:nvPr/>
        </p:nvSpPr>
        <p:spPr>
          <a:xfrm>
            <a:off x="1417320" y="2971800"/>
            <a:ext cx="9646920" cy="256032"/>
          </a:xfrm>
          <a:prstGeom prst="rect">
            <a:avLst/>
          </a:prstGeom>
          <a:noFill/>
        </p:spPr>
        <p:txBody>
          <a:bodyPr wrap="square" lIns="45720" tIns="27432" rIns="45720" bIns="18288">
            <a:spAutoFit/>
          </a:bodyPr>
          <a:lstStyle/>
          <a:p>
            <a:pPr algn="l">
              <a:defRPr sz="1110" b="0">
                <a:solidFill>
                  <a:srgbClr val="172033"/>
                </a:solidFill>
                <a:latin typeface="Aptos"/>
              </a:defRPr>
            </a:pPr>
            <a:r>
              <a:t>A vapour-cell receiver can tune over wide RF bands, but instantaneous modulation bandwidth is still limited for many spread-spectrum or rapidly varying signals.</a:t>
            </a:r>
          </a:p>
        </p:txBody>
      </p:sp>
      <p:sp>
        <p:nvSpPr>
          <p:cNvPr id="30" name="Rounded Rectangle 29"/>
          <p:cNvSpPr/>
          <p:nvPr/>
        </p:nvSpPr>
        <p:spPr>
          <a:xfrm>
            <a:off x="658368" y="3621024"/>
            <a:ext cx="10881360" cy="969264"/>
          </a:xfrm>
          <a:prstGeom prst="roundRect">
            <a:avLst/>
          </a:prstGeom>
          <a:solidFill>
            <a:srgbClr val="FFF6E4"/>
          </a:solidFill>
          <a:ln w="10160">
            <a:solidFill>
              <a:srgbClr val="D8E5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868680" y="3867912"/>
            <a:ext cx="384048" cy="384048"/>
          </a:xfrm>
          <a:prstGeom prst="ellipse">
            <a:avLst/>
          </a:prstGeom>
          <a:solidFill>
            <a:srgbClr val="F5A623"/>
          </a:solidFill>
          <a:ln>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41832" y="3931920"/>
            <a:ext cx="228600" cy="109728"/>
          </a:xfrm>
          <a:prstGeom prst="rect">
            <a:avLst/>
          </a:prstGeom>
          <a:noFill/>
        </p:spPr>
        <p:txBody>
          <a:bodyPr wrap="square" lIns="45720" tIns="27432" rIns="45720" bIns="18288">
            <a:spAutoFit/>
          </a:bodyPr>
          <a:lstStyle/>
          <a:p>
            <a:pPr algn="ctr">
              <a:defRPr sz="1100" b="1">
                <a:solidFill>
                  <a:srgbClr val="FFFFFF"/>
                </a:solidFill>
                <a:latin typeface="Aptos"/>
              </a:defRPr>
            </a:pPr>
            <a:r>
              <a:t>3</a:t>
            </a:r>
          </a:p>
        </p:txBody>
      </p:sp>
      <p:sp>
        <p:nvSpPr>
          <p:cNvPr id="33" name="TextBox 32"/>
          <p:cNvSpPr txBox="1"/>
          <p:nvPr/>
        </p:nvSpPr>
        <p:spPr>
          <a:xfrm>
            <a:off x="1417320" y="3803904"/>
            <a:ext cx="4114800" cy="210312"/>
          </a:xfrm>
          <a:prstGeom prst="rect">
            <a:avLst/>
          </a:prstGeom>
          <a:noFill/>
        </p:spPr>
        <p:txBody>
          <a:bodyPr wrap="square" lIns="45720" tIns="27432" rIns="45720" bIns="18288">
            <a:spAutoFit/>
          </a:bodyPr>
          <a:lstStyle/>
          <a:p>
            <a:pPr algn="l">
              <a:defRPr sz="1540" b="1">
                <a:solidFill>
                  <a:srgbClr val="F5A623"/>
                </a:solidFill>
                <a:latin typeface="Aptos"/>
              </a:defRPr>
            </a:pPr>
            <a:r>
              <a:t>Optical complexity</a:t>
            </a:r>
          </a:p>
        </p:txBody>
      </p:sp>
      <p:sp>
        <p:nvSpPr>
          <p:cNvPr id="34" name="TextBox 33"/>
          <p:cNvSpPr txBox="1"/>
          <p:nvPr/>
        </p:nvSpPr>
        <p:spPr>
          <a:xfrm>
            <a:off x="1417320" y="4133087"/>
            <a:ext cx="9646920" cy="256032"/>
          </a:xfrm>
          <a:prstGeom prst="rect">
            <a:avLst/>
          </a:prstGeom>
          <a:noFill/>
        </p:spPr>
        <p:txBody>
          <a:bodyPr wrap="square" lIns="45720" tIns="27432" rIns="45720" bIns="18288">
            <a:spAutoFit/>
          </a:bodyPr>
          <a:lstStyle/>
          <a:p>
            <a:pPr algn="l">
              <a:defRPr sz="1110" b="0">
                <a:solidFill>
                  <a:srgbClr val="172033"/>
                </a:solidFill>
                <a:latin typeface="Aptos"/>
              </a:defRPr>
            </a:pPr>
            <a:r>
              <a:t>Current systems require multiple lasers, frequency stabilisation, optical alignment and photodetection, increasing deployment burden.</a:t>
            </a:r>
          </a:p>
        </p:txBody>
      </p:sp>
      <p:sp>
        <p:nvSpPr>
          <p:cNvPr id="35" name="Rounded Rectangle 34"/>
          <p:cNvSpPr/>
          <p:nvPr/>
        </p:nvSpPr>
        <p:spPr>
          <a:xfrm>
            <a:off x="658368" y="5001768"/>
            <a:ext cx="10881360" cy="603504"/>
          </a:xfrm>
          <a:prstGeom prst="roundRect">
            <a:avLst/>
          </a:prstGeom>
          <a:solidFill>
            <a:srgbClr val="FFFFFF"/>
          </a:solidFill>
          <a:ln w="10160">
            <a:solidFill>
              <a:srgbClr val="D8E5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77824" y="5193792"/>
            <a:ext cx="10469880" cy="201168"/>
          </a:xfrm>
          <a:prstGeom prst="rect">
            <a:avLst/>
          </a:prstGeom>
          <a:noFill/>
        </p:spPr>
        <p:txBody>
          <a:bodyPr wrap="square" lIns="45720" tIns="18288" rIns="45720" bIns="18288">
            <a:spAutoFit/>
          </a:bodyPr>
          <a:lstStyle/>
          <a:p>
            <a:r>
              <a:rPr sz="1220" b="1">
                <a:solidFill>
                  <a:srgbClr val="172033"/>
                </a:solidFill>
                <a:latin typeface="Aptos"/>
              </a:rPr>
              <a:t>This presentation addresses limitation 1: </a:t>
            </a:r>
            <a:r>
              <a:rPr sz="1220" b="0">
                <a:solidFill>
                  <a:srgbClr val="172033"/>
                </a:solidFill>
                <a:latin typeface="Aptos"/>
              </a:rPr>
              <a:t>recovering useful polarisation information by viewing the microwave as a vector, not a scalar power reading.</a:t>
            </a:r>
          </a:p>
        </p:txBody>
      </p:sp>
      <p:sp>
        <p:nvSpPr>
          <p:cNvPr id="37" name="TextBox 36"/>
          <p:cNvSpPr txBox="1"/>
          <p:nvPr/>
        </p:nvSpPr>
        <p:spPr>
          <a:xfrm>
            <a:off x="457200" y="6236208"/>
            <a:ext cx="2286000" cy="146194"/>
          </a:xfrm>
          <a:prstGeom prst="rect">
            <a:avLst/>
          </a:prstGeom>
          <a:noFill/>
        </p:spPr>
        <p:txBody>
          <a:bodyPr wrap="square" lIns="45720" tIns="27432" rIns="45720" bIns="18288">
            <a:spAutoFit/>
          </a:bodyPr>
          <a:lstStyle/>
          <a:p>
            <a:pPr algn="l">
              <a:defRPr sz="650" b="0">
                <a:solidFill>
                  <a:srgbClr val="657381"/>
                </a:solidFill>
                <a:latin typeface="Aptos"/>
              </a:defRPr>
            </a:pPr>
            <a:r>
              <a:rPr dirty="0"/>
              <a:t>Rydberg sensing | Conference</a:t>
            </a:r>
          </a:p>
        </p:txBody>
      </p:sp>
    </p:spTree>
    <p:extLst>
      <p:ext uri="{BB962C8B-B14F-4D97-AF65-F5344CB8AC3E}">
        <p14:creationId xmlns:p14="http://schemas.microsoft.com/office/powerpoint/2010/main" val="14727697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1"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grpId="1"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grpId="1"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1"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1"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1"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1"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par>
                                <p:cTn id="27" presetID="1" presetClass="entr" presetSubtype="0" fill="hold" grpId="1"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grpId="1" nodeType="with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par>
                                <p:cTn id="31" presetID="1" presetClass="entr" presetSubtype="0" fill="hold" grpId="1" nodeType="with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par>
                                <p:cTn id="33" presetID="1" presetClass="entr" presetSubtype="0" fill="hold" grpId="1" nodeType="with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1"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par>
                                <p:cTn id="39" presetID="1" presetClass="entr" presetSubtype="0" fill="hold" grpId="1" nodeType="with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par>
                                <p:cTn id="41" presetID="1" presetClass="entr" presetSubtype="0" fill="hold" grpId="1" nodeType="withEffect">
                                  <p:stCondLst>
                                    <p:cond delay="0"/>
                                  </p:stCondLst>
                                  <p:childTnLst>
                                    <p:set>
                                      <p:cBhvr>
                                        <p:cTn id="42" dur="1" fill="hold">
                                          <p:stCondLst>
                                            <p:cond delay="0"/>
                                          </p:stCondLst>
                                        </p:cTn>
                                        <p:tgtEl>
                                          <p:spTgt spid="35"/>
                                        </p:tgtEl>
                                        <p:attrNameLst>
                                          <p:attrName>style.visibility</p:attrName>
                                        </p:attrNameLst>
                                      </p:cBhvr>
                                      <p:to>
                                        <p:strVal val="visible"/>
                                      </p:to>
                                    </p:set>
                                  </p:childTnLst>
                                </p:cTn>
                              </p:par>
                              <p:par>
                                <p:cTn id="43" presetID="1" presetClass="entr" presetSubtype="0" fill="hold" grpId="1" nodeType="withEffect">
                                  <p:stCondLst>
                                    <p:cond delay="0"/>
                                  </p:stCondLst>
                                  <p:childTnLst>
                                    <p:set>
                                      <p:cBhvr>
                                        <p:cTn id="44"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9" grpId="1"/>
      <p:bldP spid="10" grpId="0" animBg="1"/>
      <p:bldP spid="10" grpId="1"/>
      <p:bldP spid="11" grpId="0" animBg="1"/>
      <p:bldP spid="12" grpId="0" animBg="1"/>
      <p:bldP spid="12" grpId="1"/>
      <p:bldP spid="13" grpId="0" animBg="1"/>
      <p:bldP spid="13" grpId="1"/>
      <p:bldP spid="14" grpId="0" animBg="1"/>
      <p:bldP spid="14" grpId="1" animBg="1"/>
      <p:bldP spid="15" grpId="0" animBg="1"/>
      <p:bldP spid="15" grpId="1"/>
      <p:bldP spid="20" grpId="0" animBg="1"/>
      <p:bldP spid="21" grpId="0" animBg="1"/>
      <p:bldP spid="22" grpId="0" animBg="1"/>
      <p:bldP spid="23" grpId="0" animBg="1"/>
      <p:bldP spid="24" grpId="0" animBg="1"/>
      <p:bldP spid="25" grpId="0" animBg="1"/>
      <p:bldP spid="25" grpId="1" animBg="1"/>
      <p:bldP spid="26" grpId="0" animBg="1"/>
      <p:bldP spid="26" grpId="1" animBg="1"/>
      <p:bldP spid="27" grpId="0" animBg="1"/>
      <p:bldP spid="27" grpId="1"/>
      <p:bldP spid="28" grpId="0" animBg="1"/>
      <p:bldP spid="28" grpId="1"/>
      <p:bldP spid="29" grpId="0" animBg="1"/>
      <p:bldP spid="29" grpId="1"/>
      <p:bldP spid="30" grpId="0" animBg="1"/>
      <p:bldP spid="30" grpId="1" animBg="1"/>
      <p:bldP spid="31" grpId="0" animBg="1"/>
      <p:bldP spid="31" grpId="1" animBg="1"/>
      <p:bldP spid="32" grpId="0" animBg="1"/>
      <p:bldP spid="32" grpId="1"/>
      <p:bldP spid="33" grpId="0" animBg="1"/>
      <p:bldP spid="33" grpId="1"/>
      <p:bldP spid="34" grpId="0" animBg="1"/>
      <p:bldP spid="34" grpId="1"/>
      <p:bldP spid="35" grpId="0" animBg="1"/>
      <p:bldP spid="35" grpId="1" animBg="1"/>
      <p:bldP spid="36" grpId="0" animBg="1"/>
      <p:bldP spid="36" grpId="1"/>
      <p:bldP spid="3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4F9FB"/>
        </a:solidFill>
        <a:effectLst/>
      </p:bgPr>
    </p:bg>
    <p:spTree>
      <p:nvGrpSpPr>
        <p:cNvPr id="1" name=""/>
        <p:cNvGrpSpPr/>
        <p:nvPr/>
      </p:nvGrpSpPr>
      <p:grpSpPr>
        <a:xfrm>
          <a:off x="0" y="0"/>
          <a:ext cx="0" cy="0"/>
          <a:chOff x="0" y="0"/>
          <a:chExt cx="0" cy="0"/>
        </a:xfrm>
      </p:grpSpPr>
      <p:sp>
        <p:nvSpPr>
          <p:cNvPr id="2" name="TextBox 1"/>
          <p:cNvSpPr txBox="1"/>
          <p:nvPr/>
        </p:nvSpPr>
        <p:spPr>
          <a:xfrm>
            <a:off x="502920" y="347472"/>
            <a:ext cx="11064240" cy="438912"/>
          </a:xfrm>
          <a:prstGeom prst="rect">
            <a:avLst/>
          </a:prstGeom>
          <a:noFill/>
        </p:spPr>
        <p:txBody>
          <a:bodyPr wrap="square" lIns="18288" tIns="18288" rIns="18288" bIns="18288" anchor="ctr">
            <a:spAutoFit/>
          </a:bodyPr>
          <a:lstStyle/>
          <a:p>
            <a:pPr algn="l"/>
            <a:r>
              <a:rPr sz="2700" b="1" i="0">
                <a:solidFill>
                  <a:srgbClr val="182235"/>
                </a:solidFill>
                <a:latin typeface="Arial"/>
              </a:rPr>
              <a:t>Thesis aim: recover unknown microwave polarisation</a:t>
            </a:r>
          </a:p>
        </p:txBody>
      </p:sp>
      <p:sp>
        <p:nvSpPr>
          <p:cNvPr id="3" name="TextBox 2"/>
          <p:cNvSpPr txBox="1"/>
          <p:nvPr/>
        </p:nvSpPr>
        <p:spPr>
          <a:xfrm>
            <a:off x="521207" y="822960"/>
            <a:ext cx="10789920" cy="274320"/>
          </a:xfrm>
          <a:prstGeom prst="rect">
            <a:avLst/>
          </a:prstGeom>
          <a:noFill/>
        </p:spPr>
        <p:txBody>
          <a:bodyPr wrap="square" lIns="18288" tIns="18288" rIns="18288" bIns="18288" anchor="ctr">
            <a:spAutoFit/>
          </a:bodyPr>
          <a:lstStyle/>
          <a:p>
            <a:pPr algn="l"/>
            <a:r>
              <a:rPr sz="1150" b="0" i="0">
                <a:solidFill>
                  <a:srgbClr val="667589"/>
                </a:solidFill>
                <a:latin typeface="Arial"/>
              </a:rPr>
              <a:t>Turn a scalar RF readout into a calibrated vector measurement.</a:t>
            </a:r>
          </a:p>
        </p:txBody>
      </p:sp>
      <p:sp>
        <p:nvSpPr>
          <p:cNvPr id="4" name="Rectangle 3"/>
          <p:cNvSpPr/>
          <p:nvPr/>
        </p:nvSpPr>
        <p:spPr>
          <a:xfrm>
            <a:off x="502920" y="1133856"/>
            <a:ext cx="2788920" cy="41148"/>
          </a:xfrm>
          <a:prstGeom prst="rect">
            <a:avLst/>
          </a:prstGeom>
          <a:solidFill>
            <a:srgbClr val="159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21207" y="6519672"/>
            <a:ext cx="3657600" cy="146304"/>
          </a:xfrm>
          <a:prstGeom prst="rect">
            <a:avLst/>
          </a:prstGeom>
          <a:noFill/>
        </p:spPr>
        <p:txBody>
          <a:bodyPr wrap="square" lIns="18288" tIns="18288" rIns="18288" bIns="18288" anchor="ctr">
            <a:spAutoFit/>
          </a:bodyPr>
          <a:lstStyle/>
          <a:p>
            <a:pPr algn="l"/>
            <a:r>
              <a:rPr sz="720" b="0" i="0" dirty="0">
                <a:solidFill>
                  <a:srgbClr val="667589"/>
                </a:solidFill>
                <a:latin typeface="Arial"/>
              </a:rPr>
              <a:t>Rydberg sensing | Conference</a:t>
            </a:r>
          </a:p>
        </p:txBody>
      </p:sp>
      <p:sp>
        <p:nvSpPr>
          <p:cNvPr id="6" name="TextBox 5"/>
          <p:cNvSpPr txBox="1"/>
          <p:nvPr/>
        </p:nvSpPr>
        <p:spPr>
          <a:xfrm>
            <a:off x="11686032" y="6519672"/>
            <a:ext cx="228600" cy="146304"/>
          </a:xfrm>
          <a:prstGeom prst="rect">
            <a:avLst/>
          </a:prstGeom>
          <a:noFill/>
        </p:spPr>
        <p:txBody>
          <a:bodyPr wrap="square" lIns="18288" tIns="18288" rIns="18288" bIns="18288" anchor="ctr">
            <a:spAutoFit/>
          </a:bodyPr>
          <a:lstStyle/>
          <a:p>
            <a:pPr algn="r"/>
            <a:r>
              <a:rPr sz="720" b="0" i="0">
                <a:solidFill>
                  <a:srgbClr val="667589"/>
                </a:solidFill>
                <a:latin typeface="Arial"/>
              </a:rPr>
              <a:t>4</a:t>
            </a:r>
          </a:p>
        </p:txBody>
      </p:sp>
      <p:sp>
        <p:nvSpPr>
          <p:cNvPr id="7" name="Rounded Rectangle 6"/>
          <p:cNvSpPr/>
          <p:nvPr/>
        </p:nvSpPr>
        <p:spPr>
          <a:xfrm>
            <a:off x="502920" y="1600200"/>
            <a:ext cx="1783080" cy="1024128"/>
          </a:xfrm>
          <a:prstGeom prst="roundRect">
            <a:avLst/>
          </a:prstGeom>
          <a:solidFill>
            <a:srgbClr val="FDEFF7"/>
          </a:solidFill>
          <a:ln w="13970">
            <a:solidFill>
              <a:srgbClr val="C2D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 y="1737360"/>
            <a:ext cx="1545336" cy="402336"/>
          </a:xfrm>
          <a:prstGeom prst="rect">
            <a:avLst/>
          </a:prstGeom>
          <a:noFill/>
        </p:spPr>
        <p:txBody>
          <a:bodyPr wrap="square" lIns="18288" tIns="18288" rIns="18288" bIns="18288" anchor="ctr">
            <a:spAutoFit/>
          </a:bodyPr>
          <a:lstStyle/>
          <a:p>
            <a:pPr algn="ctr"/>
            <a:r>
              <a:rPr sz="1500" b="1" i="0">
                <a:solidFill>
                  <a:srgbClr val="C61E78"/>
                </a:solidFill>
                <a:latin typeface="Arial"/>
              </a:rPr>
              <a:t>Unknown RF
polarisation</a:t>
            </a:r>
          </a:p>
        </p:txBody>
      </p:sp>
      <p:sp>
        <p:nvSpPr>
          <p:cNvPr id="9" name="TextBox 8"/>
          <p:cNvSpPr txBox="1"/>
          <p:nvPr/>
        </p:nvSpPr>
        <p:spPr>
          <a:xfrm>
            <a:off x="612648" y="2221992"/>
            <a:ext cx="1563624" cy="201168"/>
          </a:xfrm>
          <a:prstGeom prst="rect">
            <a:avLst/>
          </a:prstGeom>
          <a:noFill/>
        </p:spPr>
        <p:txBody>
          <a:bodyPr wrap="square" lIns="18288" tIns="18288" rIns="18288" bIns="18288" anchor="ctr">
            <a:spAutoFit/>
          </a:bodyPr>
          <a:lstStyle/>
          <a:p>
            <a:pPr algn="ctr"/>
            <a:r>
              <a:rPr sz="940" b="1" i="0">
                <a:solidFill>
                  <a:srgbClr val="182235"/>
                </a:solidFill>
                <a:latin typeface="Arial"/>
              </a:rPr>
              <a:t>state</a:t>
            </a:r>
          </a:p>
        </p:txBody>
      </p:sp>
      <p:sp>
        <p:nvSpPr>
          <p:cNvPr id="10" name="Chevron 9"/>
          <p:cNvSpPr/>
          <p:nvPr/>
        </p:nvSpPr>
        <p:spPr>
          <a:xfrm>
            <a:off x="2350008" y="1947672"/>
            <a:ext cx="393192" cy="320040"/>
          </a:xfrm>
          <a:prstGeom prst="chevron">
            <a:avLst/>
          </a:prstGeom>
          <a:solidFill>
            <a:srgbClr val="8F9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2852928" y="1600200"/>
            <a:ext cx="1783080" cy="1024128"/>
          </a:xfrm>
          <a:prstGeom prst="roundRect">
            <a:avLst/>
          </a:prstGeom>
          <a:solidFill>
            <a:srgbClr val="EBF8F9"/>
          </a:solidFill>
          <a:ln w="13970">
            <a:solidFill>
              <a:srgbClr val="C2D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971800" y="1737360"/>
            <a:ext cx="1545336" cy="402336"/>
          </a:xfrm>
          <a:prstGeom prst="rect">
            <a:avLst/>
          </a:prstGeom>
          <a:noFill/>
        </p:spPr>
        <p:txBody>
          <a:bodyPr wrap="square" lIns="18288" tIns="18288" rIns="18288" bIns="18288" anchor="ctr">
            <a:spAutoFit/>
          </a:bodyPr>
          <a:lstStyle/>
          <a:p>
            <a:pPr algn="ctr"/>
            <a:r>
              <a:rPr sz="1500" b="1" i="0">
                <a:solidFill>
                  <a:srgbClr val="159EAA"/>
                </a:solidFill>
                <a:latin typeface="Arial"/>
              </a:rPr>
              <a:t>Calibrated
projections</a:t>
            </a:r>
          </a:p>
        </p:txBody>
      </p:sp>
      <p:sp>
        <p:nvSpPr>
          <p:cNvPr id="13" name="TextBox 12"/>
          <p:cNvSpPr txBox="1"/>
          <p:nvPr/>
        </p:nvSpPr>
        <p:spPr>
          <a:xfrm>
            <a:off x="2962656" y="2221992"/>
            <a:ext cx="1563624" cy="201168"/>
          </a:xfrm>
          <a:prstGeom prst="rect">
            <a:avLst/>
          </a:prstGeom>
          <a:noFill/>
        </p:spPr>
        <p:txBody>
          <a:bodyPr wrap="square" lIns="18288" tIns="18288" rIns="18288" bIns="18288" anchor="ctr">
            <a:spAutoFit/>
          </a:bodyPr>
          <a:lstStyle/>
          <a:p>
            <a:pPr algn="ctr"/>
            <a:r>
              <a:rPr sz="940" b="1" i="0">
                <a:solidFill>
                  <a:srgbClr val="182235"/>
                </a:solidFill>
                <a:latin typeface="Arial"/>
              </a:rPr>
              <a:t>H/V • D/A • R/L</a:t>
            </a:r>
          </a:p>
        </p:txBody>
      </p:sp>
      <p:sp>
        <p:nvSpPr>
          <p:cNvPr id="14" name="Chevron 13"/>
          <p:cNvSpPr/>
          <p:nvPr/>
        </p:nvSpPr>
        <p:spPr>
          <a:xfrm>
            <a:off x="4700016" y="1947672"/>
            <a:ext cx="393192" cy="320040"/>
          </a:xfrm>
          <a:prstGeom prst="chevron">
            <a:avLst/>
          </a:prstGeom>
          <a:solidFill>
            <a:srgbClr val="8F9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5202936" y="1600200"/>
            <a:ext cx="1783080" cy="1024128"/>
          </a:xfrm>
          <a:prstGeom prst="roundRect">
            <a:avLst/>
          </a:prstGeom>
          <a:solidFill>
            <a:srgbClr val="FDEFF7"/>
          </a:solidFill>
          <a:ln w="13970">
            <a:solidFill>
              <a:srgbClr val="C2D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321808" y="1737360"/>
            <a:ext cx="1545336" cy="402336"/>
          </a:xfrm>
          <a:prstGeom prst="rect">
            <a:avLst/>
          </a:prstGeom>
          <a:noFill/>
        </p:spPr>
        <p:txBody>
          <a:bodyPr wrap="square" lIns="18288" tIns="18288" rIns="18288" bIns="18288" anchor="ctr">
            <a:spAutoFit/>
          </a:bodyPr>
          <a:lstStyle/>
          <a:p>
            <a:pPr algn="ctr"/>
            <a:r>
              <a:rPr sz="1500" b="1" i="0">
                <a:solidFill>
                  <a:srgbClr val="C61E78"/>
                </a:solidFill>
                <a:latin typeface="Arial"/>
              </a:rPr>
              <a:t>Atomic
readout</a:t>
            </a:r>
          </a:p>
        </p:txBody>
      </p:sp>
      <p:sp>
        <p:nvSpPr>
          <p:cNvPr id="17" name="TextBox 16"/>
          <p:cNvSpPr txBox="1"/>
          <p:nvPr/>
        </p:nvSpPr>
        <p:spPr>
          <a:xfrm>
            <a:off x="5312664" y="2221992"/>
            <a:ext cx="1563624" cy="201168"/>
          </a:xfrm>
          <a:prstGeom prst="rect">
            <a:avLst/>
          </a:prstGeom>
          <a:noFill/>
        </p:spPr>
        <p:txBody>
          <a:bodyPr wrap="square" lIns="18288" tIns="18288" rIns="18288" bIns="18288" anchor="ctr">
            <a:spAutoFit/>
          </a:bodyPr>
          <a:lstStyle/>
          <a:p>
            <a:pPr algn="ctr"/>
            <a:r>
              <a:rPr sz="940" b="1" i="0">
                <a:solidFill>
                  <a:srgbClr val="182235"/>
                </a:solidFill>
                <a:latin typeface="Arial"/>
              </a:rPr>
              <a:t>EIT / AT response</a:t>
            </a:r>
          </a:p>
        </p:txBody>
      </p:sp>
      <p:sp>
        <p:nvSpPr>
          <p:cNvPr id="18" name="Chevron 17"/>
          <p:cNvSpPr/>
          <p:nvPr/>
        </p:nvSpPr>
        <p:spPr>
          <a:xfrm>
            <a:off x="7050024" y="1947672"/>
            <a:ext cx="393192" cy="320040"/>
          </a:xfrm>
          <a:prstGeom prst="chevron">
            <a:avLst/>
          </a:prstGeom>
          <a:solidFill>
            <a:srgbClr val="8F9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7552944" y="1600200"/>
            <a:ext cx="1783080" cy="1024128"/>
          </a:xfrm>
          <a:prstGeom prst="roundRect">
            <a:avLst/>
          </a:prstGeom>
          <a:solidFill>
            <a:srgbClr val="EBF8F9"/>
          </a:solidFill>
          <a:ln w="13970">
            <a:solidFill>
              <a:srgbClr val="C2D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671816" y="1737360"/>
            <a:ext cx="1545336" cy="402336"/>
          </a:xfrm>
          <a:prstGeom prst="rect">
            <a:avLst/>
          </a:prstGeom>
          <a:noFill/>
        </p:spPr>
        <p:txBody>
          <a:bodyPr wrap="square" lIns="18288" tIns="18288" rIns="18288" bIns="18288" anchor="ctr">
            <a:spAutoFit/>
          </a:bodyPr>
          <a:lstStyle/>
          <a:p>
            <a:pPr algn="ctr"/>
            <a:r>
              <a:rPr sz="1500" b="1" i="0">
                <a:solidFill>
                  <a:srgbClr val="159EAA"/>
                </a:solidFill>
                <a:latin typeface="Arial"/>
              </a:rPr>
              <a:t>Calibrated
inversion</a:t>
            </a:r>
          </a:p>
        </p:txBody>
      </p:sp>
      <p:sp>
        <p:nvSpPr>
          <p:cNvPr id="21" name="TextBox 20"/>
          <p:cNvSpPr txBox="1"/>
          <p:nvPr/>
        </p:nvSpPr>
        <p:spPr>
          <a:xfrm>
            <a:off x="7662671" y="2221992"/>
            <a:ext cx="1563624" cy="201168"/>
          </a:xfrm>
          <a:prstGeom prst="rect">
            <a:avLst/>
          </a:prstGeom>
          <a:noFill/>
        </p:spPr>
        <p:txBody>
          <a:bodyPr wrap="square" lIns="18288" tIns="18288" rIns="18288" bIns="18288" anchor="ctr">
            <a:spAutoFit/>
          </a:bodyPr>
          <a:lstStyle/>
          <a:p>
            <a:pPr algn="ctr"/>
            <a:r>
              <a:rPr sz="940" b="1" i="0">
                <a:solidFill>
                  <a:srgbClr val="182235"/>
                </a:solidFill>
                <a:latin typeface="Arial"/>
              </a:rPr>
              <a:t>matrix + uncertainty</a:t>
            </a:r>
          </a:p>
        </p:txBody>
      </p:sp>
      <p:sp>
        <p:nvSpPr>
          <p:cNvPr id="22" name="Chevron 21"/>
          <p:cNvSpPr/>
          <p:nvPr/>
        </p:nvSpPr>
        <p:spPr>
          <a:xfrm>
            <a:off x="9400032" y="1947672"/>
            <a:ext cx="393192" cy="320040"/>
          </a:xfrm>
          <a:prstGeom prst="chevron">
            <a:avLst/>
          </a:prstGeom>
          <a:solidFill>
            <a:srgbClr val="8F9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9902952" y="1600200"/>
            <a:ext cx="1783080" cy="1024128"/>
          </a:xfrm>
          <a:prstGeom prst="roundRect">
            <a:avLst/>
          </a:prstGeom>
          <a:solidFill>
            <a:srgbClr val="FDEFF7"/>
          </a:solidFill>
          <a:ln w="13970">
            <a:solidFill>
              <a:srgbClr val="C2D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021824" y="1737360"/>
            <a:ext cx="1545336" cy="402336"/>
          </a:xfrm>
          <a:prstGeom prst="rect">
            <a:avLst/>
          </a:prstGeom>
          <a:noFill/>
        </p:spPr>
        <p:txBody>
          <a:bodyPr wrap="square" lIns="18288" tIns="18288" rIns="18288" bIns="18288" anchor="ctr">
            <a:spAutoFit/>
          </a:bodyPr>
          <a:lstStyle/>
          <a:p>
            <a:pPr algn="ctr"/>
            <a:r>
              <a:rPr sz="1500" b="1" i="0">
                <a:solidFill>
                  <a:srgbClr val="C61E78"/>
                </a:solidFill>
                <a:latin typeface="Arial"/>
              </a:rPr>
              <a:t>Stokes
estimate</a:t>
            </a:r>
          </a:p>
        </p:txBody>
      </p:sp>
      <p:sp>
        <p:nvSpPr>
          <p:cNvPr id="25" name="TextBox 24"/>
          <p:cNvSpPr txBox="1"/>
          <p:nvPr/>
        </p:nvSpPr>
        <p:spPr>
          <a:xfrm>
            <a:off x="10012680" y="2221992"/>
            <a:ext cx="1563624" cy="201168"/>
          </a:xfrm>
          <a:prstGeom prst="rect">
            <a:avLst/>
          </a:prstGeom>
          <a:noFill/>
        </p:spPr>
        <p:txBody>
          <a:bodyPr wrap="square" lIns="18288" tIns="18288" rIns="18288" bIns="18288" anchor="ctr">
            <a:spAutoFit/>
          </a:bodyPr>
          <a:lstStyle/>
          <a:p>
            <a:pPr algn="ctr"/>
            <a:r>
              <a:rPr sz="940" b="1" i="0">
                <a:solidFill>
                  <a:srgbClr val="182235"/>
                </a:solidFill>
                <a:latin typeface="Arial"/>
              </a:rPr>
              <a:t>ŝ = [s₁, s₂, s₃]</a:t>
            </a:r>
          </a:p>
        </p:txBody>
      </p:sp>
      <p:sp>
        <p:nvSpPr>
          <p:cNvPr id="26" name="Rounded Rectangle 25"/>
          <p:cNvSpPr/>
          <p:nvPr/>
        </p:nvSpPr>
        <p:spPr>
          <a:xfrm>
            <a:off x="960120" y="3035808"/>
            <a:ext cx="10241280" cy="658368"/>
          </a:xfrm>
          <a:prstGeom prst="roundRect">
            <a:avLst/>
          </a:prstGeom>
          <a:solidFill>
            <a:srgbClr val="FFFFFF"/>
          </a:solidFill>
          <a:ln w="17780">
            <a:solidFill>
              <a:srgbClr val="159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207008" y="3227832"/>
            <a:ext cx="237744" cy="237744"/>
          </a:xfrm>
          <a:prstGeom prst="ellipse">
            <a:avLst/>
          </a:prstGeom>
          <a:solidFill>
            <a:srgbClr val="159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581912" y="3182112"/>
            <a:ext cx="1417320" cy="237744"/>
          </a:xfrm>
          <a:prstGeom prst="rect">
            <a:avLst/>
          </a:prstGeom>
          <a:noFill/>
        </p:spPr>
        <p:txBody>
          <a:bodyPr wrap="square" lIns="18288" tIns="18288" rIns="18288" bIns="18288" anchor="ctr">
            <a:spAutoFit/>
          </a:bodyPr>
          <a:lstStyle/>
          <a:p>
            <a:pPr algn="l"/>
            <a:r>
              <a:rPr sz="1000" b="1" i="0">
                <a:solidFill>
                  <a:srgbClr val="159EAA"/>
                </a:solidFill>
                <a:latin typeface="Arial"/>
              </a:rPr>
              <a:t>Key contribution</a:t>
            </a:r>
          </a:p>
        </p:txBody>
      </p:sp>
      <p:sp>
        <p:nvSpPr>
          <p:cNvPr id="29" name="TextBox 28"/>
          <p:cNvSpPr txBox="1"/>
          <p:nvPr/>
        </p:nvSpPr>
        <p:spPr>
          <a:xfrm>
            <a:off x="2761488" y="3136392"/>
            <a:ext cx="8065008" cy="320040"/>
          </a:xfrm>
          <a:prstGeom prst="rect">
            <a:avLst/>
          </a:prstGeom>
          <a:noFill/>
        </p:spPr>
        <p:txBody>
          <a:bodyPr wrap="square" lIns="18288" tIns="18288" rIns="18288" bIns="18288" anchor="ctr">
            <a:spAutoFit/>
          </a:bodyPr>
          <a:lstStyle/>
          <a:p>
            <a:pPr algn="l"/>
            <a:r>
              <a:rPr sz="1400" b="1" i="0">
                <a:solidFill>
                  <a:srgbClr val="182235"/>
                </a:solidFill>
                <a:latin typeface="Arial"/>
              </a:rPr>
              <a:t>calibrated RF projections + atomic optical readout → microwave Stokes estimate with explicit validation limits.</a:t>
            </a:r>
          </a:p>
        </p:txBody>
      </p:sp>
      <p:sp>
        <p:nvSpPr>
          <p:cNvPr id="30" name="Rounded Rectangle 29"/>
          <p:cNvSpPr/>
          <p:nvPr/>
        </p:nvSpPr>
        <p:spPr>
          <a:xfrm>
            <a:off x="685800" y="4251960"/>
            <a:ext cx="3246120" cy="1234440"/>
          </a:xfrm>
          <a:prstGeom prst="roundRect">
            <a:avLst/>
          </a:prstGeom>
          <a:solidFill>
            <a:srgbClr val="FFFFFF"/>
          </a:solidFill>
          <a:ln w="13970">
            <a:solidFill>
              <a:srgbClr val="CFDB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60120" y="4462272"/>
            <a:ext cx="2651760" cy="228600"/>
          </a:xfrm>
          <a:prstGeom prst="rect">
            <a:avLst/>
          </a:prstGeom>
          <a:noFill/>
        </p:spPr>
        <p:txBody>
          <a:bodyPr wrap="square" lIns="18288" tIns="18288" rIns="18288" bIns="18288" anchor="ctr">
            <a:spAutoFit/>
          </a:bodyPr>
          <a:lstStyle/>
          <a:p>
            <a:pPr algn="l"/>
            <a:r>
              <a:rPr sz="1300" b="1" i="0">
                <a:solidFill>
                  <a:srgbClr val="159EAA"/>
                </a:solidFill>
                <a:latin typeface="Arial"/>
              </a:rPr>
              <a:t>Measured now</a:t>
            </a:r>
          </a:p>
        </p:txBody>
      </p:sp>
      <p:sp>
        <p:nvSpPr>
          <p:cNvPr id="33" name="TextBox 32"/>
          <p:cNvSpPr txBox="1"/>
          <p:nvPr/>
        </p:nvSpPr>
        <p:spPr>
          <a:xfrm>
            <a:off x="960120" y="4800600"/>
            <a:ext cx="2697480" cy="502920"/>
          </a:xfrm>
          <a:prstGeom prst="rect">
            <a:avLst/>
          </a:prstGeom>
          <a:noFill/>
        </p:spPr>
        <p:txBody>
          <a:bodyPr wrap="square" lIns="18288" tIns="18288" rIns="18288" bIns="18288" anchor="t">
            <a:spAutoFit/>
          </a:bodyPr>
          <a:lstStyle/>
          <a:p>
            <a:pPr algn="l"/>
            <a:r>
              <a:rPr sz="1070" b="0" i="0">
                <a:solidFill>
                  <a:srgbClr val="182235"/>
                </a:solidFill>
                <a:latin typeface="Arial"/>
              </a:rPr>
              <a:t>Linear-polarisation response survives the RF/atomic readout chain.</a:t>
            </a:r>
          </a:p>
        </p:txBody>
      </p:sp>
      <p:sp>
        <p:nvSpPr>
          <p:cNvPr id="34" name="Rounded Rectangle 33"/>
          <p:cNvSpPr/>
          <p:nvPr/>
        </p:nvSpPr>
        <p:spPr>
          <a:xfrm>
            <a:off x="4434840" y="4251960"/>
            <a:ext cx="3246120" cy="1234440"/>
          </a:xfrm>
          <a:prstGeom prst="roundRect">
            <a:avLst/>
          </a:prstGeom>
          <a:solidFill>
            <a:srgbClr val="FFFFFF"/>
          </a:solidFill>
          <a:ln w="13970">
            <a:solidFill>
              <a:srgbClr val="CFDB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709159" y="4462272"/>
            <a:ext cx="2651760" cy="228600"/>
          </a:xfrm>
          <a:prstGeom prst="rect">
            <a:avLst/>
          </a:prstGeom>
          <a:noFill/>
        </p:spPr>
        <p:txBody>
          <a:bodyPr wrap="square" lIns="18288" tIns="18288" rIns="18288" bIns="18288" anchor="ctr">
            <a:spAutoFit/>
          </a:bodyPr>
          <a:lstStyle/>
          <a:p>
            <a:pPr algn="l"/>
            <a:r>
              <a:rPr sz="1300" b="1" i="0">
                <a:solidFill>
                  <a:srgbClr val="C61E78"/>
                </a:solidFill>
                <a:latin typeface="Arial"/>
              </a:rPr>
              <a:t>Inference gap</a:t>
            </a:r>
          </a:p>
        </p:txBody>
      </p:sp>
      <p:sp>
        <p:nvSpPr>
          <p:cNvPr id="37" name="TextBox 36"/>
          <p:cNvSpPr txBox="1"/>
          <p:nvPr/>
        </p:nvSpPr>
        <p:spPr>
          <a:xfrm>
            <a:off x="4709159" y="4800600"/>
            <a:ext cx="2697480" cy="502920"/>
          </a:xfrm>
          <a:prstGeom prst="rect">
            <a:avLst/>
          </a:prstGeom>
          <a:noFill/>
        </p:spPr>
        <p:txBody>
          <a:bodyPr wrap="square" lIns="18288" tIns="18288" rIns="18288" bIns="18288" anchor="t">
            <a:spAutoFit/>
          </a:bodyPr>
          <a:lstStyle/>
          <a:p>
            <a:pPr algn="l"/>
            <a:r>
              <a:rPr sz="1070" b="0" i="0">
                <a:solidFill>
                  <a:srgbClr val="182235"/>
                </a:solidFill>
                <a:latin typeface="Arial"/>
              </a:rPr>
              <a:t>Linear states span the S₁/S₂ plane; S₃ is still unmeasured.</a:t>
            </a:r>
          </a:p>
        </p:txBody>
      </p:sp>
      <p:sp>
        <p:nvSpPr>
          <p:cNvPr id="38" name="Rounded Rectangle 37"/>
          <p:cNvSpPr/>
          <p:nvPr/>
        </p:nvSpPr>
        <p:spPr>
          <a:xfrm>
            <a:off x="8183879" y="4251960"/>
            <a:ext cx="3246120" cy="1234440"/>
          </a:xfrm>
          <a:prstGeom prst="roundRect">
            <a:avLst/>
          </a:prstGeom>
          <a:solidFill>
            <a:srgbClr val="FFFFFF"/>
          </a:solidFill>
          <a:ln w="13970">
            <a:solidFill>
              <a:srgbClr val="CFDB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458200" y="4462272"/>
            <a:ext cx="2651760" cy="228600"/>
          </a:xfrm>
          <a:prstGeom prst="rect">
            <a:avLst/>
          </a:prstGeom>
          <a:noFill/>
        </p:spPr>
        <p:txBody>
          <a:bodyPr wrap="square" lIns="18288" tIns="18288" rIns="18288" bIns="18288" anchor="ctr">
            <a:spAutoFit/>
          </a:bodyPr>
          <a:lstStyle/>
          <a:p>
            <a:pPr algn="l"/>
            <a:r>
              <a:rPr sz="1300" b="1" i="0">
                <a:solidFill>
                  <a:srgbClr val="F6A11A"/>
                </a:solidFill>
                <a:latin typeface="Arial"/>
              </a:rPr>
              <a:t>Why it matters</a:t>
            </a:r>
          </a:p>
        </p:txBody>
      </p:sp>
      <p:sp>
        <p:nvSpPr>
          <p:cNvPr id="41" name="TextBox 40"/>
          <p:cNvSpPr txBox="1"/>
          <p:nvPr/>
        </p:nvSpPr>
        <p:spPr>
          <a:xfrm>
            <a:off x="8458200" y="4800600"/>
            <a:ext cx="2697480" cy="502920"/>
          </a:xfrm>
          <a:prstGeom prst="rect">
            <a:avLst/>
          </a:prstGeom>
          <a:noFill/>
        </p:spPr>
        <p:txBody>
          <a:bodyPr wrap="square" lIns="18288" tIns="18288" rIns="18288" bIns="18288" anchor="t">
            <a:spAutoFit/>
          </a:bodyPr>
          <a:lstStyle/>
          <a:p>
            <a:pPr algn="l"/>
            <a:r>
              <a:rPr sz="1070" b="0" i="0">
                <a:solidFill>
                  <a:srgbClr val="182235"/>
                </a:solidFill>
                <a:latin typeface="Arial"/>
              </a:rPr>
              <a:t>Richer RF-state information for sensing, discrimination and validation.</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1"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par>
                                <p:cTn id="17" presetID="1" presetClass="entr" presetSubtype="0" fill="hold" grpId="1" nodeType="with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par>
                                <p:cTn id="19" presetID="1" presetClass="entr" presetSubtype="0" fill="hold" grpId="1" nodeType="with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par>
                                <p:cTn id="21" presetID="1" presetClass="entr" presetSubtype="0" fill="hold" grpId="1" nodeType="with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par>
                                <p:cTn id="23" presetID="1" presetClass="entr" presetSubtype="0" fill="hold" grpId="1"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grpId="1" nodeType="with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par>
                                <p:cTn id="27" presetID="1" presetClass="entr" presetSubtype="0" fill="hold" grpId="1" nodeType="with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par>
                                <p:cTn id="29" presetID="1" presetClass="entr" presetSubtype="0" fill="hold" grpId="1" nodeType="withEffect">
                                  <p:stCondLst>
                                    <p:cond delay="0"/>
                                  </p:stCondLst>
                                  <p:childTnLst>
                                    <p:set>
                                      <p:cBhvr>
                                        <p:cTn id="30" dur="1" fill="hold">
                                          <p:stCondLst>
                                            <p:cond delay="0"/>
                                          </p:stCondLst>
                                        </p:cTn>
                                        <p:tgtEl>
                                          <p:spTgt spid="40"/>
                                        </p:tgtEl>
                                        <p:attrNameLst>
                                          <p:attrName>style.visibility</p:attrName>
                                        </p:attrNameLst>
                                      </p:cBhvr>
                                      <p:to>
                                        <p:strVal val="visible"/>
                                      </p:to>
                                    </p:set>
                                  </p:childTnLst>
                                </p:cTn>
                              </p:par>
                              <p:par>
                                <p:cTn id="31" presetID="1" presetClass="entr" presetSubtype="0" fill="hold" grpId="1" nodeType="withEffect">
                                  <p:stCondLst>
                                    <p:cond delay="0"/>
                                  </p:stCondLst>
                                  <p:childTnLst>
                                    <p:set>
                                      <p:cBhvr>
                                        <p:cTn id="32"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6" grpId="1" animBg="1"/>
      <p:bldP spid="27" grpId="0" animBg="1"/>
      <p:bldP spid="27" grpId="1" animBg="1"/>
      <p:bldP spid="28" grpId="0" animBg="1"/>
      <p:bldP spid="28" grpId="1"/>
      <p:bldP spid="29" grpId="0" animBg="1"/>
      <p:bldP spid="29" grpId="1"/>
      <p:bldP spid="30" grpId="0" animBg="1"/>
      <p:bldP spid="30" grpId="1" animBg="1"/>
      <p:bldP spid="32" grpId="0" animBg="1"/>
      <p:bldP spid="32" grpId="1"/>
      <p:bldP spid="33" grpId="0" animBg="1"/>
      <p:bldP spid="33" grpId="1"/>
      <p:bldP spid="34" grpId="0" animBg="1"/>
      <p:bldP spid="34" grpId="1" animBg="1"/>
      <p:bldP spid="36" grpId="0" animBg="1"/>
      <p:bldP spid="36" grpId="1"/>
      <p:bldP spid="37" grpId="0" animBg="1"/>
      <p:bldP spid="37" grpId="1"/>
      <p:bldP spid="38" grpId="0" animBg="1"/>
      <p:bldP spid="38" grpId="1" animBg="1"/>
      <p:bldP spid="40" grpId="0" animBg="1"/>
      <p:bldP spid="40" grpId="1"/>
      <p:bldP spid="41" grpId="0" animBg="1"/>
      <p:bldP spid="41" grpId="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FF7FA"/>
        </a:solidFill>
        <a:effectLst/>
      </p:bgPr>
    </p:bg>
    <p:spTree>
      <p:nvGrpSpPr>
        <p:cNvPr id="1" name=""/>
        <p:cNvGrpSpPr/>
        <p:nvPr/>
      </p:nvGrpSpPr>
      <p:grpSpPr>
        <a:xfrm>
          <a:off x="0" y="0"/>
          <a:ext cx="0" cy="0"/>
          <a:chOff x="0" y="0"/>
          <a:chExt cx="0" cy="0"/>
        </a:xfrm>
      </p:grpSpPr>
      <p:sp>
        <p:nvSpPr>
          <p:cNvPr id="53" name="TextBox 52"/>
          <p:cNvSpPr txBox="1"/>
          <p:nvPr/>
        </p:nvSpPr>
        <p:spPr>
          <a:xfrm>
            <a:off x="502920" y="320040"/>
            <a:ext cx="9601200" cy="502920"/>
          </a:xfrm>
          <a:prstGeom prst="rect">
            <a:avLst/>
          </a:prstGeom>
          <a:noFill/>
        </p:spPr>
        <p:txBody>
          <a:bodyPr wrap="square" lIns="27432" tIns="18288" rIns="27432" bIns="18288">
            <a:spAutoFit/>
          </a:bodyPr>
          <a:lstStyle/>
          <a:p>
            <a:pPr algn="l"/>
            <a:r>
              <a:rPr sz="3100" b="1" i="0">
                <a:solidFill>
                  <a:srgbClr val="141E2D"/>
                </a:solidFill>
                <a:latin typeface="Aptos"/>
              </a:rPr>
              <a:t>Linear polarisation survives atomic readout</a:t>
            </a:r>
          </a:p>
        </p:txBody>
      </p:sp>
      <p:sp>
        <p:nvSpPr>
          <p:cNvPr id="54" name="TextBox 53"/>
          <p:cNvSpPr txBox="1"/>
          <p:nvPr/>
        </p:nvSpPr>
        <p:spPr>
          <a:xfrm>
            <a:off x="530352" y="786384"/>
            <a:ext cx="9509760" cy="256032"/>
          </a:xfrm>
          <a:prstGeom prst="rect">
            <a:avLst/>
          </a:prstGeom>
          <a:noFill/>
        </p:spPr>
        <p:txBody>
          <a:bodyPr wrap="square" lIns="27432" tIns="18288" rIns="27432" bIns="18288">
            <a:spAutoFit/>
          </a:bodyPr>
          <a:lstStyle/>
          <a:p>
            <a:pPr algn="l"/>
            <a:r>
              <a:rPr sz="1200" b="0" i="0">
                <a:solidFill>
                  <a:srgbClr val="5C6975"/>
                </a:solidFill>
                <a:latin typeface="Aptos"/>
              </a:rPr>
              <a:t>Measured linear states remain ordered through the RF/atomic chain.</a:t>
            </a:r>
          </a:p>
        </p:txBody>
      </p:sp>
      <p:sp>
        <p:nvSpPr>
          <p:cNvPr id="55" name="Rectangle 54"/>
          <p:cNvSpPr/>
          <p:nvPr/>
        </p:nvSpPr>
        <p:spPr>
          <a:xfrm>
            <a:off x="530352" y="1051560"/>
            <a:ext cx="2514600" cy="36576"/>
          </a:xfrm>
          <a:prstGeom prst="rect">
            <a:avLst/>
          </a:prstGeom>
          <a:solidFill>
            <a:srgbClr val="009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502920" y="6537960"/>
            <a:ext cx="11201400" cy="9144"/>
          </a:xfrm>
          <a:prstGeom prst="rect">
            <a:avLst/>
          </a:prstGeom>
          <a:solidFill>
            <a:srgbClr val="DCE6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530352" y="6565392"/>
            <a:ext cx="3657600" cy="137160"/>
          </a:xfrm>
          <a:prstGeom prst="rect">
            <a:avLst/>
          </a:prstGeom>
          <a:noFill/>
        </p:spPr>
        <p:txBody>
          <a:bodyPr wrap="square" lIns="27432" tIns="18288" rIns="27432" bIns="18288">
            <a:spAutoFit/>
          </a:bodyPr>
          <a:lstStyle/>
          <a:p>
            <a:pPr algn="l"/>
            <a:r>
              <a:rPr sz="650" b="0" i="0">
                <a:solidFill>
                  <a:srgbClr val="5C6975"/>
                </a:solidFill>
                <a:latin typeface="Aptos"/>
              </a:rPr>
              <a:t>Rydberg sensing | Conference</a:t>
            </a:r>
          </a:p>
        </p:txBody>
      </p:sp>
      <p:sp>
        <p:nvSpPr>
          <p:cNvPr id="58" name="TextBox 57"/>
          <p:cNvSpPr txBox="1"/>
          <p:nvPr/>
        </p:nvSpPr>
        <p:spPr>
          <a:xfrm>
            <a:off x="11567160" y="6565392"/>
            <a:ext cx="228600" cy="137160"/>
          </a:xfrm>
          <a:prstGeom prst="rect">
            <a:avLst/>
          </a:prstGeom>
          <a:noFill/>
        </p:spPr>
        <p:txBody>
          <a:bodyPr wrap="square" lIns="27432" tIns="18288" rIns="27432" bIns="18288">
            <a:spAutoFit/>
          </a:bodyPr>
          <a:lstStyle/>
          <a:p>
            <a:pPr algn="r"/>
            <a:r>
              <a:rPr sz="650" b="0" i="0">
                <a:solidFill>
                  <a:srgbClr val="5C6975"/>
                </a:solidFill>
                <a:latin typeface="Aptos"/>
              </a:rPr>
              <a:t>5</a:t>
            </a:r>
          </a:p>
        </p:txBody>
      </p:sp>
      <p:sp>
        <p:nvSpPr>
          <p:cNvPr id="59" name="Rounded Rectangle 58"/>
          <p:cNvSpPr/>
          <p:nvPr/>
        </p:nvSpPr>
        <p:spPr>
          <a:xfrm>
            <a:off x="502920" y="1325880"/>
            <a:ext cx="5623560" cy="4434840"/>
          </a:xfrm>
          <a:prstGeom prst="roundRect">
            <a:avLst/>
          </a:prstGeom>
          <a:solidFill>
            <a:srgbClr val="FFFFFF"/>
          </a:solidFill>
          <a:ln w="12700">
            <a:solidFill>
              <a:srgbClr val="CDDC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713232" y="1517904"/>
            <a:ext cx="310896" cy="310896"/>
          </a:xfrm>
          <a:prstGeom prst="ellipse">
            <a:avLst/>
          </a:prstGeom>
          <a:solidFill>
            <a:srgbClr val="009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713232" y="1563624"/>
            <a:ext cx="310896" cy="164592"/>
          </a:xfrm>
          <a:prstGeom prst="rect">
            <a:avLst/>
          </a:prstGeom>
          <a:noFill/>
        </p:spPr>
        <p:txBody>
          <a:bodyPr wrap="square" lIns="27432" tIns="18288" rIns="27432" bIns="18288">
            <a:spAutoFit/>
          </a:bodyPr>
          <a:lstStyle/>
          <a:p>
            <a:pPr algn="ctr"/>
            <a:r>
              <a:rPr sz="900" b="1" i="0">
                <a:solidFill>
                  <a:srgbClr val="FFFFFF"/>
                </a:solidFill>
                <a:latin typeface="Aptos"/>
              </a:rPr>
              <a:t>1</a:t>
            </a:r>
          </a:p>
        </p:txBody>
      </p:sp>
      <p:sp>
        <p:nvSpPr>
          <p:cNvPr id="62" name="TextBox 61"/>
          <p:cNvSpPr txBox="1"/>
          <p:nvPr/>
        </p:nvSpPr>
        <p:spPr>
          <a:xfrm>
            <a:off x="1097280" y="1499616"/>
            <a:ext cx="2651760" cy="329184"/>
          </a:xfrm>
          <a:prstGeom prst="rect">
            <a:avLst/>
          </a:prstGeom>
          <a:noFill/>
        </p:spPr>
        <p:txBody>
          <a:bodyPr wrap="square" lIns="27432" tIns="18288" rIns="27432" bIns="18288">
            <a:spAutoFit/>
          </a:bodyPr>
          <a:lstStyle/>
          <a:p>
            <a:pPr algn="l"/>
            <a:r>
              <a:rPr sz="1700" b="1" i="0">
                <a:solidFill>
                  <a:srgbClr val="009BA5"/>
                </a:solidFill>
                <a:latin typeface="Aptos"/>
              </a:rPr>
              <a:t>Measured response</a:t>
            </a:r>
          </a:p>
        </p:txBody>
      </p:sp>
      <p:pic>
        <p:nvPicPr>
          <p:cNvPr id="63" name="Picture 62" descr="image.png"/>
          <p:cNvPicPr>
            <a:picLocks noChangeAspect="1"/>
          </p:cNvPicPr>
          <p:nvPr/>
        </p:nvPicPr>
        <p:blipFill>
          <a:blip r:embed="rId3"/>
          <a:stretch>
            <a:fillRect/>
          </a:stretch>
        </p:blipFill>
        <p:spPr>
          <a:xfrm>
            <a:off x="868680" y="1865376"/>
            <a:ext cx="4800600" cy="2834640"/>
          </a:xfrm>
          <a:prstGeom prst="rect">
            <a:avLst/>
          </a:prstGeom>
        </p:spPr>
      </p:pic>
      <p:sp>
        <p:nvSpPr>
          <p:cNvPr id="64" name="Rounded Rectangle 63"/>
          <p:cNvSpPr/>
          <p:nvPr/>
        </p:nvSpPr>
        <p:spPr>
          <a:xfrm>
            <a:off x="960120" y="4956048"/>
            <a:ext cx="4754880" cy="512064"/>
          </a:xfrm>
          <a:prstGeom prst="roundRect">
            <a:avLst/>
          </a:prstGeom>
          <a:solidFill>
            <a:srgbClr val="E8F8FA"/>
          </a:solidFill>
          <a:ln w="12700">
            <a:solidFill>
              <a:srgbClr val="009B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1097280" y="5074920"/>
            <a:ext cx="4480560" cy="201168"/>
          </a:xfrm>
          <a:prstGeom prst="rect">
            <a:avLst/>
          </a:prstGeom>
          <a:noFill/>
        </p:spPr>
        <p:txBody>
          <a:bodyPr wrap="square" lIns="36576" tIns="18288" rIns="36576" bIns="18288">
            <a:spAutoFit/>
          </a:bodyPr>
          <a:lstStyle/>
          <a:p>
            <a:pPr algn="ctr"/>
            <a:r>
              <a:rPr sz="1050" b="1">
                <a:solidFill>
                  <a:srgbClr val="141E2D"/>
                </a:solidFill>
                <a:latin typeface="Aptos"/>
              </a:rPr>
              <a:t>Pass/reject separation: </a:t>
            </a:r>
            <a:r>
              <a:rPr sz="1050" b="1">
                <a:solidFill>
                  <a:srgbClr val="CA007A"/>
                </a:solidFill>
                <a:latin typeface="Aptos"/>
              </a:rPr>
              <a:t>9.7 dB</a:t>
            </a:r>
            <a:r>
              <a:rPr sz="1050" b="0">
                <a:solidFill>
                  <a:srgbClr val="141E2D"/>
                </a:solidFill>
                <a:latin typeface="Aptos"/>
              </a:rPr>
              <a:t>  |  H: −5.9 dB   D: −7.2 dB   V: −15.6 dB</a:t>
            </a:r>
          </a:p>
        </p:txBody>
      </p:sp>
      <p:sp>
        <p:nvSpPr>
          <p:cNvPr id="66" name="Rounded Rectangle 65"/>
          <p:cNvSpPr/>
          <p:nvPr/>
        </p:nvSpPr>
        <p:spPr>
          <a:xfrm>
            <a:off x="6446520" y="1325880"/>
            <a:ext cx="5257800" cy="4434840"/>
          </a:xfrm>
          <a:prstGeom prst="roundRect">
            <a:avLst/>
          </a:prstGeom>
          <a:solidFill>
            <a:srgbClr val="FFFFFF"/>
          </a:solidFill>
          <a:ln w="12700">
            <a:solidFill>
              <a:srgbClr val="CDDC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6656832" y="1517904"/>
            <a:ext cx="310896" cy="310896"/>
          </a:xfrm>
          <a:prstGeom prst="ellipse">
            <a:avLst/>
          </a:prstGeom>
          <a:solidFill>
            <a:srgbClr val="009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6656832" y="1563624"/>
            <a:ext cx="310896" cy="164592"/>
          </a:xfrm>
          <a:prstGeom prst="rect">
            <a:avLst/>
          </a:prstGeom>
          <a:noFill/>
        </p:spPr>
        <p:txBody>
          <a:bodyPr wrap="square" lIns="27432" tIns="18288" rIns="27432" bIns="18288">
            <a:spAutoFit/>
          </a:bodyPr>
          <a:lstStyle/>
          <a:p>
            <a:pPr algn="ctr"/>
            <a:r>
              <a:rPr sz="900" b="1" i="0">
                <a:solidFill>
                  <a:srgbClr val="FFFFFF"/>
                </a:solidFill>
                <a:latin typeface="Aptos"/>
              </a:rPr>
              <a:t>2</a:t>
            </a:r>
          </a:p>
        </p:txBody>
      </p:sp>
      <p:sp>
        <p:nvSpPr>
          <p:cNvPr id="69" name="TextBox 68"/>
          <p:cNvSpPr txBox="1"/>
          <p:nvPr/>
        </p:nvSpPr>
        <p:spPr>
          <a:xfrm>
            <a:off x="7040880" y="1499616"/>
            <a:ext cx="3657600" cy="298543"/>
          </a:xfrm>
          <a:prstGeom prst="rect">
            <a:avLst/>
          </a:prstGeom>
          <a:noFill/>
        </p:spPr>
        <p:txBody>
          <a:bodyPr wrap="square" lIns="27432" tIns="18288" rIns="27432" bIns="18288">
            <a:spAutoFit/>
          </a:bodyPr>
          <a:lstStyle/>
          <a:p>
            <a:pPr algn="l"/>
            <a:r>
              <a:rPr sz="1700" b="1" i="0" dirty="0">
                <a:solidFill>
                  <a:srgbClr val="009BA5"/>
                </a:solidFill>
                <a:latin typeface="Aptos"/>
              </a:rPr>
              <a:t>Linear </a:t>
            </a:r>
            <a:r>
              <a:rPr sz="1700" b="1" i="0" dirty="0" err="1">
                <a:solidFill>
                  <a:srgbClr val="009BA5"/>
                </a:solidFill>
                <a:latin typeface="Aptos"/>
              </a:rPr>
              <a:t>polariser</a:t>
            </a:r>
            <a:r>
              <a:rPr sz="1700" b="1" i="0" dirty="0">
                <a:solidFill>
                  <a:srgbClr val="009BA5"/>
                </a:solidFill>
                <a:latin typeface="Aptos"/>
              </a:rPr>
              <a:t> hardware/testing</a:t>
            </a:r>
          </a:p>
        </p:txBody>
      </p:sp>
      <p:sp>
        <p:nvSpPr>
          <p:cNvPr id="72" name="Rounded Rectangle 71"/>
          <p:cNvSpPr/>
          <p:nvPr/>
        </p:nvSpPr>
        <p:spPr>
          <a:xfrm>
            <a:off x="6839712" y="4709160"/>
            <a:ext cx="2240280" cy="685800"/>
          </a:xfrm>
          <a:prstGeom prst="roundRect">
            <a:avLst/>
          </a:prstGeom>
          <a:solidFill>
            <a:srgbClr val="FDEBF6"/>
          </a:solidFill>
          <a:ln w="12700">
            <a:solidFill>
              <a:srgbClr val="CA00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6986016" y="4837176"/>
            <a:ext cx="676656" cy="164592"/>
          </a:xfrm>
          <a:prstGeom prst="rect">
            <a:avLst/>
          </a:prstGeom>
          <a:noFill/>
        </p:spPr>
        <p:txBody>
          <a:bodyPr wrap="square" lIns="27432" tIns="18288" rIns="27432" bIns="18288">
            <a:spAutoFit/>
          </a:bodyPr>
          <a:lstStyle/>
          <a:p>
            <a:pPr algn="l"/>
            <a:r>
              <a:rPr sz="850" b="1" i="0">
                <a:solidFill>
                  <a:srgbClr val="CA007A"/>
                </a:solidFill>
                <a:latin typeface="Aptos"/>
              </a:rPr>
              <a:t>PROVES</a:t>
            </a:r>
          </a:p>
        </p:txBody>
      </p:sp>
      <p:sp>
        <p:nvSpPr>
          <p:cNvPr id="74" name="TextBox 73"/>
          <p:cNvSpPr txBox="1"/>
          <p:nvPr/>
        </p:nvSpPr>
        <p:spPr>
          <a:xfrm>
            <a:off x="7589520" y="4782312"/>
            <a:ext cx="1398536" cy="329321"/>
          </a:xfrm>
          <a:prstGeom prst="rect">
            <a:avLst/>
          </a:prstGeom>
          <a:noFill/>
        </p:spPr>
        <p:txBody>
          <a:bodyPr wrap="square" lIns="27432" tIns="18288" rIns="27432" bIns="18288">
            <a:spAutoFit/>
          </a:bodyPr>
          <a:lstStyle/>
          <a:p>
            <a:pPr algn="l"/>
            <a:r>
              <a:rPr sz="950" b="1" i="0" dirty="0">
                <a:solidFill>
                  <a:srgbClr val="141E2D"/>
                </a:solidFill>
                <a:latin typeface="Aptos"/>
              </a:rPr>
              <a:t>linear discrimination</a:t>
            </a:r>
            <a:r>
              <a:rPr lang="en-AU" sz="950" b="1" i="0" dirty="0">
                <a:solidFill>
                  <a:srgbClr val="141E2D"/>
                </a:solidFill>
                <a:latin typeface="Aptos"/>
              </a:rPr>
              <a:t> survives atomic readout</a:t>
            </a:r>
            <a:endParaRPr dirty="0"/>
          </a:p>
        </p:txBody>
      </p:sp>
      <p:sp>
        <p:nvSpPr>
          <p:cNvPr id="75" name="Rounded Rectangle 74"/>
          <p:cNvSpPr/>
          <p:nvPr/>
        </p:nvSpPr>
        <p:spPr>
          <a:xfrm>
            <a:off x="9290304" y="4709160"/>
            <a:ext cx="2057400" cy="685800"/>
          </a:xfrm>
          <a:prstGeom prst="roundRect">
            <a:avLst/>
          </a:prstGeom>
          <a:solidFill>
            <a:srgbClr val="E8F8FA"/>
          </a:solidFill>
          <a:ln w="12700">
            <a:solidFill>
              <a:srgbClr val="009B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9436608" y="4837176"/>
            <a:ext cx="566928" cy="164592"/>
          </a:xfrm>
          <a:prstGeom prst="rect">
            <a:avLst/>
          </a:prstGeom>
          <a:noFill/>
        </p:spPr>
        <p:txBody>
          <a:bodyPr wrap="square" lIns="27432" tIns="18288" rIns="27432" bIns="18288">
            <a:spAutoFit/>
          </a:bodyPr>
          <a:lstStyle/>
          <a:p>
            <a:pPr algn="l"/>
            <a:r>
              <a:rPr sz="850" b="1" i="0">
                <a:solidFill>
                  <a:srgbClr val="00848E"/>
                </a:solidFill>
                <a:latin typeface="Aptos"/>
              </a:rPr>
              <a:t>LIMIT</a:t>
            </a:r>
          </a:p>
        </p:txBody>
      </p:sp>
      <p:sp>
        <p:nvSpPr>
          <p:cNvPr id="77" name="TextBox 76"/>
          <p:cNvSpPr txBox="1"/>
          <p:nvPr/>
        </p:nvSpPr>
        <p:spPr>
          <a:xfrm>
            <a:off x="9930384" y="4782312"/>
            <a:ext cx="1170432" cy="329321"/>
          </a:xfrm>
          <a:prstGeom prst="rect">
            <a:avLst/>
          </a:prstGeom>
          <a:noFill/>
        </p:spPr>
        <p:txBody>
          <a:bodyPr wrap="square" lIns="27432" tIns="18288" rIns="27432" bIns="18288">
            <a:spAutoFit/>
          </a:bodyPr>
          <a:lstStyle/>
          <a:p>
            <a:pPr algn="l"/>
            <a:r>
              <a:rPr sz="950" b="1" i="0" dirty="0">
                <a:solidFill>
                  <a:srgbClr val="141E2D"/>
                </a:solidFill>
                <a:latin typeface="Aptos"/>
              </a:rPr>
              <a:t>S₃ / handedness</a:t>
            </a:r>
            <a:r>
              <a:rPr lang="en-AU" sz="950" b="1" i="0" dirty="0">
                <a:solidFill>
                  <a:srgbClr val="141E2D"/>
                </a:solidFill>
                <a:latin typeface="Aptos"/>
              </a:rPr>
              <a:t> not measured</a:t>
            </a:r>
            <a:endParaRPr dirty="0"/>
          </a:p>
        </p:txBody>
      </p:sp>
      <p:sp>
        <p:nvSpPr>
          <p:cNvPr id="78" name="Rounded Rectangle 77"/>
          <p:cNvSpPr/>
          <p:nvPr/>
        </p:nvSpPr>
        <p:spPr>
          <a:xfrm>
            <a:off x="502920" y="5998464"/>
            <a:ext cx="11201400" cy="438912"/>
          </a:xfrm>
          <a:prstGeom prst="roundRect">
            <a:avLst/>
          </a:prstGeom>
          <a:solidFill>
            <a:srgbClr val="E8F8FA"/>
          </a:solidFill>
          <a:ln w="12700">
            <a:solidFill>
              <a:srgbClr val="9BD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val 78"/>
          <p:cNvSpPr/>
          <p:nvPr/>
        </p:nvSpPr>
        <p:spPr>
          <a:xfrm>
            <a:off x="749808" y="6126479"/>
            <a:ext cx="146304" cy="146304"/>
          </a:xfrm>
          <a:prstGeom prst="ellipse">
            <a:avLst/>
          </a:prstGeom>
          <a:solidFill>
            <a:srgbClr val="009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978408" y="6071616"/>
            <a:ext cx="10287000" cy="246888"/>
          </a:xfrm>
          <a:prstGeom prst="rect">
            <a:avLst/>
          </a:prstGeom>
          <a:noFill/>
        </p:spPr>
        <p:txBody>
          <a:bodyPr wrap="square" lIns="27432" tIns="18288" rIns="27432" bIns="18288">
            <a:spAutoFit/>
          </a:bodyPr>
          <a:lstStyle/>
          <a:p>
            <a:pPr algn="l"/>
            <a:r>
              <a:rPr sz="1050" b="1" i="0">
                <a:solidFill>
                  <a:srgbClr val="141E2D"/>
                </a:solidFill>
                <a:latin typeface="Aptos"/>
              </a:rPr>
              <a:t>Measured result: the atom preserves useful linear-polarisation contrast. Full polarimetry still needs one independent S₃-sensitive measurement.</a:t>
            </a:r>
          </a:p>
        </p:txBody>
      </p:sp>
      <p:pic>
        <p:nvPicPr>
          <p:cNvPr id="2" name="Picture 1">
            <a:extLst>
              <a:ext uri="{FF2B5EF4-FFF2-40B4-BE49-F238E27FC236}">
                <a16:creationId xmlns:a16="http://schemas.microsoft.com/office/drawing/2014/main" id="{70532D57-A8C0-1817-1B5E-8D5C8C347702}"/>
              </a:ext>
            </a:extLst>
          </p:cNvPr>
          <p:cNvPicPr>
            <a:picLocks noChangeAspect="1"/>
          </p:cNvPicPr>
          <p:nvPr/>
        </p:nvPicPr>
        <p:blipFill>
          <a:blip r:embed="rId4"/>
          <a:stretch>
            <a:fillRect/>
          </a:stretch>
        </p:blipFill>
        <p:spPr>
          <a:xfrm>
            <a:off x="7420199" y="1954295"/>
            <a:ext cx="3319585" cy="2489689"/>
          </a:xfrm>
          <a:prstGeom prst="rect">
            <a:avLst/>
          </a:prstGeom>
        </p:spPr>
      </p:pic>
    </p:spTree>
    <p:extLst>
      <p:ext uri="{BB962C8B-B14F-4D97-AF65-F5344CB8AC3E}">
        <p14:creationId xmlns:p14="http://schemas.microsoft.com/office/powerpoint/2010/main" val="15252438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66"/>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67"/>
                                        </p:tgtEl>
                                        <p:attrNameLst>
                                          <p:attrName>style.visibility</p:attrName>
                                        </p:attrNameLst>
                                      </p:cBhvr>
                                      <p:to>
                                        <p:strVal val="visible"/>
                                      </p:to>
                                    </p:set>
                                  </p:childTnLst>
                                </p:cTn>
                              </p:par>
                              <p:par>
                                <p:cTn id="9" presetID="1" presetClass="entr" presetSubtype="0" fill="hold" grpId="1" nodeType="withEffect">
                                  <p:stCondLst>
                                    <p:cond delay="0"/>
                                  </p:stCondLst>
                                  <p:childTnLst>
                                    <p:set>
                                      <p:cBhvr>
                                        <p:cTn id="10" dur="1" fill="hold">
                                          <p:stCondLst>
                                            <p:cond delay="0"/>
                                          </p:stCondLst>
                                        </p:cTn>
                                        <p:tgtEl>
                                          <p:spTgt spid="68"/>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69"/>
                                        </p:tgtEl>
                                        <p:attrNameLst>
                                          <p:attrName>style.visibility</p:attrName>
                                        </p:attrNameLst>
                                      </p:cBhvr>
                                      <p:to>
                                        <p:strVal val="visible"/>
                                      </p:to>
                                    </p:set>
                                  </p:childTnLst>
                                </p:cTn>
                              </p:par>
                              <p:par>
                                <p:cTn id="13" presetID="1" presetClass="entr" presetSubtype="0" fill="hold" grpId="1" nodeType="withEffect">
                                  <p:stCondLst>
                                    <p:cond delay="0"/>
                                  </p:stCondLst>
                                  <p:childTnLst>
                                    <p:set>
                                      <p:cBhvr>
                                        <p:cTn id="14" dur="1" fill="hold">
                                          <p:stCondLst>
                                            <p:cond delay="0"/>
                                          </p:stCondLst>
                                        </p:cTn>
                                        <p:tgtEl>
                                          <p:spTgt spid="72"/>
                                        </p:tgtEl>
                                        <p:attrNameLst>
                                          <p:attrName>style.visibility</p:attrName>
                                        </p:attrNameLst>
                                      </p:cBhvr>
                                      <p:to>
                                        <p:strVal val="visible"/>
                                      </p:to>
                                    </p:set>
                                  </p:childTnLst>
                                </p:cTn>
                              </p:par>
                              <p:par>
                                <p:cTn id="15" presetID="1" presetClass="entr" presetSubtype="0" fill="hold" grpId="1" nodeType="withEffect">
                                  <p:stCondLst>
                                    <p:cond delay="0"/>
                                  </p:stCondLst>
                                  <p:childTnLst>
                                    <p:set>
                                      <p:cBhvr>
                                        <p:cTn id="16" dur="1" fill="hold">
                                          <p:stCondLst>
                                            <p:cond delay="0"/>
                                          </p:stCondLst>
                                        </p:cTn>
                                        <p:tgtEl>
                                          <p:spTgt spid="73"/>
                                        </p:tgtEl>
                                        <p:attrNameLst>
                                          <p:attrName>style.visibility</p:attrName>
                                        </p:attrNameLst>
                                      </p:cBhvr>
                                      <p:to>
                                        <p:strVal val="visible"/>
                                      </p:to>
                                    </p:set>
                                  </p:childTnLst>
                                </p:cTn>
                              </p:par>
                              <p:par>
                                <p:cTn id="17" presetID="1" presetClass="entr" presetSubtype="0" fill="hold" grpId="1" nodeType="withEffect">
                                  <p:stCondLst>
                                    <p:cond delay="0"/>
                                  </p:stCondLst>
                                  <p:childTnLst>
                                    <p:set>
                                      <p:cBhvr>
                                        <p:cTn id="18" dur="1" fill="hold">
                                          <p:stCondLst>
                                            <p:cond delay="0"/>
                                          </p:stCondLst>
                                        </p:cTn>
                                        <p:tgtEl>
                                          <p:spTgt spid="74"/>
                                        </p:tgtEl>
                                        <p:attrNameLst>
                                          <p:attrName>style.visibility</p:attrName>
                                        </p:attrNameLst>
                                      </p:cBhvr>
                                      <p:to>
                                        <p:strVal val="visible"/>
                                      </p:to>
                                    </p:set>
                                  </p:childTnLst>
                                </p:cTn>
                              </p:par>
                              <p:par>
                                <p:cTn id="19" presetID="1" presetClass="entr" presetSubtype="0" fill="hold" grpId="1" nodeType="withEffect">
                                  <p:stCondLst>
                                    <p:cond delay="0"/>
                                  </p:stCondLst>
                                  <p:childTnLst>
                                    <p:set>
                                      <p:cBhvr>
                                        <p:cTn id="20" dur="1" fill="hold">
                                          <p:stCondLst>
                                            <p:cond delay="0"/>
                                          </p:stCondLst>
                                        </p:cTn>
                                        <p:tgtEl>
                                          <p:spTgt spid="75"/>
                                        </p:tgtEl>
                                        <p:attrNameLst>
                                          <p:attrName>style.visibility</p:attrName>
                                        </p:attrNameLst>
                                      </p:cBhvr>
                                      <p:to>
                                        <p:strVal val="visible"/>
                                      </p:to>
                                    </p:set>
                                  </p:childTnLst>
                                </p:cTn>
                              </p:par>
                              <p:par>
                                <p:cTn id="21" presetID="1" presetClass="entr" presetSubtype="0" fill="hold" grpId="1" nodeType="withEffect">
                                  <p:stCondLst>
                                    <p:cond delay="0"/>
                                  </p:stCondLst>
                                  <p:childTnLst>
                                    <p:set>
                                      <p:cBhvr>
                                        <p:cTn id="22" dur="1" fill="hold">
                                          <p:stCondLst>
                                            <p:cond delay="0"/>
                                          </p:stCondLst>
                                        </p:cTn>
                                        <p:tgtEl>
                                          <p:spTgt spid="76"/>
                                        </p:tgtEl>
                                        <p:attrNameLst>
                                          <p:attrName>style.visibility</p:attrName>
                                        </p:attrNameLst>
                                      </p:cBhvr>
                                      <p:to>
                                        <p:strVal val="visible"/>
                                      </p:to>
                                    </p:set>
                                  </p:childTnLst>
                                </p:cTn>
                              </p:par>
                              <p:par>
                                <p:cTn id="23" presetID="1" presetClass="entr" presetSubtype="0" fill="hold" grpId="1" nodeType="withEffect">
                                  <p:stCondLst>
                                    <p:cond delay="0"/>
                                  </p:stCondLst>
                                  <p:childTnLst>
                                    <p:set>
                                      <p:cBhvr>
                                        <p:cTn id="24" dur="1" fill="hold">
                                          <p:stCondLst>
                                            <p:cond delay="0"/>
                                          </p:stCondLst>
                                        </p:cTn>
                                        <p:tgtEl>
                                          <p:spTgt spid="7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1" nodeType="clickEffect">
                                  <p:stCondLst>
                                    <p:cond delay="0"/>
                                  </p:stCondLst>
                                  <p:childTnLst>
                                    <p:set>
                                      <p:cBhvr>
                                        <p:cTn id="30" dur="1" fill="hold">
                                          <p:stCondLst>
                                            <p:cond delay="0"/>
                                          </p:stCondLst>
                                        </p:cTn>
                                        <p:tgtEl>
                                          <p:spTgt spid="78"/>
                                        </p:tgtEl>
                                        <p:attrNameLst>
                                          <p:attrName>style.visibility</p:attrName>
                                        </p:attrNameLst>
                                      </p:cBhvr>
                                      <p:to>
                                        <p:strVal val="visible"/>
                                      </p:to>
                                    </p:set>
                                  </p:childTnLst>
                                </p:cTn>
                              </p:par>
                              <p:par>
                                <p:cTn id="31" presetID="1" presetClass="entr" presetSubtype="0" fill="hold" grpId="1" nodeType="withEffect">
                                  <p:stCondLst>
                                    <p:cond delay="0"/>
                                  </p:stCondLst>
                                  <p:childTnLst>
                                    <p:set>
                                      <p:cBhvr>
                                        <p:cTn id="32" dur="1" fill="hold">
                                          <p:stCondLst>
                                            <p:cond delay="0"/>
                                          </p:stCondLst>
                                        </p:cTn>
                                        <p:tgtEl>
                                          <p:spTgt spid="79"/>
                                        </p:tgtEl>
                                        <p:attrNameLst>
                                          <p:attrName>style.visibility</p:attrName>
                                        </p:attrNameLst>
                                      </p:cBhvr>
                                      <p:to>
                                        <p:strVal val="visible"/>
                                      </p:to>
                                    </p:set>
                                  </p:childTnLst>
                                </p:cTn>
                              </p:par>
                              <p:par>
                                <p:cTn id="33" presetID="1" presetClass="entr" presetSubtype="0" fill="hold" grpId="1" nodeType="withEffect">
                                  <p:stCondLst>
                                    <p:cond delay="0"/>
                                  </p:stCondLst>
                                  <p:childTnLst>
                                    <p:set>
                                      <p:cBhvr>
                                        <p:cTn id="34"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60" grpId="0" animBg="1"/>
      <p:bldP spid="61" grpId="0" animBg="1"/>
      <p:bldP spid="62" grpId="0" animBg="1"/>
      <p:bldP spid="63" grpId="0" animBg="1"/>
      <p:bldP spid="64" grpId="0" animBg="1"/>
      <p:bldP spid="65" grpId="0" animBg="1"/>
      <p:bldP spid="66" grpId="0" animBg="1"/>
      <p:bldP spid="66" grpId="1" animBg="1"/>
      <p:bldP spid="67" grpId="0" animBg="1"/>
      <p:bldP spid="67" grpId="1" animBg="1"/>
      <p:bldP spid="68" grpId="0" animBg="1"/>
      <p:bldP spid="68" grpId="1"/>
      <p:bldP spid="69" grpId="0" animBg="1"/>
      <p:bldP spid="69" grpId="1"/>
      <p:bldP spid="72" grpId="0" animBg="1"/>
      <p:bldP spid="72" grpId="1" animBg="1"/>
      <p:bldP spid="73" grpId="0" animBg="1"/>
      <p:bldP spid="73" grpId="1"/>
      <p:bldP spid="74" grpId="0" animBg="1"/>
      <p:bldP spid="74" grpId="1"/>
      <p:bldP spid="75" grpId="0" animBg="1"/>
      <p:bldP spid="75" grpId="1" animBg="1"/>
      <p:bldP spid="76" grpId="0" animBg="1"/>
      <p:bldP spid="76" grpId="1"/>
      <p:bldP spid="77" grpId="0" animBg="1"/>
      <p:bldP spid="77" grpId="1"/>
      <p:bldP spid="78" grpId="0" animBg="1"/>
      <p:bldP spid="78" grpId="1" animBg="1"/>
      <p:bldP spid="79" grpId="0" animBg="1"/>
      <p:bldP spid="79" grpId="1" animBg="1"/>
      <p:bldP spid="80" grpId="0" animBg="1"/>
      <p:bldP spid="80" grpId="1"/>
    </p:bldLst>
  </p:timing>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EFF7FA"/>
        </a:solidFill>
        <a:effectLst/>
      </p:bgPr>
    </p:bg>
    <p:spTree>
      <p:nvGrpSpPr>
        <p:cNvPr id="1" name=""/>
        <p:cNvGrpSpPr/>
        <p:nvPr/>
      </p:nvGrpSpPr>
      <p:grpSpPr>
        <a:xfrm>
          <a:off x="0" y="0"/>
          <a:ext cx="0" cy="0"/>
          <a:chOff x="0" y="0"/>
          <a:chExt cx="0" cy="0"/>
        </a:xfrm>
      </p:grpSpPr>
      <p:sp>
        <p:nvSpPr>
          <p:cNvPr id="59" name="TextBox 58"/>
          <p:cNvSpPr txBox="1"/>
          <p:nvPr/>
        </p:nvSpPr>
        <p:spPr>
          <a:xfrm>
            <a:off x="502920" y="320040"/>
            <a:ext cx="9601200" cy="502920"/>
          </a:xfrm>
          <a:prstGeom prst="rect">
            <a:avLst/>
          </a:prstGeom>
          <a:noFill/>
        </p:spPr>
        <p:txBody>
          <a:bodyPr wrap="square" lIns="27432" tIns="18288" rIns="27432" bIns="18288">
            <a:spAutoFit/>
          </a:bodyPr>
          <a:lstStyle/>
          <a:p>
            <a:r>
              <a:rPr sz="3100" b="1">
                <a:solidFill>
                  <a:srgbClr val="141E2D"/>
                </a:solidFill>
                <a:latin typeface="Aptos"/>
              </a:rPr>
              <a:t>Linear data sample the Stokes equator</a:t>
            </a:r>
          </a:p>
        </p:txBody>
      </p:sp>
      <p:sp>
        <p:nvSpPr>
          <p:cNvPr id="60" name="TextBox 59"/>
          <p:cNvSpPr txBox="1"/>
          <p:nvPr/>
        </p:nvSpPr>
        <p:spPr>
          <a:xfrm>
            <a:off x="530352" y="786384"/>
            <a:ext cx="9509760" cy="256032"/>
          </a:xfrm>
          <a:prstGeom prst="rect">
            <a:avLst/>
          </a:prstGeom>
          <a:noFill/>
        </p:spPr>
        <p:txBody>
          <a:bodyPr wrap="square" lIns="27432" tIns="18288" rIns="27432" bIns="18288">
            <a:spAutoFit/>
          </a:bodyPr>
          <a:lstStyle/>
          <a:p>
            <a:r>
              <a:rPr sz="1200" b="0">
                <a:solidFill>
                  <a:srgbClr val="5C6975"/>
                </a:solidFill>
                <a:latin typeface="Aptos"/>
              </a:rPr>
              <a:t>A linear analyser explores the S₃ = 0 plane; circular handedness lies off that plane.</a:t>
            </a:r>
          </a:p>
        </p:txBody>
      </p:sp>
      <p:sp>
        <p:nvSpPr>
          <p:cNvPr id="61" name="Rectangle 60"/>
          <p:cNvSpPr/>
          <p:nvPr/>
        </p:nvSpPr>
        <p:spPr>
          <a:xfrm>
            <a:off x="530352" y="1051560"/>
            <a:ext cx="2514600" cy="36576"/>
          </a:xfrm>
          <a:prstGeom prst="rect">
            <a:avLst/>
          </a:prstGeom>
          <a:solidFill>
            <a:srgbClr val="009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502920" y="6537960"/>
            <a:ext cx="11201400" cy="9144"/>
          </a:xfrm>
          <a:prstGeom prst="rect">
            <a:avLst/>
          </a:prstGeom>
          <a:solidFill>
            <a:srgbClr val="DCE6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530352" y="6565392"/>
            <a:ext cx="3657600" cy="137160"/>
          </a:xfrm>
          <a:prstGeom prst="rect">
            <a:avLst/>
          </a:prstGeom>
          <a:noFill/>
        </p:spPr>
        <p:txBody>
          <a:bodyPr wrap="square" lIns="27432" tIns="18288" rIns="27432" bIns="18288">
            <a:spAutoFit/>
          </a:bodyPr>
          <a:lstStyle/>
          <a:p>
            <a:r>
              <a:rPr sz="650" b="0">
                <a:solidFill>
                  <a:srgbClr val="5C6975"/>
                </a:solidFill>
                <a:latin typeface="Aptos"/>
              </a:rPr>
              <a:t>Rydberg sensing | Conference</a:t>
            </a:r>
          </a:p>
        </p:txBody>
      </p:sp>
      <p:sp>
        <p:nvSpPr>
          <p:cNvPr id="64" name="TextBox 63"/>
          <p:cNvSpPr txBox="1"/>
          <p:nvPr/>
        </p:nvSpPr>
        <p:spPr>
          <a:xfrm>
            <a:off x="11567160" y="6565392"/>
            <a:ext cx="228600" cy="137160"/>
          </a:xfrm>
          <a:prstGeom prst="rect">
            <a:avLst/>
          </a:prstGeom>
          <a:noFill/>
        </p:spPr>
        <p:txBody>
          <a:bodyPr wrap="square" lIns="27432" tIns="18288" rIns="27432" bIns="18288">
            <a:spAutoFit/>
          </a:bodyPr>
          <a:lstStyle/>
          <a:p>
            <a:pPr algn="r"/>
            <a:r>
              <a:rPr sz="650" b="0">
                <a:solidFill>
                  <a:srgbClr val="5C6975"/>
                </a:solidFill>
                <a:latin typeface="Aptos"/>
              </a:rPr>
              <a:t>6</a:t>
            </a:r>
          </a:p>
        </p:txBody>
      </p:sp>
      <p:sp>
        <p:nvSpPr>
          <p:cNvPr id="65" name="Rounded Rectangle 64"/>
          <p:cNvSpPr/>
          <p:nvPr/>
        </p:nvSpPr>
        <p:spPr>
          <a:xfrm>
            <a:off x="502920" y="1243584"/>
            <a:ext cx="5486400" cy="4617720"/>
          </a:xfrm>
          <a:prstGeom prst="roundRect">
            <a:avLst/>
          </a:prstGeom>
          <a:solidFill>
            <a:srgbClr val="FFFFFF"/>
          </a:solidFill>
          <a:ln w="12700">
            <a:solidFill>
              <a:srgbClr val="CDDC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804672" y="1481328"/>
            <a:ext cx="4114800" cy="292608"/>
          </a:xfrm>
          <a:prstGeom prst="rect">
            <a:avLst/>
          </a:prstGeom>
          <a:noFill/>
        </p:spPr>
        <p:txBody>
          <a:bodyPr wrap="square" lIns="27432" tIns="18288" rIns="27432" bIns="18288">
            <a:spAutoFit/>
          </a:bodyPr>
          <a:lstStyle/>
          <a:p>
            <a:r>
              <a:rPr sz="1700" b="1">
                <a:solidFill>
                  <a:srgbClr val="141E2D"/>
                </a:solidFill>
                <a:latin typeface="Aptos"/>
              </a:rPr>
              <a:t>Poincaré-sphere view</a:t>
            </a:r>
          </a:p>
        </p:txBody>
      </p:sp>
      <p:sp>
        <p:nvSpPr>
          <p:cNvPr id="68" name="Rounded Rectangle 67"/>
          <p:cNvSpPr/>
          <p:nvPr/>
        </p:nvSpPr>
        <p:spPr>
          <a:xfrm>
            <a:off x="1051560" y="5230368"/>
            <a:ext cx="4343400" cy="384048"/>
          </a:xfrm>
          <a:prstGeom prst="roundRect">
            <a:avLst/>
          </a:prstGeom>
          <a:solidFill>
            <a:srgbClr val="E8F8FA"/>
          </a:solidFill>
          <a:ln w="12700">
            <a:solidFill>
              <a:srgbClr val="009B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280160" y="5321808"/>
            <a:ext cx="3886200" cy="146304"/>
          </a:xfrm>
          <a:prstGeom prst="rect">
            <a:avLst/>
          </a:prstGeom>
          <a:noFill/>
        </p:spPr>
        <p:txBody>
          <a:bodyPr wrap="square" lIns="27432" tIns="18288" rIns="27432" bIns="18288">
            <a:spAutoFit/>
          </a:bodyPr>
          <a:lstStyle/>
          <a:p>
            <a:pPr algn="ctr"/>
            <a:r>
              <a:rPr sz="830" b="1">
                <a:solidFill>
                  <a:srgbClr val="00848E"/>
                </a:solidFill>
                <a:latin typeface="Aptos"/>
              </a:rPr>
              <a:t>Teal ring = every linear state (S₃ = 0)</a:t>
            </a:r>
          </a:p>
        </p:txBody>
      </p:sp>
      <p:sp>
        <p:nvSpPr>
          <p:cNvPr id="70" name="Rounded Rectangle 69"/>
          <p:cNvSpPr/>
          <p:nvPr/>
        </p:nvSpPr>
        <p:spPr>
          <a:xfrm>
            <a:off x="6355080" y="1243584"/>
            <a:ext cx="5349240" cy="4617720"/>
          </a:xfrm>
          <a:prstGeom prst="roundRect">
            <a:avLst/>
          </a:prstGeom>
          <a:solidFill>
            <a:srgbClr val="FFFFFF"/>
          </a:solidFill>
          <a:ln w="12700">
            <a:solidFill>
              <a:srgbClr val="CDDC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6629400" y="1481328"/>
            <a:ext cx="4663440" cy="274320"/>
          </a:xfrm>
          <a:prstGeom prst="rect">
            <a:avLst/>
          </a:prstGeom>
          <a:noFill/>
        </p:spPr>
        <p:txBody>
          <a:bodyPr wrap="square" lIns="27432" tIns="18288" rIns="27432" bIns="18288">
            <a:spAutoFit/>
          </a:bodyPr>
          <a:lstStyle/>
          <a:p>
            <a:r>
              <a:rPr sz="1600" b="1">
                <a:solidFill>
                  <a:srgbClr val="141E2D"/>
                </a:solidFill>
                <a:latin typeface="Aptos"/>
              </a:rPr>
              <a:t>Stokes estimates from five averaged runs</a:t>
            </a:r>
          </a:p>
        </p:txBody>
      </p:sp>
      <p:sp>
        <p:nvSpPr>
          <p:cNvPr id="72" name="Rectangle 71"/>
          <p:cNvSpPr/>
          <p:nvPr/>
        </p:nvSpPr>
        <p:spPr>
          <a:xfrm>
            <a:off x="6620257" y="2304005"/>
            <a:ext cx="1170432" cy="393192"/>
          </a:xfrm>
          <a:prstGeom prst="rect">
            <a:avLst/>
          </a:prstGeom>
          <a:solidFill>
            <a:srgbClr val="00848E"/>
          </a:solidFill>
          <a:ln w="12700">
            <a:solidFill>
              <a:srgbClr val="0084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6656833" y="2404589"/>
            <a:ext cx="1097280" cy="137160"/>
          </a:xfrm>
          <a:prstGeom prst="rect">
            <a:avLst/>
          </a:prstGeom>
          <a:noFill/>
        </p:spPr>
        <p:txBody>
          <a:bodyPr wrap="square" lIns="27432" tIns="18288" rIns="27432" bIns="18288">
            <a:spAutoFit/>
          </a:bodyPr>
          <a:lstStyle/>
          <a:p>
            <a:pPr algn="ctr"/>
            <a:r>
              <a:rPr sz="800" b="1">
                <a:solidFill>
                  <a:srgbClr val="FFFFFF"/>
                </a:solidFill>
                <a:latin typeface="Aptos"/>
              </a:rPr>
              <a:t>Metric</a:t>
            </a:r>
          </a:p>
        </p:txBody>
      </p:sp>
      <p:sp>
        <p:nvSpPr>
          <p:cNvPr id="74" name="Rectangle 73"/>
          <p:cNvSpPr/>
          <p:nvPr/>
        </p:nvSpPr>
        <p:spPr>
          <a:xfrm>
            <a:off x="7790688" y="2304005"/>
            <a:ext cx="1600200" cy="393192"/>
          </a:xfrm>
          <a:prstGeom prst="rect">
            <a:avLst/>
          </a:prstGeom>
          <a:solidFill>
            <a:srgbClr val="00848E"/>
          </a:solidFill>
          <a:ln w="12700">
            <a:solidFill>
              <a:srgbClr val="0084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7827264" y="2404589"/>
            <a:ext cx="1527048" cy="137160"/>
          </a:xfrm>
          <a:prstGeom prst="rect">
            <a:avLst/>
          </a:prstGeom>
          <a:noFill/>
        </p:spPr>
        <p:txBody>
          <a:bodyPr wrap="square" lIns="27432" tIns="18288" rIns="27432" bIns="18288">
            <a:spAutoFit/>
          </a:bodyPr>
          <a:lstStyle/>
          <a:p>
            <a:pPr algn="ctr"/>
            <a:r>
              <a:rPr sz="800" b="1">
                <a:solidFill>
                  <a:srgbClr val="FFFFFF"/>
                </a:solidFill>
                <a:latin typeface="Aptos"/>
              </a:rPr>
              <a:t>Estimate</a:t>
            </a:r>
          </a:p>
        </p:txBody>
      </p:sp>
      <p:sp>
        <p:nvSpPr>
          <p:cNvPr id="76" name="Rectangle 75"/>
          <p:cNvSpPr/>
          <p:nvPr/>
        </p:nvSpPr>
        <p:spPr>
          <a:xfrm>
            <a:off x="9390889" y="2304005"/>
            <a:ext cx="1920240" cy="393192"/>
          </a:xfrm>
          <a:prstGeom prst="rect">
            <a:avLst/>
          </a:prstGeom>
          <a:solidFill>
            <a:srgbClr val="00848E"/>
          </a:solidFill>
          <a:ln w="12700">
            <a:solidFill>
              <a:srgbClr val="0084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9427464" y="2404589"/>
            <a:ext cx="1847088" cy="137160"/>
          </a:xfrm>
          <a:prstGeom prst="rect">
            <a:avLst/>
          </a:prstGeom>
          <a:noFill/>
        </p:spPr>
        <p:txBody>
          <a:bodyPr wrap="square" lIns="27432" tIns="18288" rIns="27432" bIns="18288">
            <a:spAutoFit/>
          </a:bodyPr>
          <a:lstStyle/>
          <a:p>
            <a:pPr algn="ctr"/>
            <a:r>
              <a:rPr sz="800" b="1">
                <a:solidFill>
                  <a:srgbClr val="FFFFFF"/>
                </a:solidFill>
                <a:latin typeface="Aptos"/>
              </a:rPr>
              <a:t>Theory / test</a:t>
            </a:r>
          </a:p>
        </p:txBody>
      </p:sp>
      <p:sp>
        <p:nvSpPr>
          <p:cNvPr id="78" name="Rectangle 77"/>
          <p:cNvSpPr/>
          <p:nvPr/>
        </p:nvSpPr>
        <p:spPr>
          <a:xfrm>
            <a:off x="6620257" y="2697197"/>
            <a:ext cx="1170432" cy="393192"/>
          </a:xfrm>
          <a:prstGeom prst="rect">
            <a:avLst/>
          </a:prstGeom>
          <a:solidFill>
            <a:srgbClr val="F7FBFC"/>
          </a:solidFill>
          <a:ln w="12700">
            <a:solidFill>
              <a:srgbClr val="DEE8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6665977" y="2788637"/>
            <a:ext cx="1078992" cy="146304"/>
          </a:xfrm>
          <a:prstGeom prst="rect">
            <a:avLst/>
          </a:prstGeom>
          <a:noFill/>
        </p:spPr>
        <p:txBody>
          <a:bodyPr wrap="square" lIns="27432" tIns="18288" rIns="27432" bIns="18288">
            <a:spAutoFit/>
          </a:bodyPr>
          <a:lstStyle/>
          <a:p>
            <a:pPr algn="ctr"/>
            <a:r>
              <a:rPr sz="760" b="1">
                <a:solidFill>
                  <a:srgbClr val="00848E"/>
                </a:solidFill>
                <a:latin typeface="Aptos"/>
              </a:rPr>
              <a:t>H</a:t>
            </a:r>
          </a:p>
        </p:txBody>
      </p:sp>
      <p:sp>
        <p:nvSpPr>
          <p:cNvPr id="80" name="Rectangle 79"/>
          <p:cNvSpPr/>
          <p:nvPr/>
        </p:nvSpPr>
        <p:spPr>
          <a:xfrm>
            <a:off x="7790688" y="2697197"/>
            <a:ext cx="1600200" cy="393192"/>
          </a:xfrm>
          <a:prstGeom prst="rect">
            <a:avLst/>
          </a:prstGeom>
          <a:solidFill>
            <a:srgbClr val="F7FBFC"/>
          </a:solidFill>
          <a:ln w="12700">
            <a:solidFill>
              <a:srgbClr val="DEE8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7836409" y="2788637"/>
            <a:ext cx="1508760" cy="146304"/>
          </a:xfrm>
          <a:prstGeom prst="rect">
            <a:avLst/>
          </a:prstGeom>
          <a:noFill/>
        </p:spPr>
        <p:txBody>
          <a:bodyPr wrap="square" lIns="27432" tIns="18288" rIns="27432" bIns="18288">
            <a:spAutoFit/>
          </a:bodyPr>
          <a:lstStyle/>
          <a:p>
            <a:pPr algn="ctr"/>
            <a:r>
              <a:rPr sz="760" b="0">
                <a:solidFill>
                  <a:srgbClr val="141E2D"/>
                </a:solidFill>
                <a:latin typeface="Aptos"/>
              </a:rPr>
              <a:t>0.811  (−5.9 dB)</a:t>
            </a:r>
          </a:p>
        </p:txBody>
      </p:sp>
      <p:sp>
        <p:nvSpPr>
          <p:cNvPr id="82" name="Rectangle 81"/>
          <p:cNvSpPr/>
          <p:nvPr/>
        </p:nvSpPr>
        <p:spPr>
          <a:xfrm>
            <a:off x="9390889" y="2697197"/>
            <a:ext cx="1920240" cy="393192"/>
          </a:xfrm>
          <a:prstGeom prst="rect">
            <a:avLst/>
          </a:prstGeom>
          <a:solidFill>
            <a:srgbClr val="F7FBFC"/>
          </a:solidFill>
          <a:ln w="12700">
            <a:solidFill>
              <a:srgbClr val="DEE8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9436609" y="2788637"/>
            <a:ext cx="1828800" cy="146304"/>
          </a:xfrm>
          <a:prstGeom prst="rect">
            <a:avLst/>
          </a:prstGeom>
          <a:noFill/>
        </p:spPr>
        <p:txBody>
          <a:bodyPr wrap="square" lIns="27432" tIns="18288" rIns="27432" bIns="18288">
            <a:spAutoFit/>
          </a:bodyPr>
          <a:lstStyle/>
          <a:p>
            <a:pPr algn="ctr"/>
            <a:r>
              <a:rPr sz="760" b="0">
                <a:solidFill>
                  <a:srgbClr val="141E2D"/>
                </a:solidFill>
                <a:latin typeface="Aptos"/>
              </a:rPr>
              <a:t>high / pass</a:t>
            </a:r>
          </a:p>
        </p:txBody>
      </p:sp>
      <p:sp>
        <p:nvSpPr>
          <p:cNvPr id="84" name="Rectangle 83"/>
          <p:cNvSpPr/>
          <p:nvPr/>
        </p:nvSpPr>
        <p:spPr>
          <a:xfrm>
            <a:off x="6620257" y="3090389"/>
            <a:ext cx="1170432" cy="393192"/>
          </a:xfrm>
          <a:prstGeom prst="rect">
            <a:avLst/>
          </a:prstGeom>
          <a:solidFill>
            <a:srgbClr val="FFFFFF"/>
          </a:solidFill>
          <a:ln w="12700">
            <a:solidFill>
              <a:srgbClr val="DEE8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6665977" y="3181829"/>
            <a:ext cx="1078992" cy="146304"/>
          </a:xfrm>
          <a:prstGeom prst="rect">
            <a:avLst/>
          </a:prstGeom>
          <a:noFill/>
        </p:spPr>
        <p:txBody>
          <a:bodyPr wrap="square" lIns="27432" tIns="18288" rIns="27432" bIns="18288">
            <a:spAutoFit/>
          </a:bodyPr>
          <a:lstStyle/>
          <a:p>
            <a:pPr algn="ctr"/>
            <a:r>
              <a:rPr sz="760" b="1">
                <a:solidFill>
                  <a:srgbClr val="00848E"/>
                </a:solidFill>
                <a:latin typeface="Aptos"/>
              </a:rPr>
              <a:t>D</a:t>
            </a:r>
          </a:p>
        </p:txBody>
      </p:sp>
      <p:sp>
        <p:nvSpPr>
          <p:cNvPr id="86" name="Rectangle 85"/>
          <p:cNvSpPr/>
          <p:nvPr/>
        </p:nvSpPr>
        <p:spPr>
          <a:xfrm>
            <a:off x="7790688" y="3090389"/>
            <a:ext cx="1600200" cy="393192"/>
          </a:xfrm>
          <a:prstGeom prst="rect">
            <a:avLst/>
          </a:prstGeom>
          <a:solidFill>
            <a:srgbClr val="FFFFFF"/>
          </a:solidFill>
          <a:ln w="12700">
            <a:solidFill>
              <a:srgbClr val="DEE8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7836409" y="3181829"/>
            <a:ext cx="1508760" cy="146304"/>
          </a:xfrm>
          <a:prstGeom prst="rect">
            <a:avLst/>
          </a:prstGeom>
          <a:noFill/>
        </p:spPr>
        <p:txBody>
          <a:bodyPr wrap="square" lIns="27432" tIns="18288" rIns="27432" bIns="18288">
            <a:spAutoFit/>
          </a:bodyPr>
          <a:lstStyle/>
          <a:p>
            <a:pPr algn="ctr"/>
            <a:r>
              <a:rPr sz="760" b="0">
                <a:solidFill>
                  <a:srgbClr val="141E2D"/>
                </a:solidFill>
                <a:latin typeface="Aptos"/>
              </a:rPr>
              <a:t>0.590  (−7.2 dB)</a:t>
            </a:r>
          </a:p>
        </p:txBody>
      </p:sp>
      <p:sp>
        <p:nvSpPr>
          <p:cNvPr id="88" name="Rectangle 87"/>
          <p:cNvSpPr/>
          <p:nvPr/>
        </p:nvSpPr>
        <p:spPr>
          <a:xfrm>
            <a:off x="9390889" y="3090389"/>
            <a:ext cx="1920240" cy="393192"/>
          </a:xfrm>
          <a:prstGeom prst="rect">
            <a:avLst/>
          </a:prstGeom>
          <a:solidFill>
            <a:srgbClr val="FFFFFF"/>
          </a:solidFill>
          <a:ln w="12700">
            <a:solidFill>
              <a:srgbClr val="DEE8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9436609" y="3181829"/>
            <a:ext cx="1828800" cy="146304"/>
          </a:xfrm>
          <a:prstGeom prst="rect">
            <a:avLst/>
          </a:prstGeom>
          <a:noFill/>
        </p:spPr>
        <p:txBody>
          <a:bodyPr wrap="square" lIns="27432" tIns="18288" rIns="27432" bIns="18288">
            <a:spAutoFit/>
          </a:bodyPr>
          <a:lstStyle/>
          <a:p>
            <a:pPr algn="ctr"/>
            <a:r>
              <a:rPr sz="760" b="0">
                <a:solidFill>
                  <a:srgbClr val="141E2D"/>
                </a:solidFill>
                <a:latin typeface="Aptos"/>
              </a:rPr>
              <a:t>intermediate</a:t>
            </a:r>
          </a:p>
        </p:txBody>
      </p:sp>
      <p:sp>
        <p:nvSpPr>
          <p:cNvPr id="90" name="Rectangle 89"/>
          <p:cNvSpPr/>
          <p:nvPr/>
        </p:nvSpPr>
        <p:spPr>
          <a:xfrm>
            <a:off x="6620257" y="3483581"/>
            <a:ext cx="1170432" cy="393192"/>
          </a:xfrm>
          <a:prstGeom prst="rect">
            <a:avLst/>
          </a:prstGeom>
          <a:solidFill>
            <a:srgbClr val="F7FBFC"/>
          </a:solidFill>
          <a:ln w="12700">
            <a:solidFill>
              <a:srgbClr val="DEE8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6665977" y="3575021"/>
            <a:ext cx="1078992" cy="146304"/>
          </a:xfrm>
          <a:prstGeom prst="rect">
            <a:avLst/>
          </a:prstGeom>
          <a:noFill/>
        </p:spPr>
        <p:txBody>
          <a:bodyPr wrap="square" lIns="27432" tIns="18288" rIns="27432" bIns="18288">
            <a:spAutoFit/>
          </a:bodyPr>
          <a:lstStyle/>
          <a:p>
            <a:pPr algn="ctr"/>
            <a:r>
              <a:rPr sz="760" b="1">
                <a:solidFill>
                  <a:srgbClr val="00848E"/>
                </a:solidFill>
                <a:latin typeface="Aptos"/>
              </a:rPr>
              <a:t>V</a:t>
            </a:r>
          </a:p>
        </p:txBody>
      </p:sp>
      <p:sp>
        <p:nvSpPr>
          <p:cNvPr id="92" name="Rectangle 91"/>
          <p:cNvSpPr/>
          <p:nvPr/>
        </p:nvSpPr>
        <p:spPr>
          <a:xfrm>
            <a:off x="7790688" y="3483581"/>
            <a:ext cx="1600200" cy="393192"/>
          </a:xfrm>
          <a:prstGeom prst="rect">
            <a:avLst/>
          </a:prstGeom>
          <a:solidFill>
            <a:srgbClr val="F7FBFC"/>
          </a:solidFill>
          <a:ln w="12700">
            <a:solidFill>
              <a:srgbClr val="DEE8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7836409" y="3575021"/>
            <a:ext cx="1508760" cy="146304"/>
          </a:xfrm>
          <a:prstGeom prst="rect">
            <a:avLst/>
          </a:prstGeom>
          <a:noFill/>
        </p:spPr>
        <p:txBody>
          <a:bodyPr wrap="square" lIns="27432" tIns="18288" rIns="27432" bIns="18288">
            <a:spAutoFit/>
          </a:bodyPr>
          <a:lstStyle/>
          <a:p>
            <a:pPr algn="ctr"/>
            <a:r>
              <a:rPr sz="760" b="0">
                <a:solidFill>
                  <a:srgbClr val="141E2D"/>
                </a:solidFill>
                <a:latin typeface="Aptos"/>
              </a:rPr>
              <a:t>0.029  (−15.6 dB)</a:t>
            </a:r>
          </a:p>
        </p:txBody>
      </p:sp>
      <p:sp>
        <p:nvSpPr>
          <p:cNvPr id="94" name="Rectangle 93"/>
          <p:cNvSpPr/>
          <p:nvPr/>
        </p:nvSpPr>
        <p:spPr>
          <a:xfrm>
            <a:off x="9390889" y="3483581"/>
            <a:ext cx="1920240" cy="393192"/>
          </a:xfrm>
          <a:prstGeom prst="rect">
            <a:avLst/>
          </a:prstGeom>
          <a:solidFill>
            <a:srgbClr val="F7FBFC"/>
          </a:solidFill>
          <a:ln w="12700">
            <a:solidFill>
              <a:srgbClr val="DEE8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9436609" y="3575021"/>
            <a:ext cx="1828800" cy="146304"/>
          </a:xfrm>
          <a:prstGeom prst="rect">
            <a:avLst/>
          </a:prstGeom>
          <a:noFill/>
        </p:spPr>
        <p:txBody>
          <a:bodyPr wrap="square" lIns="27432" tIns="18288" rIns="27432" bIns="18288">
            <a:spAutoFit/>
          </a:bodyPr>
          <a:lstStyle/>
          <a:p>
            <a:pPr algn="ctr"/>
            <a:r>
              <a:rPr sz="760" b="0">
                <a:solidFill>
                  <a:srgbClr val="141E2D"/>
                </a:solidFill>
                <a:latin typeface="Aptos"/>
              </a:rPr>
              <a:t>low / reject</a:t>
            </a:r>
          </a:p>
        </p:txBody>
      </p:sp>
      <p:sp>
        <p:nvSpPr>
          <p:cNvPr id="96" name="Rectangle 95"/>
          <p:cNvSpPr/>
          <p:nvPr/>
        </p:nvSpPr>
        <p:spPr>
          <a:xfrm>
            <a:off x="6620257" y="3876773"/>
            <a:ext cx="1170432" cy="393192"/>
          </a:xfrm>
          <a:prstGeom prst="rect">
            <a:avLst/>
          </a:prstGeom>
          <a:solidFill>
            <a:srgbClr val="FFFFFF"/>
          </a:solidFill>
          <a:ln w="12700">
            <a:solidFill>
              <a:srgbClr val="DEE8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6665977" y="3968213"/>
            <a:ext cx="1078992" cy="146304"/>
          </a:xfrm>
          <a:prstGeom prst="rect">
            <a:avLst/>
          </a:prstGeom>
          <a:noFill/>
        </p:spPr>
        <p:txBody>
          <a:bodyPr wrap="square" lIns="27432" tIns="18288" rIns="27432" bIns="18288">
            <a:spAutoFit/>
          </a:bodyPr>
          <a:lstStyle/>
          <a:p>
            <a:pPr algn="ctr"/>
            <a:r>
              <a:rPr sz="760" b="1">
                <a:solidFill>
                  <a:srgbClr val="00848E"/>
                </a:solidFill>
                <a:latin typeface="Aptos"/>
              </a:rPr>
              <a:t>ŝ₁</a:t>
            </a:r>
          </a:p>
        </p:txBody>
      </p:sp>
      <p:sp>
        <p:nvSpPr>
          <p:cNvPr id="98" name="Rectangle 97"/>
          <p:cNvSpPr/>
          <p:nvPr/>
        </p:nvSpPr>
        <p:spPr>
          <a:xfrm>
            <a:off x="7790688" y="3876773"/>
            <a:ext cx="1600200" cy="393192"/>
          </a:xfrm>
          <a:prstGeom prst="rect">
            <a:avLst/>
          </a:prstGeom>
          <a:solidFill>
            <a:srgbClr val="FFFFFF"/>
          </a:solidFill>
          <a:ln w="12700">
            <a:solidFill>
              <a:srgbClr val="DEE8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7836409" y="3968213"/>
            <a:ext cx="1508760" cy="146304"/>
          </a:xfrm>
          <a:prstGeom prst="rect">
            <a:avLst/>
          </a:prstGeom>
          <a:noFill/>
        </p:spPr>
        <p:txBody>
          <a:bodyPr wrap="square" lIns="27432" tIns="18288" rIns="27432" bIns="18288">
            <a:spAutoFit/>
          </a:bodyPr>
          <a:lstStyle/>
          <a:p>
            <a:pPr algn="ctr"/>
            <a:r>
              <a:rPr sz="760" b="0">
                <a:solidFill>
                  <a:srgbClr val="141E2D"/>
                </a:solidFill>
                <a:latin typeface="Aptos"/>
              </a:rPr>
              <a:t>+0.93</a:t>
            </a:r>
          </a:p>
        </p:txBody>
      </p:sp>
      <p:sp>
        <p:nvSpPr>
          <p:cNvPr id="100" name="Rectangle 99"/>
          <p:cNvSpPr/>
          <p:nvPr/>
        </p:nvSpPr>
        <p:spPr>
          <a:xfrm>
            <a:off x="9390889" y="3876773"/>
            <a:ext cx="1920240" cy="393192"/>
          </a:xfrm>
          <a:prstGeom prst="rect">
            <a:avLst/>
          </a:prstGeom>
          <a:solidFill>
            <a:srgbClr val="FFFFFF"/>
          </a:solidFill>
          <a:ln w="12700">
            <a:solidFill>
              <a:srgbClr val="DEE8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9436609" y="3968213"/>
            <a:ext cx="1828800" cy="146304"/>
          </a:xfrm>
          <a:prstGeom prst="rect">
            <a:avLst/>
          </a:prstGeom>
          <a:noFill/>
        </p:spPr>
        <p:txBody>
          <a:bodyPr wrap="square" lIns="27432" tIns="18288" rIns="27432" bIns="18288">
            <a:spAutoFit/>
          </a:bodyPr>
          <a:lstStyle/>
          <a:p>
            <a:pPr algn="ctr"/>
            <a:r>
              <a:rPr sz="760" b="0">
                <a:solidFill>
                  <a:srgbClr val="141E2D"/>
                </a:solidFill>
                <a:latin typeface="Aptos"/>
              </a:rPr>
              <a:t>H − V</a:t>
            </a:r>
          </a:p>
        </p:txBody>
      </p:sp>
      <p:sp>
        <p:nvSpPr>
          <p:cNvPr id="102" name="Rectangle 101"/>
          <p:cNvSpPr/>
          <p:nvPr/>
        </p:nvSpPr>
        <p:spPr>
          <a:xfrm>
            <a:off x="6620257" y="4269965"/>
            <a:ext cx="1170432" cy="393192"/>
          </a:xfrm>
          <a:prstGeom prst="rect">
            <a:avLst/>
          </a:prstGeom>
          <a:solidFill>
            <a:srgbClr val="F7FBFC"/>
          </a:solidFill>
          <a:ln w="12700">
            <a:solidFill>
              <a:srgbClr val="DEE8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6665977" y="4361405"/>
            <a:ext cx="1078992" cy="146304"/>
          </a:xfrm>
          <a:prstGeom prst="rect">
            <a:avLst/>
          </a:prstGeom>
          <a:noFill/>
        </p:spPr>
        <p:txBody>
          <a:bodyPr wrap="square" lIns="27432" tIns="18288" rIns="27432" bIns="18288">
            <a:spAutoFit/>
          </a:bodyPr>
          <a:lstStyle/>
          <a:p>
            <a:pPr algn="ctr"/>
            <a:r>
              <a:rPr sz="760" b="1">
                <a:solidFill>
                  <a:srgbClr val="00848E"/>
                </a:solidFill>
                <a:latin typeface="Aptos"/>
              </a:rPr>
              <a:t>ŝ₂</a:t>
            </a:r>
          </a:p>
        </p:txBody>
      </p:sp>
      <p:sp>
        <p:nvSpPr>
          <p:cNvPr id="104" name="Rectangle 103"/>
          <p:cNvSpPr/>
          <p:nvPr/>
        </p:nvSpPr>
        <p:spPr>
          <a:xfrm>
            <a:off x="7790688" y="4269965"/>
            <a:ext cx="1600200" cy="393192"/>
          </a:xfrm>
          <a:prstGeom prst="rect">
            <a:avLst/>
          </a:prstGeom>
          <a:solidFill>
            <a:srgbClr val="F7FBFC"/>
          </a:solidFill>
          <a:ln w="12700">
            <a:solidFill>
              <a:srgbClr val="DEE8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7836409" y="4361405"/>
            <a:ext cx="1508760" cy="146304"/>
          </a:xfrm>
          <a:prstGeom prst="rect">
            <a:avLst/>
          </a:prstGeom>
          <a:noFill/>
        </p:spPr>
        <p:txBody>
          <a:bodyPr wrap="square" lIns="27432" tIns="18288" rIns="27432" bIns="18288">
            <a:spAutoFit/>
          </a:bodyPr>
          <a:lstStyle/>
          <a:p>
            <a:pPr algn="ctr"/>
            <a:r>
              <a:rPr sz="760" b="0">
                <a:solidFill>
                  <a:srgbClr val="141E2D"/>
                </a:solidFill>
                <a:latin typeface="Aptos"/>
              </a:rPr>
              <a:t>+0.40</a:t>
            </a:r>
          </a:p>
        </p:txBody>
      </p:sp>
      <p:sp>
        <p:nvSpPr>
          <p:cNvPr id="106" name="Rectangle 105"/>
          <p:cNvSpPr/>
          <p:nvPr/>
        </p:nvSpPr>
        <p:spPr>
          <a:xfrm>
            <a:off x="9390889" y="4269965"/>
            <a:ext cx="1920240" cy="393192"/>
          </a:xfrm>
          <a:prstGeom prst="rect">
            <a:avLst/>
          </a:prstGeom>
          <a:solidFill>
            <a:srgbClr val="F7FBFC"/>
          </a:solidFill>
          <a:ln w="12700">
            <a:solidFill>
              <a:srgbClr val="DEE8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9436609" y="4361405"/>
            <a:ext cx="1828800" cy="146304"/>
          </a:xfrm>
          <a:prstGeom prst="rect">
            <a:avLst/>
          </a:prstGeom>
          <a:noFill/>
        </p:spPr>
        <p:txBody>
          <a:bodyPr wrap="square" lIns="27432" tIns="18288" rIns="27432" bIns="18288">
            <a:spAutoFit/>
          </a:bodyPr>
          <a:lstStyle/>
          <a:p>
            <a:pPr algn="ctr"/>
            <a:r>
              <a:rPr sz="760" b="0">
                <a:solidFill>
                  <a:srgbClr val="141E2D"/>
                </a:solidFill>
                <a:latin typeface="Aptos"/>
              </a:rPr>
              <a:t>D − A; A not yet measured</a:t>
            </a:r>
          </a:p>
        </p:txBody>
      </p:sp>
      <p:sp>
        <p:nvSpPr>
          <p:cNvPr id="108" name="Rectangle 107"/>
          <p:cNvSpPr/>
          <p:nvPr/>
        </p:nvSpPr>
        <p:spPr>
          <a:xfrm>
            <a:off x="6620257" y="4663157"/>
            <a:ext cx="1170432" cy="393192"/>
          </a:xfrm>
          <a:prstGeom prst="rect">
            <a:avLst/>
          </a:prstGeom>
          <a:solidFill>
            <a:srgbClr val="FFFFFF"/>
          </a:solidFill>
          <a:ln w="12700">
            <a:solidFill>
              <a:srgbClr val="DEE8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6665977" y="4754597"/>
            <a:ext cx="1078992" cy="146304"/>
          </a:xfrm>
          <a:prstGeom prst="rect">
            <a:avLst/>
          </a:prstGeom>
          <a:noFill/>
        </p:spPr>
        <p:txBody>
          <a:bodyPr wrap="square" lIns="27432" tIns="18288" rIns="27432" bIns="18288">
            <a:spAutoFit/>
          </a:bodyPr>
          <a:lstStyle/>
          <a:p>
            <a:pPr algn="ctr"/>
            <a:r>
              <a:rPr sz="760" b="1">
                <a:solidFill>
                  <a:srgbClr val="00848E"/>
                </a:solidFill>
                <a:latin typeface="Aptos"/>
              </a:rPr>
              <a:t>ŝ₃</a:t>
            </a:r>
          </a:p>
        </p:txBody>
      </p:sp>
      <p:sp>
        <p:nvSpPr>
          <p:cNvPr id="110" name="Rectangle 109"/>
          <p:cNvSpPr/>
          <p:nvPr/>
        </p:nvSpPr>
        <p:spPr>
          <a:xfrm>
            <a:off x="7790688" y="4663157"/>
            <a:ext cx="1600200" cy="393192"/>
          </a:xfrm>
          <a:prstGeom prst="rect">
            <a:avLst/>
          </a:prstGeom>
          <a:solidFill>
            <a:srgbClr val="FFFFFF"/>
          </a:solidFill>
          <a:ln w="12700">
            <a:solidFill>
              <a:srgbClr val="DEE8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110"/>
          <p:cNvSpPr txBox="1"/>
          <p:nvPr/>
        </p:nvSpPr>
        <p:spPr>
          <a:xfrm>
            <a:off x="7836409" y="4754597"/>
            <a:ext cx="1508760" cy="146304"/>
          </a:xfrm>
          <a:prstGeom prst="rect">
            <a:avLst/>
          </a:prstGeom>
          <a:noFill/>
        </p:spPr>
        <p:txBody>
          <a:bodyPr wrap="square" lIns="27432" tIns="18288" rIns="27432" bIns="18288">
            <a:spAutoFit/>
          </a:bodyPr>
          <a:lstStyle/>
          <a:p>
            <a:pPr algn="ctr"/>
            <a:r>
              <a:rPr sz="760" b="0">
                <a:solidFill>
                  <a:srgbClr val="141E2D"/>
                </a:solidFill>
                <a:latin typeface="Aptos"/>
              </a:rPr>
              <a:t>not measured</a:t>
            </a:r>
          </a:p>
        </p:txBody>
      </p:sp>
      <p:sp>
        <p:nvSpPr>
          <p:cNvPr id="112" name="Rectangle 111"/>
          <p:cNvSpPr/>
          <p:nvPr/>
        </p:nvSpPr>
        <p:spPr>
          <a:xfrm>
            <a:off x="9390889" y="4663157"/>
            <a:ext cx="1920240" cy="393192"/>
          </a:xfrm>
          <a:prstGeom prst="rect">
            <a:avLst/>
          </a:prstGeom>
          <a:solidFill>
            <a:srgbClr val="FFFFFF"/>
          </a:solidFill>
          <a:ln w="12700">
            <a:solidFill>
              <a:srgbClr val="DEE8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9436609" y="4754597"/>
            <a:ext cx="1828800" cy="146304"/>
          </a:xfrm>
          <a:prstGeom prst="rect">
            <a:avLst/>
          </a:prstGeom>
          <a:noFill/>
        </p:spPr>
        <p:txBody>
          <a:bodyPr wrap="square" lIns="27432" tIns="18288" rIns="27432" bIns="18288">
            <a:spAutoFit/>
          </a:bodyPr>
          <a:lstStyle/>
          <a:p>
            <a:pPr algn="ctr"/>
            <a:r>
              <a:rPr sz="760" b="0">
                <a:solidFill>
                  <a:srgbClr val="141E2D"/>
                </a:solidFill>
                <a:latin typeface="Aptos"/>
              </a:rPr>
              <a:t>requires R − L channel</a:t>
            </a:r>
          </a:p>
        </p:txBody>
      </p:sp>
      <p:sp>
        <p:nvSpPr>
          <p:cNvPr id="117" name="Rounded Rectangle 116"/>
          <p:cNvSpPr/>
          <p:nvPr/>
        </p:nvSpPr>
        <p:spPr>
          <a:xfrm>
            <a:off x="502920" y="5998464"/>
            <a:ext cx="11201400" cy="438912"/>
          </a:xfrm>
          <a:prstGeom prst="roundRect">
            <a:avLst/>
          </a:prstGeom>
          <a:solidFill>
            <a:srgbClr val="E8F8FA"/>
          </a:solidFill>
          <a:ln w="12700">
            <a:solidFill>
              <a:srgbClr val="9BD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Oval 117"/>
          <p:cNvSpPr/>
          <p:nvPr/>
        </p:nvSpPr>
        <p:spPr>
          <a:xfrm>
            <a:off x="749808" y="6126480"/>
            <a:ext cx="146304" cy="146304"/>
          </a:xfrm>
          <a:prstGeom prst="ellipse">
            <a:avLst/>
          </a:prstGeom>
          <a:solidFill>
            <a:srgbClr val="009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TextBox 118"/>
          <p:cNvSpPr txBox="1"/>
          <p:nvPr/>
        </p:nvSpPr>
        <p:spPr>
          <a:xfrm>
            <a:off x="978408" y="6071616"/>
            <a:ext cx="10287000" cy="256032"/>
          </a:xfrm>
          <a:prstGeom prst="rect">
            <a:avLst/>
          </a:prstGeom>
          <a:noFill/>
        </p:spPr>
        <p:txBody>
          <a:bodyPr wrap="square" lIns="27432" tIns="18288" rIns="27432" bIns="18288">
            <a:spAutoFit/>
          </a:bodyPr>
          <a:lstStyle/>
          <a:p>
            <a:r>
              <a:rPr sz="1019" b="1">
                <a:solidFill>
                  <a:srgbClr val="141E2D"/>
                </a:solidFill>
                <a:latin typeface="Aptos"/>
              </a:rPr>
              <a:t>The limitation is observability: linear measurements estimate S₁/S₂ but cannot uniquely determine the sign or magnitude of S₃.</a:t>
            </a:r>
          </a:p>
        </p:txBody>
      </p:sp>
      <p:pic>
        <p:nvPicPr>
          <p:cNvPr id="2" name="Picture 1">
            <a:extLst>
              <a:ext uri="{FF2B5EF4-FFF2-40B4-BE49-F238E27FC236}">
                <a16:creationId xmlns:a16="http://schemas.microsoft.com/office/drawing/2014/main" id="{F7E21076-E926-9B1B-F31A-8EBB3190008B}"/>
              </a:ext>
            </a:extLst>
          </p:cNvPr>
          <p:cNvPicPr>
            <a:picLocks noChangeAspect="1"/>
          </p:cNvPicPr>
          <p:nvPr/>
        </p:nvPicPr>
        <p:blipFill>
          <a:blip r:embed="rId3"/>
          <a:stretch>
            <a:fillRect/>
          </a:stretch>
        </p:blipFill>
        <p:spPr>
          <a:xfrm>
            <a:off x="1562269" y="1783080"/>
            <a:ext cx="2965366" cy="3401568"/>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117"/>
                                        </p:tgtEl>
                                        <p:attrNameLst>
                                          <p:attrName>style.visibility</p:attrName>
                                        </p:attrNameLst>
                                      </p:cBhvr>
                                      <p:to>
                                        <p:strVal val="visible"/>
                                      </p:to>
                                    </p:set>
                                  </p:childTnLst>
                                </p:cTn>
                              </p:par>
                              <p:par>
                                <p:cTn id="9" presetID="1" presetClass="entr" presetSubtype="0" fill="hold" grpId="1" nodeType="withEffect">
                                  <p:stCondLst>
                                    <p:cond delay="0"/>
                                  </p:stCondLst>
                                  <p:childTnLst>
                                    <p:set>
                                      <p:cBhvr>
                                        <p:cTn id="10" dur="1" fill="hold">
                                          <p:stCondLst>
                                            <p:cond delay="0"/>
                                          </p:stCondLst>
                                        </p:cTn>
                                        <p:tgtEl>
                                          <p:spTgt spid="118"/>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1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65" grpId="0" animBg="1"/>
      <p:bldP spid="66"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P spid="99" grpId="0" animBg="1"/>
      <p:bldP spid="100" grpId="0" animBg="1"/>
      <p:bldP spid="101" grpId="0" animBg="1"/>
      <p:bldP spid="102" grpId="0" animBg="1"/>
      <p:bldP spid="103" grpId="0" animBg="1"/>
      <p:bldP spid="104" grpId="0" animBg="1"/>
      <p:bldP spid="105" grpId="0" animBg="1"/>
      <p:bldP spid="106" grpId="0" animBg="1"/>
      <p:bldP spid="107" grpId="0" animBg="1"/>
      <p:bldP spid="108" grpId="0" animBg="1"/>
      <p:bldP spid="109" grpId="0" animBg="1"/>
      <p:bldP spid="110" grpId="0" animBg="1"/>
      <p:bldP spid="111" grpId="0" animBg="1"/>
      <p:bldP spid="112" grpId="0" animBg="1"/>
      <p:bldP spid="113" grpId="0" animBg="1"/>
      <p:bldP spid="117" grpId="0" animBg="1"/>
      <p:bldP spid="117" grpId="1" animBg="1"/>
      <p:bldP spid="118" grpId="0" animBg="1"/>
      <p:bldP spid="118" grpId="1" animBg="1"/>
      <p:bldP spid="119" grpId="0" animBg="1"/>
      <p:bldP spid="119" grpId="1"/>
    </p:bldLst>
  </p:timing>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EFF7FA"/>
        </a:solidFill>
        <a:effectLst/>
      </p:bgPr>
    </p:bg>
    <p:spTree>
      <p:nvGrpSpPr>
        <p:cNvPr id="1" name=""/>
        <p:cNvGrpSpPr/>
        <p:nvPr/>
      </p:nvGrpSpPr>
      <p:grpSpPr>
        <a:xfrm>
          <a:off x="0" y="0"/>
          <a:ext cx="0" cy="0"/>
          <a:chOff x="0" y="0"/>
          <a:chExt cx="0" cy="0"/>
        </a:xfrm>
      </p:grpSpPr>
      <p:sp>
        <p:nvSpPr>
          <p:cNvPr id="85" name="TextBox 84"/>
          <p:cNvSpPr txBox="1"/>
          <p:nvPr/>
        </p:nvSpPr>
        <p:spPr>
          <a:xfrm>
            <a:off x="502920" y="320040"/>
            <a:ext cx="9601200" cy="502920"/>
          </a:xfrm>
          <a:prstGeom prst="rect">
            <a:avLst/>
          </a:prstGeom>
          <a:noFill/>
        </p:spPr>
        <p:txBody>
          <a:bodyPr wrap="square" lIns="27432" tIns="18288" rIns="27432" bIns="18288">
            <a:spAutoFit/>
          </a:bodyPr>
          <a:lstStyle/>
          <a:p>
            <a:r>
              <a:rPr sz="3100" b="1">
                <a:solidFill>
                  <a:srgbClr val="141E2D"/>
                </a:solidFill>
                <a:latin typeface="Aptos"/>
              </a:rPr>
              <a:t>Full-Stokes path: make S₃ observable</a:t>
            </a:r>
          </a:p>
        </p:txBody>
      </p:sp>
      <p:sp>
        <p:nvSpPr>
          <p:cNvPr id="86" name="TextBox 85"/>
          <p:cNvSpPr txBox="1"/>
          <p:nvPr/>
        </p:nvSpPr>
        <p:spPr>
          <a:xfrm>
            <a:off x="530352" y="786384"/>
            <a:ext cx="9509760" cy="256032"/>
          </a:xfrm>
          <a:prstGeom prst="rect">
            <a:avLst/>
          </a:prstGeom>
          <a:noFill/>
        </p:spPr>
        <p:txBody>
          <a:bodyPr wrap="square" lIns="27432" tIns="18288" rIns="27432" bIns="18288">
            <a:spAutoFit/>
          </a:bodyPr>
          <a:lstStyle/>
          <a:p>
            <a:r>
              <a:rPr sz="1200" b="0">
                <a:solidFill>
                  <a:srgbClr val="5C6975"/>
                </a:solidFill>
                <a:latin typeface="Aptos"/>
              </a:rPr>
              <a:t>The next step is a calibrated switchable analyser — not another linear fit.</a:t>
            </a:r>
          </a:p>
        </p:txBody>
      </p:sp>
      <p:sp>
        <p:nvSpPr>
          <p:cNvPr id="87" name="Rectangle 86"/>
          <p:cNvSpPr/>
          <p:nvPr/>
        </p:nvSpPr>
        <p:spPr>
          <a:xfrm>
            <a:off x="530352" y="1051560"/>
            <a:ext cx="2514600" cy="36576"/>
          </a:xfrm>
          <a:prstGeom prst="rect">
            <a:avLst/>
          </a:prstGeom>
          <a:solidFill>
            <a:srgbClr val="009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502920" y="6537960"/>
            <a:ext cx="11201400" cy="9144"/>
          </a:xfrm>
          <a:prstGeom prst="rect">
            <a:avLst/>
          </a:prstGeom>
          <a:solidFill>
            <a:srgbClr val="DCE6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530352" y="6565392"/>
            <a:ext cx="3657600" cy="137160"/>
          </a:xfrm>
          <a:prstGeom prst="rect">
            <a:avLst/>
          </a:prstGeom>
          <a:noFill/>
        </p:spPr>
        <p:txBody>
          <a:bodyPr wrap="square" lIns="27432" tIns="18288" rIns="27432" bIns="18288">
            <a:spAutoFit/>
          </a:bodyPr>
          <a:lstStyle/>
          <a:p>
            <a:r>
              <a:rPr sz="650" b="0">
                <a:solidFill>
                  <a:srgbClr val="5C6975"/>
                </a:solidFill>
                <a:latin typeface="Aptos"/>
              </a:rPr>
              <a:t>Rydberg sensing | Conference</a:t>
            </a:r>
          </a:p>
        </p:txBody>
      </p:sp>
      <p:sp>
        <p:nvSpPr>
          <p:cNvPr id="90" name="TextBox 89"/>
          <p:cNvSpPr txBox="1"/>
          <p:nvPr/>
        </p:nvSpPr>
        <p:spPr>
          <a:xfrm>
            <a:off x="11567160" y="6565392"/>
            <a:ext cx="228600" cy="137160"/>
          </a:xfrm>
          <a:prstGeom prst="rect">
            <a:avLst/>
          </a:prstGeom>
          <a:noFill/>
        </p:spPr>
        <p:txBody>
          <a:bodyPr wrap="square" lIns="27432" tIns="18288" rIns="27432" bIns="18288">
            <a:spAutoFit/>
          </a:bodyPr>
          <a:lstStyle/>
          <a:p>
            <a:pPr algn="r"/>
            <a:r>
              <a:rPr sz="650" b="0">
                <a:solidFill>
                  <a:srgbClr val="5C6975"/>
                </a:solidFill>
                <a:latin typeface="Aptos"/>
              </a:rPr>
              <a:t>7</a:t>
            </a:r>
          </a:p>
        </p:txBody>
      </p:sp>
      <p:sp>
        <p:nvSpPr>
          <p:cNvPr id="91" name="Rounded Rectangle 90"/>
          <p:cNvSpPr/>
          <p:nvPr/>
        </p:nvSpPr>
        <p:spPr>
          <a:xfrm>
            <a:off x="502920" y="1307592"/>
            <a:ext cx="3429000" cy="4480560"/>
          </a:xfrm>
          <a:prstGeom prst="roundRect">
            <a:avLst/>
          </a:prstGeom>
          <a:solidFill>
            <a:srgbClr val="FFFFFF"/>
          </a:solidFill>
          <a:ln w="12700">
            <a:solidFill>
              <a:srgbClr val="CDDC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val 91"/>
          <p:cNvSpPr/>
          <p:nvPr/>
        </p:nvSpPr>
        <p:spPr>
          <a:xfrm>
            <a:off x="713232" y="1536192"/>
            <a:ext cx="310896" cy="310896"/>
          </a:xfrm>
          <a:prstGeom prst="ellipse">
            <a:avLst/>
          </a:prstGeom>
          <a:solidFill>
            <a:srgbClr val="009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713232" y="1581912"/>
            <a:ext cx="310896" cy="164592"/>
          </a:xfrm>
          <a:prstGeom prst="rect">
            <a:avLst/>
          </a:prstGeom>
          <a:noFill/>
        </p:spPr>
        <p:txBody>
          <a:bodyPr wrap="square" lIns="27432" tIns="18288" rIns="27432" bIns="18288">
            <a:spAutoFit/>
          </a:bodyPr>
          <a:lstStyle/>
          <a:p>
            <a:pPr algn="ctr"/>
            <a:r>
              <a:rPr sz="900" b="1">
                <a:solidFill>
                  <a:srgbClr val="FFFFFF"/>
                </a:solidFill>
                <a:latin typeface="Aptos"/>
              </a:rPr>
              <a:t>1</a:t>
            </a:r>
          </a:p>
        </p:txBody>
      </p:sp>
      <p:sp>
        <p:nvSpPr>
          <p:cNvPr id="94" name="TextBox 93"/>
          <p:cNvSpPr txBox="1"/>
          <p:nvPr/>
        </p:nvSpPr>
        <p:spPr>
          <a:xfrm>
            <a:off x="1097280" y="1517904"/>
            <a:ext cx="2651760" cy="329184"/>
          </a:xfrm>
          <a:prstGeom prst="rect">
            <a:avLst/>
          </a:prstGeom>
          <a:noFill/>
        </p:spPr>
        <p:txBody>
          <a:bodyPr wrap="square" lIns="27432" tIns="18288" rIns="27432" bIns="18288">
            <a:spAutoFit/>
          </a:bodyPr>
          <a:lstStyle/>
          <a:p>
            <a:r>
              <a:rPr sz="1700" b="1">
                <a:solidFill>
                  <a:srgbClr val="009BA5"/>
                </a:solidFill>
                <a:latin typeface="Aptos"/>
              </a:rPr>
              <a:t>Observability</a:t>
            </a:r>
          </a:p>
        </p:txBody>
      </p:sp>
      <p:sp>
        <p:nvSpPr>
          <p:cNvPr id="95" name="TextBox 94"/>
          <p:cNvSpPr txBox="1"/>
          <p:nvPr/>
        </p:nvSpPr>
        <p:spPr>
          <a:xfrm>
            <a:off x="960120" y="2267712"/>
            <a:ext cx="1005840" cy="320040"/>
          </a:xfrm>
          <a:prstGeom prst="rect">
            <a:avLst/>
          </a:prstGeom>
          <a:noFill/>
        </p:spPr>
        <p:txBody>
          <a:bodyPr wrap="square" lIns="27432" tIns="18288" rIns="27432" bIns="18288">
            <a:spAutoFit/>
          </a:bodyPr>
          <a:lstStyle/>
          <a:p>
            <a:pPr algn="ctr"/>
            <a:r>
              <a:rPr sz="2200" b="1">
                <a:solidFill>
                  <a:srgbClr val="5C6975"/>
                </a:solidFill>
                <a:latin typeface="Aptos"/>
              </a:rPr>
              <a:t>rank 3</a:t>
            </a:r>
          </a:p>
        </p:txBody>
      </p:sp>
      <p:sp>
        <p:nvSpPr>
          <p:cNvPr id="96" name="Right Arrow 95"/>
          <p:cNvSpPr/>
          <p:nvPr/>
        </p:nvSpPr>
        <p:spPr>
          <a:xfrm>
            <a:off x="2011680" y="2295144"/>
            <a:ext cx="640080" cy="256032"/>
          </a:xfrm>
          <a:prstGeom prst="rightArrow">
            <a:avLst/>
          </a:prstGeom>
          <a:solidFill>
            <a:srgbClr val="009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2697480" y="2231136"/>
            <a:ext cx="1005840" cy="320040"/>
          </a:xfrm>
          <a:prstGeom prst="rect">
            <a:avLst/>
          </a:prstGeom>
          <a:noFill/>
        </p:spPr>
        <p:txBody>
          <a:bodyPr wrap="square" lIns="27432" tIns="18288" rIns="27432" bIns="18288">
            <a:spAutoFit/>
          </a:bodyPr>
          <a:lstStyle/>
          <a:p>
            <a:pPr algn="ctr"/>
            <a:r>
              <a:rPr sz="2200" b="1" dirty="0">
                <a:solidFill>
                  <a:srgbClr val="CA007A"/>
                </a:solidFill>
                <a:latin typeface="Aptos"/>
              </a:rPr>
              <a:t>rank 4</a:t>
            </a:r>
          </a:p>
        </p:txBody>
      </p:sp>
      <p:sp>
        <p:nvSpPr>
          <p:cNvPr id="98" name="TextBox 97"/>
          <p:cNvSpPr txBox="1"/>
          <p:nvPr/>
        </p:nvSpPr>
        <p:spPr>
          <a:xfrm>
            <a:off x="868680" y="2871216"/>
            <a:ext cx="2697480" cy="320040"/>
          </a:xfrm>
          <a:prstGeom prst="rect">
            <a:avLst/>
          </a:prstGeom>
          <a:noFill/>
        </p:spPr>
        <p:txBody>
          <a:bodyPr wrap="square" lIns="27432" tIns="18288" rIns="27432" bIns="18288">
            <a:spAutoFit/>
          </a:bodyPr>
          <a:lstStyle/>
          <a:p>
            <a:r>
              <a:rPr sz="1050" b="0">
                <a:solidFill>
                  <a:srgbClr val="141E2D"/>
                </a:solidFill>
                <a:latin typeface="Aptos"/>
              </a:rPr>
              <a:t>Linear projections contain S₀, S₁ and S₂.</a:t>
            </a:r>
          </a:p>
        </p:txBody>
      </p:sp>
      <p:sp>
        <p:nvSpPr>
          <p:cNvPr id="99" name="TextBox 98"/>
          <p:cNvSpPr txBox="1"/>
          <p:nvPr/>
        </p:nvSpPr>
        <p:spPr>
          <a:xfrm>
            <a:off x="868680" y="3493008"/>
            <a:ext cx="2697480" cy="658368"/>
          </a:xfrm>
          <a:prstGeom prst="rect">
            <a:avLst/>
          </a:prstGeom>
          <a:noFill/>
        </p:spPr>
        <p:txBody>
          <a:bodyPr wrap="square" lIns="27432" tIns="18288" rIns="27432" bIns="18288">
            <a:spAutoFit/>
          </a:bodyPr>
          <a:lstStyle/>
          <a:p>
            <a:r>
              <a:rPr sz="1050" b="0">
                <a:solidFill>
                  <a:srgbClr val="141E2D"/>
                </a:solidFill>
                <a:latin typeface="Aptos"/>
              </a:rPr>
              <a:t>One independent R/L or non-coplanar measurement supplies S₃ and closes the inverse problem.</a:t>
            </a:r>
          </a:p>
        </p:txBody>
      </p:sp>
      <p:sp>
        <p:nvSpPr>
          <p:cNvPr id="100" name="Rounded Rectangle 99"/>
          <p:cNvSpPr/>
          <p:nvPr/>
        </p:nvSpPr>
        <p:spPr>
          <a:xfrm>
            <a:off x="914400" y="4828032"/>
            <a:ext cx="2606040" cy="502920"/>
          </a:xfrm>
          <a:prstGeom prst="roundRect">
            <a:avLst/>
          </a:prstGeom>
          <a:solidFill>
            <a:srgbClr val="E8F8FA"/>
          </a:solidFill>
          <a:ln w="12700">
            <a:solidFill>
              <a:srgbClr val="009B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1051560" y="4965192"/>
            <a:ext cx="2331720" cy="137160"/>
          </a:xfrm>
          <a:prstGeom prst="rect">
            <a:avLst/>
          </a:prstGeom>
          <a:noFill/>
        </p:spPr>
        <p:txBody>
          <a:bodyPr wrap="square" lIns="27432" tIns="18288" rIns="27432" bIns="18288">
            <a:spAutoFit/>
          </a:bodyPr>
          <a:lstStyle/>
          <a:p>
            <a:pPr algn="ctr"/>
            <a:r>
              <a:rPr sz="850" b="1">
                <a:solidFill>
                  <a:srgbClr val="141E2D"/>
                </a:solidFill>
                <a:latin typeface="Aptos"/>
              </a:rPr>
              <a:t>Design target: full-rank calibrated response matrix</a:t>
            </a:r>
          </a:p>
        </p:txBody>
      </p:sp>
      <p:sp>
        <p:nvSpPr>
          <p:cNvPr id="102" name="Rounded Rectangle 101"/>
          <p:cNvSpPr/>
          <p:nvPr/>
        </p:nvSpPr>
        <p:spPr>
          <a:xfrm>
            <a:off x="4224528" y="1307592"/>
            <a:ext cx="3429000" cy="4480560"/>
          </a:xfrm>
          <a:prstGeom prst="roundRect">
            <a:avLst/>
          </a:prstGeom>
          <a:solidFill>
            <a:srgbClr val="FFFFFF"/>
          </a:solidFill>
          <a:ln w="12700">
            <a:solidFill>
              <a:srgbClr val="CDDC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val 102"/>
          <p:cNvSpPr/>
          <p:nvPr/>
        </p:nvSpPr>
        <p:spPr>
          <a:xfrm>
            <a:off x="4434840" y="1536192"/>
            <a:ext cx="310896" cy="310896"/>
          </a:xfrm>
          <a:prstGeom prst="ellipse">
            <a:avLst/>
          </a:prstGeom>
          <a:solidFill>
            <a:srgbClr val="CA0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4434840" y="1581912"/>
            <a:ext cx="310896" cy="164592"/>
          </a:xfrm>
          <a:prstGeom prst="rect">
            <a:avLst/>
          </a:prstGeom>
          <a:noFill/>
        </p:spPr>
        <p:txBody>
          <a:bodyPr wrap="square" lIns="27432" tIns="18288" rIns="27432" bIns="18288">
            <a:spAutoFit/>
          </a:bodyPr>
          <a:lstStyle/>
          <a:p>
            <a:pPr algn="ctr"/>
            <a:r>
              <a:rPr sz="900" b="1">
                <a:solidFill>
                  <a:srgbClr val="FFFFFF"/>
                </a:solidFill>
                <a:latin typeface="Aptos"/>
              </a:rPr>
              <a:t>2</a:t>
            </a:r>
          </a:p>
        </p:txBody>
      </p:sp>
      <p:sp>
        <p:nvSpPr>
          <p:cNvPr id="105" name="TextBox 104"/>
          <p:cNvSpPr txBox="1"/>
          <p:nvPr/>
        </p:nvSpPr>
        <p:spPr>
          <a:xfrm>
            <a:off x="4818888" y="1517904"/>
            <a:ext cx="2651760" cy="329184"/>
          </a:xfrm>
          <a:prstGeom prst="rect">
            <a:avLst/>
          </a:prstGeom>
          <a:noFill/>
        </p:spPr>
        <p:txBody>
          <a:bodyPr wrap="square" lIns="27432" tIns="18288" rIns="27432" bIns="18288">
            <a:spAutoFit/>
          </a:bodyPr>
          <a:lstStyle/>
          <a:p>
            <a:r>
              <a:rPr sz="1700" b="1">
                <a:solidFill>
                  <a:srgbClr val="CA007A"/>
                </a:solidFill>
                <a:latin typeface="Aptos"/>
              </a:rPr>
              <a:t>Reconstruction</a:t>
            </a:r>
          </a:p>
        </p:txBody>
      </p:sp>
      <p:sp>
        <p:nvSpPr>
          <p:cNvPr id="106" name="Rounded Rectangle 105"/>
          <p:cNvSpPr/>
          <p:nvPr/>
        </p:nvSpPr>
        <p:spPr>
          <a:xfrm>
            <a:off x="4590288" y="2011680"/>
            <a:ext cx="2697480" cy="475488"/>
          </a:xfrm>
          <a:prstGeom prst="roundRect">
            <a:avLst/>
          </a:prstGeom>
          <a:solidFill>
            <a:srgbClr val="FDEBF6"/>
          </a:solidFill>
          <a:ln w="12700">
            <a:solidFill>
              <a:srgbClr val="CA00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4736592" y="2139696"/>
            <a:ext cx="2377440" cy="146304"/>
          </a:xfrm>
          <a:prstGeom prst="rect">
            <a:avLst/>
          </a:prstGeom>
          <a:noFill/>
        </p:spPr>
        <p:txBody>
          <a:bodyPr wrap="square" lIns="27432" tIns="18288" rIns="27432" bIns="18288">
            <a:spAutoFit/>
          </a:bodyPr>
          <a:lstStyle/>
          <a:p>
            <a:pPr algn="ctr"/>
            <a:r>
              <a:rPr sz="1200" b="1">
                <a:solidFill>
                  <a:srgbClr val="141E2D"/>
                </a:solidFill>
                <a:latin typeface="Aptos"/>
              </a:rPr>
              <a:t>q = A·S   →   Ŝ = A⁺q</a:t>
            </a:r>
          </a:p>
        </p:txBody>
      </p:sp>
      <p:sp>
        <p:nvSpPr>
          <p:cNvPr id="108" name="Rectangle 107"/>
          <p:cNvSpPr/>
          <p:nvPr/>
        </p:nvSpPr>
        <p:spPr>
          <a:xfrm>
            <a:off x="4773168" y="2743200"/>
            <a:ext cx="274320" cy="274320"/>
          </a:xfrm>
          <a:prstGeom prst="rect">
            <a:avLst/>
          </a:prstGeom>
          <a:solidFill>
            <a:srgbClr val="009BA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Rectangle 108"/>
          <p:cNvSpPr/>
          <p:nvPr/>
        </p:nvSpPr>
        <p:spPr>
          <a:xfrm>
            <a:off x="5065776" y="2743200"/>
            <a:ext cx="274320" cy="274320"/>
          </a:xfrm>
          <a:prstGeom prst="rect">
            <a:avLst/>
          </a:prstGeom>
          <a:solidFill>
            <a:srgbClr val="E8F8FA"/>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Rectangle 109"/>
          <p:cNvSpPr/>
          <p:nvPr/>
        </p:nvSpPr>
        <p:spPr>
          <a:xfrm>
            <a:off x="5358383" y="2743200"/>
            <a:ext cx="274320" cy="274320"/>
          </a:xfrm>
          <a:prstGeom prst="rect">
            <a:avLst/>
          </a:prstGeom>
          <a:solidFill>
            <a:srgbClr val="FDEB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Rectangle 110"/>
          <p:cNvSpPr/>
          <p:nvPr/>
        </p:nvSpPr>
        <p:spPr>
          <a:xfrm>
            <a:off x="5650992" y="2743200"/>
            <a:ext cx="274320" cy="274320"/>
          </a:xfrm>
          <a:prstGeom prst="rect">
            <a:avLst/>
          </a:prstGeom>
          <a:solidFill>
            <a:srgbClr val="CA007A"/>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Rectangle 111"/>
          <p:cNvSpPr/>
          <p:nvPr/>
        </p:nvSpPr>
        <p:spPr>
          <a:xfrm>
            <a:off x="4773168" y="3035808"/>
            <a:ext cx="274320" cy="274320"/>
          </a:xfrm>
          <a:prstGeom prst="rect">
            <a:avLst/>
          </a:prstGeom>
          <a:solidFill>
            <a:srgbClr val="E8F8FA"/>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Rectangle 112"/>
          <p:cNvSpPr/>
          <p:nvPr/>
        </p:nvSpPr>
        <p:spPr>
          <a:xfrm>
            <a:off x="5065776" y="3035808"/>
            <a:ext cx="274320" cy="274320"/>
          </a:xfrm>
          <a:prstGeom prst="rect">
            <a:avLst/>
          </a:prstGeom>
          <a:solidFill>
            <a:srgbClr val="FDEB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Rectangle 113"/>
          <p:cNvSpPr/>
          <p:nvPr/>
        </p:nvSpPr>
        <p:spPr>
          <a:xfrm>
            <a:off x="5358383" y="3035808"/>
            <a:ext cx="274320" cy="274320"/>
          </a:xfrm>
          <a:prstGeom prst="rect">
            <a:avLst/>
          </a:prstGeom>
          <a:solidFill>
            <a:srgbClr val="CA007A"/>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Rectangle 114"/>
          <p:cNvSpPr/>
          <p:nvPr/>
        </p:nvSpPr>
        <p:spPr>
          <a:xfrm>
            <a:off x="5650992" y="3035808"/>
            <a:ext cx="274320" cy="274320"/>
          </a:xfrm>
          <a:prstGeom prst="rect">
            <a:avLst/>
          </a:prstGeom>
          <a:solidFill>
            <a:srgbClr val="009BA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Rectangle 115"/>
          <p:cNvSpPr/>
          <p:nvPr/>
        </p:nvSpPr>
        <p:spPr>
          <a:xfrm>
            <a:off x="4773168" y="3328416"/>
            <a:ext cx="274320" cy="274320"/>
          </a:xfrm>
          <a:prstGeom prst="rect">
            <a:avLst/>
          </a:prstGeom>
          <a:solidFill>
            <a:srgbClr val="FDEB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Rectangle 116"/>
          <p:cNvSpPr/>
          <p:nvPr/>
        </p:nvSpPr>
        <p:spPr>
          <a:xfrm>
            <a:off x="5065776" y="3328416"/>
            <a:ext cx="274320" cy="274320"/>
          </a:xfrm>
          <a:prstGeom prst="rect">
            <a:avLst/>
          </a:prstGeom>
          <a:solidFill>
            <a:srgbClr val="CA007A"/>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Rectangle 117"/>
          <p:cNvSpPr/>
          <p:nvPr/>
        </p:nvSpPr>
        <p:spPr>
          <a:xfrm>
            <a:off x="5358383" y="3328416"/>
            <a:ext cx="274320" cy="274320"/>
          </a:xfrm>
          <a:prstGeom prst="rect">
            <a:avLst/>
          </a:prstGeom>
          <a:solidFill>
            <a:srgbClr val="009BA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Rectangle 118"/>
          <p:cNvSpPr/>
          <p:nvPr/>
        </p:nvSpPr>
        <p:spPr>
          <a:xfrm>
            <a:off x="5650992" y="3328416"/>
            <a:ext cx="274320" cy="274320"/>
          </a:xfrm>
          <a:prstGeom prst="rect">
            <a:avLst/>
          </a:prstGeom>
          <a:solidFill>
            <a:srgbClr val="E8F8FA"/>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Rectangle 119"/>
          <p:cNvSpPr/>
          <p:nvPr/>
        </p:nvSpPr>
        <p:spPr>
          <a:xfrm>
            <a:off x="4773168" y="3621024"/>
            <a:ext cx="274320" cy="274320"/>
          </a:xfrm>
          <a:prstGeom prst="rect">
            <a:avLst/>
          </a:prstGeom>
          <a:solidFill>
            <a:srgbClr val="CA007A"/>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Rectangle 120"/>
          <p:cNvSpPr/>
          <p:nvPr/>
        </p:nvSpPr>
        <p:spPr>
          <a:xfrm>
            <a:off x="5065776" y="3621024"/>
            <a:ext cx="274320" cy="274320"/>
          </a:xfrm>
          <a:prstGeom prst="rect">
            <a:avLst/>
          </a:prstGeom>
          <a:solidFill>
            <a:srgbClr val="009BA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Rectangle 121"/>
          <p:cNvSpPr/>
          <p:nvPr/>
        </p:nvSpPr>
        <p:spPr>
          <a:xfrm>
            <a:off x="5358383" y="3621024"/>
            <a:ext cx="274320" cy="274320"/>
          </a:xfrm>
          <a:prstGeom prst="rect">
            <a:avLst/>
          </a:prstGeom>
          <a:solidFill>
            <a:srgbClr val="E8F8FA"/>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Rectangle 122"/>
          <p:cNvSpPr/>
          <p:nvPr/>
        </p:nvSpPr>
        <p:spPr>
          <a:xfrm>
            <a:off x="5650992" y="3621024"/>
            <a:ext cx="274320" cy="274320"/>
          </a:xfrm>
          <a:prstGeom prst="rect">
            <a:avLst/>
          </a:prstGeom>
          <a:solidFill>
            <a:srgbClr val="FDEB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6080760" y="2779776"/>
            <a:ext cx="1143000" cy="411480"/>
          </a:xfrm>
          <a:prstGeom prst="rect">
            <a:avLst/>
          </a:prstGeom>
          <a:noFill/>
        </p:spPr>
        <p:txBody>
          <a:bodyPr wrap="square" lIns="27432" tIns="18288" rIns="27432" bIns="18288">
            <a:spAutoFit/>
          </a:bodyPr>
          <a:lstStyle/>
          <a:p>
            <a:r>
              <a:rPr sz="830" b="0">
                <a:solidFill>
                  <a:srgbClr val="5C6975"/>
                </a:solidFill>
                <a:latin typeface="Aptos"/>
              </a:rPr>
              <a:t>A is measured</a:t>
            </a:r>
            <a:br/>
            <a:r>
              <a:rPr sz="830" b="0">
                <a:solidFill>
                  <a:srgbClr val="5C6975"/>
                </a:solidFill>
                <a:latin typeface="Aptos"/>
              </a:rPr>
              <a:t>from calibration</a:t>
            </a:r>
          </a:p>
        </p:txBody>
      </p:sp>
      <p:sp>
        <p:nvSpPr>
          <p:cNvPr id="125" name="TextBox 124"/>
          <p:cNvSpPr txBox="1"/>
          <p:nvPr/>
        </p:nvSpPr>
        <p:spPr>
          <a:xfrm>
            <a:off x="6080760" y="3246120"/>
            <a:ext cx="1234440" cy="411480"/>
          </a:xfrm>
          <a:prstGeom prst="rect">
            <a:avLst/>
          </a:prstGeom>
          <a:noFill/>
        </p:spPr>
        <p:txBody>
          <a:bodyPr wrap="square" lIns="27432" tIns="18288" rIns="27432" bIns="18288">
            <a:spAutoFit/>
          </a:bodyPr>
          <a:lstStyle/>
          <a:p>
            <a:r>
              <a:rPr sz="830" b="1">
                <a:solidFill>
                  <a:srgbClr val="141E2D"/>
                </a:solidFill>
                <a:latin typeface="Aptos"/>
              </a:rPr>
              <a:t>A⁺ maps responses</a:t>
            </a:r>
            <a:br/>
            <a:r>
              <a:rPr sz="830" b="1">
                <a:solidFill>
                  <a:srgbClr val="141E2D"/>
                </a:solidFill>
                <a:latin typeface="Aptos"/>
              </a:rPr>
              <a:t>back to Stokes space</a:t>
            </a:r>
          </a:p>
        </p:txBody>
      </p:sp>
      <p:sp>
        <p:nvSpPr>
          <p:cNvPr id="126" name="Rounded Rectangle 125"/>
          <p:cNvSpPr/>
          <p:nvPr/>
        </p:nvSpPr>
        <p:spPr>
          <a:xfrm>
            <a:off x="4617720" y="4233672"/>
            <a:ext cx="2606040" cy="658368"/>
          </a:xfrm>
          <a:prstGeom prst="roundRect">
            <a:avLst/>
          </a:prstGeom>
          <a:solidFill>
            <a:srgbClr val="FDEBF6"/>
          </a:solidFill>
          <a:ln w="12700">
            <a:solidFill>
              <a:srgbClr val="CA00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126"/>
          <p:cNvSpPr txBox="1"/>
          <p:nvPr/>
        </p:nvSpPr>
        <p:spPr>
          <a:xfrm>
            <a:off x="4773168" y="4416552"/>
            <a:ext cx="896112" cy="164592"/>
          </a:xfrm>
          <a:prstGeom prst="rect">
            <a:avLst/>
          </a:prstGeom>
          <a:noFill/>
        </p:spPr>
        <p:txBody>
          <a:bodyPr wrap="square" lIns="27432" tIns="18288" rIns="27432" bIns="18288">
            <a:spAutoFit/>
          </a:bodyPr>
          <a:lstStyle/>
          <a:p>
            <a:pPr algn="ctr"/>
            <a:r>
              <a:rPr sz="1600" b="1">
                <a:solidFill>
                  <a:srgbClr val="CA007A"/>
                </a:solidFill>
                <a:latin typeface="Aptos"/>
              </a:rPr>
              <a:t>≈ 1.17°</a:t>
            </a:r>
          </a:p>
        </p:txBody>
      </p:sp>
      <p:sp>
        <p:nvSpPr>
          <p:cNvPr id="128" name="TextBox 127"/>
          <p:cNvSpPr txBox="1"/>
          <p:nvPr/>
        </p:nvSpPr>
        <p:spPr>
          <a:xfrm>
            <a:off x="5596128" y="4343400"/>
            <a:ext cx="1417320" cy="274320"/>
          </a:xfrm>
          <a:prstGeom prst="rect">
            <a:avLst/>
          </a:prstGeom>
          <a:noFill/>
        </p:spPr>
        <p:txBody>
          <a:bodyPr wrap="square" lIns="27432" tIns="18288" rIns="27432" bIns="18288">
            <a:spAutoFit/>
          </a:bodyPr>
          <a:lstStyle/>
          <a:p>
            <a:r>
              <a:rPr sz="810" b="1">
                <a:solidFill>
                  <a:srgbClr val="141E2D"/>
                </a:solidFill>
                <a:latin typeface="Aptos"/>
              </a:rPr>
              <a:t>median angular error</a:t>
            </a:r>
            <a:br/>
            <a:r>
              <a:rPr sz="810" b="1">
                <a:solidFill>
                  <a:srgbClr val="141E2D"/>
                </a:solidFill>
                <a:latin typeface="Aptos"/>
              </a:rPr>
              <a:t>at 1% simulated noise</a:t>
            </a:r>
          </a:p>
        </p:txBody>
      </p:sp>
      <p:sp>
        <p:nvSpPr>
          <p:cNvPr id="129" name="TextBox 128"/>
          <p:cNvSpPr txBox="1"/>
          <p:nvPr/>
        </p:nvSpPr>
        <p:spPr>
          <a:xfrm>
            <a:off x="4709160" y="5138928"/>
            <a:ext cx="2377440" cy="164592"/>
          </a:xfrm>
          <a:prstGeom prst="rect">
            <a:avLst/>
          </a:prstGeom>
          <a:noFill/>
        </p:spPr>
        <p:txBody>
          <a:bodyPr wrap="square" lIns="27432" tIns="18288" rIns="27432" bIns="18288">
            <a:spAutoFit/>
          </a:bodyPr>
          <a:lstStyle/>
          <a:p>
            <a:pPr algn="ctr"/>
            <a:r>
              <a:rPr sz="810" b="0">
                <a:solidFill>
                  <a:srgbClr val="5C6975"/>
                </a:solidFill>
                <a:latin typeface="Aptos"/>
              </a:rPr>
              <a:t>Four non-coplanar states reduce noise amplification.</a:t>
            </a:r>
          </a:p>
        </p:txBody>
      </p:sp>
      <p:sp>
        <p:nvSpPr>
          <p:cNvPr id="130" name="Rounded Rectangle 129"/>
          <p:cNvSpPr/>
          <p:nvPr/>
        </p:nvSpPr>
        <p:spPr>
          <a:xfrm>
            <a:off x="7946136" y="1307592"/>
            <a:ext cx="3429000" cy="4480560"/>
          </a:xfrm>
          <a:prstGeom prst="roundRect">
            <a:avLst/>
          </a:prstGeom>
          <a:solidFill>
            <a:srgbClr val="FFFFFF"/>
          </a:solidFill>
          <a:ln w="12700">
            <a:solidFill>
              <a:srgbClr val="CDDC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Oval 130"/>
          <p:cNvSpPr/>
          <p:nvPr/>
        </p:nvSpPr>
        <p:spPr>
          <a:xfrm>
            <a:off x="8156448" y="1536192"/>
            <a:ext cx="310896" cy="310896"/>
          </a:xfrm>
          <a:prstGeom prst="ellipse">
            <a:avLst/>
          </a:prstGeom>
          <a:solidFill>
            <a:srgbClr val="F8AE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TextBox 131"/>
          <p:cNvSpPr txBox="1"/>
          <p:nvPr/>
        </p:nvSpPr>
        <p:spPr>
          <a:xfrm>
            <a:off x="8156448" y="1581912"/>
            <a:ext cx="310896" cy="164592"/>
          </a:xfrm>
          <a:prstGeom prst="rect">
            <a:avLst/>
          </a:prstGeom>
          <a:noFill/>
        </p:spPr>
        <p:txBody>
          <a:bodyPr wrap="square" lIns="27432" tIns="18288" rIns="27432" bIns="18288">
            <a:spAutoFit/>
          </a:bodyPr>
          <a:lstStyle/>
          <a:p>
            <a:pPr algn="ctr"/>
            <a:r>
              <a:rPr sz="900" b="1">
                <a:solidFill>
                  <a:srgbClr val="FFFFFF"/>
                </a:solidFill>
                <a:latin typeface="Aptos"/>
              </a:rPr>
              <a:t>3</a:t>
            </a:r>
          </a:p>
        </p:txBody>
      </p:sp>
      <p:sp>
        <p:nvSpPr>
          <p:cNvPr id="133" name="TextBox 132"/>
          <p:cNvSpPr txBox="1"/>
          <p:nvPr/>
        </p:nvSpPr>
        <p:spPr>
          <a:xfrm>
            <a:off x="8540496" y="1517904"/>
            <a:ext cx="2651760" cy="329184"/>
          </a:xfrm>
          <a:prstGeom prst="rect">
            <a:avLst/>
          </a:prstGeom>
          <a:noFill/>
        </p:spPr>
        <p:txBody>
          <a:bodyPr wrap="square" lIns="27432" tIns="18288" rIns="27432" bIns="18288">
            <a:spAutoFit/>
          </a:bodyPr>
          <a:lstStyle/>
          <a:p>
            <a:r>
              <a:rPr sz="1700" b="1">
                <a:solidFill>
                  <a:srgbClr val="F8AE1C"/>
                </a:solidFill>
                <a:latin typeface="Aptos"/>
              </a:rPr>
              <a:t>Hardware route</a:t>
            </a:r>
          </a:p>
        </p:txBody>
      </p:sp>
      <p:sp>
        <p:nvSpPr>
          <p:cNvPr id="136" name="TextBox 135"/>
          <p:cNvSpPr txBox="1"/>
          <p:nvPr/>
        </p:nvSpPr>
        <p:spPr>
          <a:xfrm>
            <a:off x="8348472" y="4279392"/>
            <a:ext cx="2615184" cy="329184"/>
          </a:xfrm>
          <a:prstGeom prst="rect">
            <a:avLst/>
          </a:prstGeom>
          <a:noFill/>
        </p:spPr>
        <p:txBody>
          <a:bodyPr wrap="square" lIns="27432" tIns="18288" rIns="27432" bIns="18288">
            <a:spAutoFit/>
          </a:bodyPr>
          <a:lstStyle/>
          <a:p>
            <a:pPr algn="ctr"/>
            <a:r>
              <a:rPr sz="930" b="1">
                <a:solidFill>
                  <a:srgbClr val="141E2D"/>
                </a:solidFill>
                <a:latin typeface="Aptos"/>
              </a:rPr>
              <a:t>Electronic bias states change the RF projection before the vapour cell.</a:t>
            </a:r>
          </a:p>
        </p:txBody>
      </p:sp>
      <p:sp>
        <p:nvSpPr>
          <p:cNvPr id="137" name="Rounded Rectangle 136"/>
          <p:cNvSpPr/>
          <p:nvPr/>
        </p:nvSpPr>
        <p:spPr>
          <a:xfrm>
            <a:off x="8357616" y="4882896"/>
            <a:ext cx="2606040" cy="493776"/>
          </a:xfrm>
          <a:prstGeom prst="roundRect">
            <a:avLst/>
          </a:prstGeom>
          <a:solidFill>
            <a:srgbClr val="FFF7DE"/>
          </a:solidFill>
          <a:ln w="12700">
            <a:solidFill>
              <a:srgbClr val="F8AE1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TextBox 137"/>
          <p:cNvSpPr txBox="1"/>
          <p:nvPr/>
        </p:nvSpPr>
        <p:spPr>
          <a:xfrm>
            <a:off x="8476488" y="5058231"/>
            <a:ext cx="2377440" cy="162993"/>
          </a:xfrm>
          <a:prstGeom prst="rect">
            <a:avLst/>
          </a:prstGeom>
          <a:noFill/>
        </p:spPr>
        <p:txBody>
          <a:bodyPr wrap="square" lIns="27432" tIns="18288" rIns="27432" bIns="18288">
            <a:spAutoFit/>
          </a:bodyPr>
          <a:lstStyle/>
          <a:p>
            <a:pPr algn="ctr"/>
            <a:r>
              <a:rPr lang="en-AU" sz="819" b="1" dirty="0">
                <a:solidFill>
                  <a:srgbClr val="141E2D"/>
                </a:solidFill>
                <a:latin typeface="Aptos"/>
              </a:rPr>
              <a:t>R</a:t>
            </a:r>
            <a:r>
              <a:rPr sz="819" b="1" dirty="0" err="1">
                <a:solidFill>
                  <a:srgbClr val="141E2D"/>
                </a:solidFill>
                <a:latin typeface="Aptos"/>
              </a:rPr>
              <a:t>epeatable</a:t>
            </a:r>
            <a:r>
              <a:rPr sz="819" b="1" dirty="0">
                <a:solidFill>
                  <a:srgbClr val="141E2D"/>
                </a:solidFill>
                <a:latin typeface="Aptos"/>
              </a:rPr>
              <a:t> state switching</a:t>
            </a:r>
          </a:p>
        </p:txBody>
      </p:sp>
      <p:sp>
        <p:nvSpPr>
          <p:cNvPr id="139" name="Rounded Rectangle 138"/>
          <p:cNvSpPr/>
          <p:nvPr/>
        </p:nvSpPr>
        <p:spPr>
          <a:xfrm>
            <a:off x="502920" y="5998464"/>
            <a:ext cx="11201400" cy="438912"/>
          </a:xfrm>
          <a:prstGeom prst="roundRect">
            <a:avLst/>
          </a:prstGeom>
          <a:solidFill>
            <a:srgbClr val="E8F8FA"/>
          </a:solidFill>
          <a:ln w="12700">
            <a:solidFill>
              <a:srgbClr val="9BD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Oval 139"/>
          <p:cNvSpPr/>
          <p:nvPr/>
        </p:nvSpPr>
        <p:spPr>
          <a:xfrm>
            <a:off x="749808" y="6126480"/>
            <a:ext cx="146304" cy="146304"/>
          </a:xfrm>
          <a:prstGeom prst="ellipse">
            <a:avLst/>
          </a:prstGeom>
          <a:solidFill>
            <a:srgbClr val="009B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TextBox 140"/>
          <p:cNvSpPr txBox="1"/>
          <p:nvPr/>
        </p:nvSpPr>
        <p:spPr>
          <a:xfrm>
            <a:off x="978408" y="6071616"/>
            <a:ext cx="10287000" cy="193771"/>
          </a:xfrm>
          <a:prstGeom prst="rect">
            <a:avLst/>
          </a:prstGeom>
          <a:noFill/>
        </p:spPr>
        <p:txBody>
          <a:bodyPr wrap="square" lIns="27432" tIns="18288" rIns="27432" bIns="18288">
            <a:spAutoFit/>
          </a:bodyPr>
          <a:lstStyle/>
          <a:p>
            <a:r>
              <a:rPr sz="1019" b="1" dirty="0">
                <a:solidFill>
                  <a:srgbClr val="141E2D"/>
                </a:solidFill>
                <a:latin typeface="Aptos"/>
              </a:rPr>
              <a:t>Next proof: calibrate the switchable </a:t>
            </a:r>
            <a:r>
              <a:rPr sz="1019" b="1" dirty="0" err="1">
                <a:solidFill>
                  <a:srgbClr val="141E2D"/>
                </a:solidFill>
                <a:latin typeface="Aptos"/>
              </a:rPr>
              <a:t>analyser</a:t>
            </a:r>
            <a:r>
              <a:rPr sz="1019" b="1" dirty="0">
                <a:solidFill>
                  <a:srgbClr val="141E2D"/>
                </a:solidFill>
                <a:latin typeface="Aptos"/>
              </a:rPr>
              <a:t>, reconstruct held-out linear + circular states, and verify angular error and handedness.</a:t>
            </a:r>
          </a:p>
        </p:txBody>
      </p:sp>
      <p:pic>
        <p:nvPicPr>
          <p:cNvPr id="3" name="Picture 2">
            <a:extLst>
              <a:ext uri="{FF2B5EF4-FFF2-40B4-BE49-F238E27FC236}">
                <a16:creationId xmlns:a16="http://schemas.microsoft.com/office/drawing/2014/main" id="{E5477A57-2788-CF88-997D-A67B066CEF6B}"/>
              </a:ext>
            </a:extLst>
          </p:cNvPr>
          <p:cNvPicPr>
            <a:picLocks noChangeAspect="1"/>
          </p:cNvPicPr>
          <p:nvPr/>
        </p:nvPicPr>
        <p:blipFill>
          <a:blip r:embed="rId3"/>
          <a:stretch>
            <a:fillRect/>
          </a:stretch>
        </p:blipFill>
        <p:spPr>
          <a:xfrm>
            <a:off x="8407909" y="1958255"/>
            <a:ext cx="2505453" cy="2160451"/>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139"/>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140"/>
                                        </p:tgtEl>
                                        <p:attrNameLst>
                                          <p:attrName>style.visibility</p:attrName>
                                        </p:attrNameLst>
                                      </p:cBhvr>
                                      <p:to>
                                        <p:strVal val="visible"/>
                                      </p:to>
                                    </p:set>
                                  </p:childTnLst>
                                </p:cTn>
                              </p:par>
                              <p:par>
                                <p:cTn id="9" presetID="1" presetClass="entr" presetSubtype="0" fill="hold" grpId="1" nodeType="withEffect">
                                  <p:stCondLst>
                                    <p:cond delay="0"/>
                                  </p:stCondLst>
                                  <p:childTnLst>
                                    <p:set>
                                      <p:cBhvr>
                                        <p:cTn id="10" dur="1" fill="hold">
                                          <p:stCondLst>
                                            <p:cond delay="0"/>
                                          </p:stCondLst>
                                        </p:cTn>
                                        <p:tgtEl>
                                          <p:spTgt spid="1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animBg="1"/>
      <p:bldP spid="92" grpId="0" animBg="1"/>
      <p:bldP spid="93" grpId="0" animBg="1"/>
      <p:bldP spid="94" grpId="0" animBg="1"/>
      <p:bldP spid="95" grpId="0" animBg="1"/>
      <p:bldP spid="96" grpId="0" animBg="1"/>
      <p:bldP spid="97" grpId="0" animBg="1"/>
      <p:bldP spid="98" grpId="0" animBg="1"/>
      <p:bldP spid="99" grpId="0" animBg="1"/>
      <p:bldP spid="100" grpId="0" animBg="1"/>
      <p:bldP spid="101" grpId="0" animBg="1"/>
      <p:bldP spid="102" grpId="0" animBg="1"/>
      <p:bldP spid="103" grpId="0" animBg="1"/>
      <p:bldP spid="104" grpId="0" animBg="1"/>
      <p:bldP spid="105" grpId="0" animBg="1"/>
      <p:bldP spid="106" grpId="0" animBg="1"/>
      <p:bldP spid="107" grpId="0" animBg="1"/>
      <p:bldP spid="108" grpId="0" animBg="1"/>
      <p:bldP spid="109" grpId="0" animBg="1"/>
      <p:bldP spid="110" grpId="0" animBg="1"/>
      <p:bldP spid="111" grpId="0" animBg="1"/>
      <p:bldP spid="112" grpId="0" animBg="1"/>
      <p:bldP spid="113" grpId="0" animBg="1"/>
      <p:bldP spid="114" grpId="0" animBg="1"/>
      <p:bldP spid="115" grpId="0" animBg="1"/>
      <p:bldP spid="116" grpId="0" animBg="1"/>
      <p:bldP spid="117" grpId="0" animBg="1"/>
      <p:bldP spid="118" grpId="0" animBg="1"/>
      <p:bldP spid="119" grpId="0" animBg="1"/>
      <p:bldP spid="120" grpId="0" animBg="1"/>
      <p:bldP spid="121" grpId="0" animBg="1"/>
      <p:bldP spid="122" grpId="0" animBg="1"/>
      <p:bldP spid="123" grpId="0" animBg="1"/>
      <p:bldP spid="124" grpId="0" animBg="1"/>
      <p:bldP spid="125" grpId="0" animBg="1"/>
      <p:bldP spid="126" grpId="0" animBg="1"/>
      <p:bldP spid="127" grpId="0" animBg="1"/>
      <p:bldP spid="128" grpId="0" animBg="1"/>
      <p:bldP spid="129" grpId="0" animBg="1"/>
      <p:bldP spid="130" grpId="0" animBg="1"/>
      <p:bldP spid="131" grpId="0" animBg="1"/>
      <p:bldP spid="132" grpId="0" animBg="1"/>
      <p:bldP spid="133" grpId="0" animBg="1"/>
      <p:bldP spid="136" grpId="0" animBg="1"/>
      <p:bldP spid="137" grpId="0" animBg="1"/>
      <p:bldP spid="138" grpId="0" animBg="1"/>
      <p:bldP spid="139" grpId="0" animBg="1"/>
      <p:bldP spid="139" grpId="1" animBg="1"/>
      <p:bldP spid="140" grpId="0" animBg="1"/>
      <p:bldP spid="140" grpId="1" animBg="1"/>
      <p:bldP spid="141" grpId="0" animBg="1"/>
      <p:bldP spid="141" grpId="1"/>
    </p:bldLst>
  </p:timing>
</p:sld>
</file>

<file path=ppt/slides/slide10.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7" name="Rectangle 36"/>
          <p:cNvSpPr/>
          <p:nvPr/>
        </p:nvSpPr>
        <p:spPr>
          <a:xfrm>
            <a:off x="0" y="0"/>
            <a:ext cx="12192000" cy="6858000"/>
          </a:xfrm>
          <a:prstGeom prst="rect">
            <a:avLst/>
          </a:prstGeom>
          <a:solidFill>
            <a:srgbClr val="F8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552348" y="256032"/>
            <a:ext cx="8046720" cy="347472"/>
          </a:xfrm>
          <a:prstGeom prst="rect">
            <a:avLst/>
          </a:prstGeom>
          <a:noFill/>
          <a:ln/>
        </p:spPr>
        <p:txBody>
          <a:bodyPr wrap="square" lIns="0" tIns="0" rIns="0" bIns="0" rtlCol="0" anchor="ctr"/>
          <a:lstStyle/>
          <a:p>
            <a:pPr marL="0" indent="0">
              <a:buNone/>
            </a:pPr>
            <a:r>
              <a:rPr sz="2000" b="1">
                <a:solidFill>
                  <a:srgbClr val="111827"/>
                </a:solidFill>
                <a:latin typeface="Aptos Display"/>
              </a:rPr>
              <a:t>Why add an atomic RF channel?</a:t>
            </a:r>
            <a:endParaRPr lang="en-US" sz="2000" dirty="0"/>
          </a:p>
        </p:txBody>
      </p:sp>
      <p:sp>
        <p:nvSpPr>
          <p:cNvPr id="3" name="Text 1"/>
          <p:cNvSpPr/>
          <p:nvPr/>
        </p:nvSpPr>
        <p:spPr>
          <a:xfrm>
            <a:off x="512064" y="658368"/>
            <a:ext cx="8046720" cy="219456"/>
          </a:xfrm>
          <a:prstGeom prst="rect">
            <a:avLst/>
          </a:prstGeom>
          <a:noFill/>
          <a:ln/>
        </p:spPr>
        <p:txBody>
          <a:bodyPr wrap="square" lIns="0" tIns="0" rIns="0" bIns="0" rtlCol="0" anchor="ctr"/>
          <a:lstStyle/>
          <a:p>
            <a:r>
              <a:rPr sz="1000">
                <a:solidFill>
                  <a:srgbClr val="131C2C"/>
                </a:solidFill>
                <a:latin typeface="Aptos"/>
              </a:rPr>
              <a:t>Atoms provide optical RF observables that can complement conventional front ends</a:t>
            </a:r>
            <a:endParaRPr lang="en-US" sz="1000" dirty="0"/>
          </a:p>
        </p:txBody>
      </p:sp>
      <p:sp>
        <p:nvSpPr>
          <p:cNvPr id="4" name="Shape 2"/>
          <p:cNvSpPr/>
          <p:nvPr/>
        </p:nvSpPr>
        <p:spPr>
          <a:xfrm>
            <a:off x="502920" y="987552"/>
            <a:ext cx="2926080" cy="0"/>
          </a:xfrm>
          <a:prstGeom prst="line">
            <a:avLst/>
          </a:prstGeom>
          <a:noFill/>
          <a:ln w="25400">
            <a:solidFill>
              <a:srgbClr val="0EA5B7"/>
            </a:solidFill>
            <a:prstDash val="solid"/>
          </a:ln>
        </p:spPr>
        <p:txBody>
          <a:bodyPr/>
          <a:lstStyle/>
          <a:p>
            <a:endParaRPr lang="en-AU"/>
          </a:p>
        </p:txBody>
      </p:sp>
      <p:sp>
        <p:nvSpPr>
          <p:cNvPr id="5" name="Shape 3"/>
          <p:cNvSpPr/>
          <p:nvPr/>
        </p:nvSpPr>
        <p:spPr>
          <a:xfrm>
            <a:off x="457200" y="6547104"/>
            <a:ext cx="11247120" cy="0"/>
          </a:xfrm>
          <a:prstGeom prst="line">
            <a:avLst/>
          </a:prstGeom>
          <a:noFill/>
          <a:ln w="7620">
            <a:solidFill>
              <a:srgbClr val="E5E7EB"/>
            </a:solidFill>
            <a:prstDash val="solid"/>
          </a:ln>
        </p:spPr>
        <p:txBody>
          <a:bodyPr/>
          <a:lstStyle/>
          <a:p>
            <a:endParaRPr lang="en-AU"/>
          </a:p>
        </p:txBody>
      </p:sp>
      <p:sp>
        <p:nvSpPr>
          <p:cNvPr id="6" name="Text 4"/>
          <p:cNvSpPr/>
          <p:nvPr/>
        </p:nvSpPr>
        <p:spPr>
          <a:xfrm>
            <a:off x="502920" y="6583680"/>
            <a:ext cx="5943600" cy="164592"/>
          </a:xfrm>
          <a:prstGeom prst="rect">
            <a:avLst/>
          </a:prstGeom>
          <a:noFill/>
          <a:ln/>
        </p:spPr>
        <p:txBody>
          <a:bodyPr wrap="square" lIns="0" tIns="0" rIns="0" bIns="0" rtlCol="0" anchor="ctr"/>
          <a:lstStyle/>
          <a:p>
            <a:pPr marL="0" indent="0">
              <a:buNone/>
            </a:pPr>
            <a:r>
              <a:rPr lang="en-US" sz="660" dirty="0">
                <a:solidFill>
                  <a:srgbClr val="64748B"/>
                </a:solidFill>
                <a:latin typeface="Aptos" pitchFamily="34" charset="0"/>
                <a:ea typeface="Aptos" pitchFamily="34" charset="-122"/>
                <a:cs typeface="Aptos" pitchFamily="34" charset="-120"/>
              </a:rPr>
              <a:t>Rydberg sensing | Conference</a:t>
            </a:r>
            <a:endParaRPr lang="en-US" sz="660" dirty="0"/>
          </a:p>
        </p:txBody>
      </p:sp>
      <p:sp>
        <p:nvSpPr>
          <p:cNvPr id="7" name="Text 5"/>
          <p:cNvSpPr/>
          <p:nvPr/>
        </p:nvSpPr>
        <p:spPr>
          <a:xfrm>
            <a:off x="11292840" y="6583680"/>
            <a:ext cx="457200" cy="164592"/>
          </a:xfrm>
          <a:prstGeom prst="rect">
            <a:avLst/>
          </a:prstGeom>
          <a:noFill/>
          <a:ln/>
        </p:spPr>
        <p:txBody>
          <a:bodyPr wrap="square" lIns="0" tIns="0" rIns="0" bIns="0" rtlCol="0" anchor="ctr"/>
          <a:lstStyle/>
          <a:p>
            <a:pPr marL="0" indent="0" algn="r">
              <a:buNone/>
            </a:pPr>
            <a:r>
              <a:rPr lang="en-US" sz="660" dirty="0">
                <a:solidFill>
                  <a:srgbClr val="64748B"/>
                </a:solidFill>
                <a:latin typeface="Aptos" pitchFamily="34" charset="0"/>
              </a:rPr>
              <a:t>3</a:t>
            </a:r>
            <a:endParaRPr lang="en-US" sz="660" dirty="0"/>
          </a:p>
        </p:txBody>
      </p:sp>
      <p:pic>
        <p:nvPicPr>
          <p:cNvPr id="8" name="Image 0" descr="/mnt/data/src_media/current/ppt/media/image6.png"/>
          <p:cNvPicPr>
            <a:picLocks noChangeAspect="1"/>
          </p:cNvPicPr>
          <p:nvPr/>
        </p:nvPicPr>
        <p:blipFill>
          <a:blip r:embed="rId3"/>
          <a:stretch>
            <a:fillRect/>
          </a:stretch>
        </p:blipFill>
        <p:spPr>
          <a:xfrm>
            <a:off x="594360" y="1330601"/>
            <a:ext cx="3200400" cy="2139398"/>
          </a:xfrm>
          <a:prstGeom prst="rect">
            <a:avLst/>
          </a:prstGeom>
        </p:spPr>
      </p:pic>
      <p:pic>
        <p:nvPicPr>
          <p:cNvPr id="9" name="Image 1" descr="/mnt/data/src_media/current/ppt/media/image5.png"/>
          <p:cNvPicPr>
            <a:picLocks noChangeAspect="1"/>
          </p:cNvPicPr>
          <p:nvPr/>
        </p:nvPicPr>
        <p:blipFill>
          <a:blip r:embed="rId4"/>
          <a:stretch>
            <a:fillRect/>
          </a:stretch>
        </p:blipFill>
        <p:spPr>
          <a:xfrm>
            <a:off x="4324926" y="1363086"/>
            <a:ext cx="3122862" cy="1892178"/>
          </a:xfrm>
          <a:prstGeom prst="rect">
            <a:avLst/>
          </a:prstGeom>
        </p:spPr>
      </p:pic>
      <p:pic>
        <p:nvPicPr>
          <p:cNvPr id="10" name="Image 2" descr="/mnt/data/src_media/dstg/ppt/media/image24.png"/>
          <p:cNvPicPr>
            <a:picLocks noChangeAspect="1"/>
          </p:cNvPicPr>
          <p:nvPr/>
        </p:nvPicPr>
        <p:blipFill>
          <a:blip r:embed="rId5"/>
          <a:stretch>
            <a:fillRect/>
          </a:stretch>
        </p:blipFill>
        <p:spPr>
          <a:xfrm>
            <a:off x="7977954" y="1137424"/>
            <a:ext cx="3122862" cy="2214855"/>
          </a:xfrm>
          <a:prstGeom prst="rect">
            <a:avLst/>
          </a:prstGeom>
        </p:spPr>
      </p:pic>
      <p:sp>
        <p:nvSpPr>
          <p:cNvPr id="11" name="Shape 6"/>
          <p:cNvSpPr/>
          <p:nvPr/>
        </p:nvSpPr>
        <p:spPr>
          <a:xfrm>
            <a:off x="713232" y="3678937"/>
            <a:ext cx="914400" cy="256032"/>
          </a:xfrm>
          <a:prstGeom prst="roundRect">
            <a:avLst>
              <a:gd name="adj" fmla="val 14286"/>
            </a:avLst>
          </a:prstGeom>
          <a:solidFill>
            <a:srgbClr val="0EA5B7"/>
          </a:solidFill>
          <a:ln w="12700">
            <a:solidFill>
              <a:srgbClr val="0EA5B7">
                <a:alpha val="0"/>
              </a:srgbClr>
            </a:solidFill>
            <a:prstDash val="solid"/>
          </a:ln>
        </p:spPr>
        <p:txBody>
          <a:bodyPr/>
          <a:lstStyle/>
          <a:p>
            <a:endParaRPr lang="en-AU"/>
          </a:p>
        </p:txBody>
      </p:sp>
      <p:sp>
        <p:nvSpPr>
          <p:cNvPr id="12" name="Text 7"/>
          <p:cNvSpPr/>
          <p:nvPr/>
        </p:nvSpPr>
        <p:spPr>
          <a:xfrm>
            <a:off x="777240" y="3760697"/>
            <a:ext cx="786384" cy="91440"/>
          </a:xfrm>
          <a:prstGeom prst="rect">
            <a:avLst/>
          </a:prstGeom>
          <a:noFill/>
          <a:ln/>
        </p:spPr>
        <p:txBody>
          <a:bodyPr wrap="square" lIns="0" tIns="0" rIns="0" bIns="0" rtlCol="0" anchor="ctr"/>
          <a:lstStyle/>
          <a:p>
            <a:pPr marL="0" indent="0" algn="ctr">
              <a:buNone/>
            </a:pPr>
            <a:r>
              <a:rPr sz="1000" b="1">
                <a:solidFill>
                  <a:srgbClr val="FFFFFF"/>
                </a:solidFill>
                <a:latin typeface="Aptos"/>
              </a:rPr>
              <a:t>MIXING</a:t>
            </a:r>
            <a:endParaRPr lang="en-US" sz="1000" dirty="0"/>
          </a:p>
        </p:txBody>
      </p:sp>
      <p:sp>
        <p:nvSpPr>
          <p:cNvPr id="13" name="Shape 8"/>
          <p:cNvSpPr/>
          <p:nvPr/>
        </p:nvSpPr>
        <p:spPr>
          <a:xfrm>
            <a:off x="4324925" y="3678937"/>
            <a:ext cx="1003819" cy="256032"/>
          </a:xfrm>
          <a:prstGeom prst="roundRect">
            <a:avLst>
              <a:gd name="adj" fmla="val 14286"/>
            </a:avLst>
          </a:prstGeom>
          <a:solidFill>
            <a:srgbClr val="C21873"/>
          </a:solidFill>
          <a:ln w="12700">
            <a:solidFill>
              <a:srgbClr val="C21873">
                <a:alpha val="0"/>
              </a:srgbClr>
            </a:solidFill>
            <a:prstDash val="solid"/>
          </a:ln>
        </p:spPr>
        <p:txBody>
          <a:bodyPr/>
          <a:lstStyle/>
          <a:p>
            <a:endParaRPr lang="en-AU"/>
          </a:p>
        </p:txBody>
      </p:sp>
      <p:sp>
        <p:nvSpPr>
          <p:cNvPr id="14" name="Text 9"/>
          <p:cNvSpPr/>
          <p:nvPr/>
        </p:nvSpPr>
        <p:spPr>
          <a:xfrm>
            <a:off x="4369634" y="3735756"/>
            <a:ext cx="914400" cy="134647"/>
          </a:xfrm>
          <a:prstGeom prst="rect">
            <a:avLst/>
          </a:prstGeom>
          <a:noFill/>
          <a:ln/>
        </p:spPr>
        <p:txBody>
          <a:bodyPr wrap="square" lIns="0" tIns="0" rIns="0" bIns="0" rtlCol="0" anchor="ctr"/>
          <a:lstStyle/>
          <a:p>
            <a:pPr marL="0" indent="0" algn="ctr">
              <a:buNone/>
            </a:pPr>
            <a:r>
              <a:rPr sz="1000" b="1">
                <a:solidFill>
                  <a:srgbClr val="FFFFFF"/>
                </a:solidFill>
                <a:latin typeface="Aptos"/>
              </a:rPr>
              <a:t>ROBUST</a:t>
            </a:r>
            <a:endParaRPr lang="en-US" sz="1000" dirty="0"/>
          </a:p>
        </p:txBody>
      </p:sp>
      <p:sp>
        <p:nvSpPr>
          <p:cNvPr id="15" name="Shape 10"/>
          <p:cNvSpPr/>
          <p:nvPr/>
        </p:nvSpPr>
        <p:spPr>
          <a:xfrm>
            <a:off x="8092440" y="3678937"/>
            <a:ext cx="914400" cy="256032"/>
          </a:xfrm>
          <a:prstGeom prst="roundRect">
            <a:avLst>
              <a:gd name="adj" fmla="val 14286"/>
            </a:avLst>
          </a:prstGeom>
          <a:solidFill>
            <a:srgbClr val="078B7E"/>
          </a:solidFill>
          <a:ln w="12700">
            <a:solidFill>
              <a:srgbClr val="078B7E">
                <a:alpha val="0"/>
              </a:srgbClr>
            </a:solidFill>
            <a:prstDash val="solid"/>
          </a:ln>
        </p:spPr>
        <p:txBody>
          <a:bodyPr/>
          <a:lstStyle/>
          <a:p>
            <a:endParaRPr lang="en-AU"/>
          </a:p>
        </p:txBody>
      </p:sp>
      <p:sp>
        <p:nvSpPr>
          <p:cNvPr id="16" name="Text 11"/>
          <p:cNvSpPr/>
          <p:nvPr/>
        </p:nvSpPr>
        <p:spPr>
          <a:xfrm>
            <a:off x="8156448" y="3757360"/>
            <a:ext cx="786384" cy="91440"/>
          </a:xfrm>
          <a:prstGeom prst="rect">
            <a:avLst/>
          </a:prstGeom>
          <a:noFill/>
          <a:ln/>
        </p:spPr>
        <p:txBody>
          <a:bodyPr wrap="square" lIns="0" tIns="0" rIns="0" bIns="0" rtlCol="0" anchor="ctr"/>
          <a:lstStyle/>
          <a:p>
            <a:pPr marL="0" indent="0" algn="ctr">
              <a:buNone/>
            </a:pPr>
            <a:r>
              <a:rPr sz="1000" b="1">
                <a:solidFill>
                  <a:srgbClr val="FFFFFF"/>
                </a:solidFill>
                <a:latin typeface="Aptos"/>
              </a:rPr>
              <a:t>TUNABILITY</a:t>
            </a:r>
            <a:endParaRPr lang="en-US" sz="1000" dirty="0"/>
          </a:p>
        </p:txBody>
      </p:sp>
      <p:sp>
        <p:nvSpPr>
          <p:cNvPr id="23" name="Straight Connector 22">
            <a:extLst>
              <a:ext uri="{FF2B5EF4-FFF2-40B4-BE49-F238E27FC236}">
                <a16:creationId xmlns:a16="http://schemas.microsoft.com/office/drawing/2014/main" id="{3388F376-1279-AEE6-BE24-DD061C1FE83F}"/>
              </a:ext>
            </a:extLst>
          </p:cNvPr>
          <p:cNvSpPr>
            <a:spLocks noGrp="1"/>
          </p:cNvSpPr>
          <p:nvPr/>
        </p:nvSpPr>
        <p:spPr>
          <a:xfrm>
            <a:off x="713232" y="3564488"/>
            <a:ext cx="800100" cy="0"/>
          </a:xfrm>
          <a:prstGeom prst="line">
            <a:avLst/>
          </a:prstGeom>
          <a:noFill/>
          <a:ln w="47625">
            <a:solidFill>
              <a:srgbClr val="0EA5B7"/>
            </a:solidFill>
            <a:prstDash val="solid"/>
          </a:ln>
        </p:spPr>
        <p:txBody>
          <a:bodyPr/>
          <a:lstStyle/>
          <a:p>
            <a:endParaRPr lang="en-AU"/>
          </a:p>
        </p:txBody>
      </p:sp>
      <p:sp>
        <p:nvSpPr>
          <p:cNvPr id="24" name="Straight Connector 23">
            <a:extLst>
              <a:ext uri="{FF2B5EF4-FFF2-40B4-BE49-F238E27FC236}">
                <a16:creationId xmlns:a16="http://schemas.microsoft.com/office/drawing/2014/main" id="{2F712466-6981-7A46-E143-CC525C38FB89}"/>
              </a:ext>
            </a:extLst>
          </p:cNvPr>
          <p:cNvSpPr>
            <a:spLocks noGrp="1"/>
          </p:cNvSpPr>
          <p:nvPr/>
        </p:nvSpPr>
        <p:spPr>
          <a:xfrm>
            <a:off x="4324926" y="3584448"/>
            <a:ext cx="800100" cy="0"/>
          </a:xfrm>
          <a:prstGeom prst="line">
            <a:avLst/>
          </a:prstGeom>
          <a:noFill/>
          <a:ln w="47625">
            <a:solidFill>
              <a:srgbClr val="C21873"/>
            </a:solidFill>
            <a:prstDash val="solid"/>
          </a:ln>
        </p:spPr>
        <p:txBody>
          <a:bodyPr/>
          <a:lstStyle/>
          <a:p>
            <a:endParaRPr lang="en-AU"/>
          </a:p>
        </p:txBody>
      </p:sp>
      <p:sp>
        <p:nvSpPr>
          <p:cNvPr id="25" name="Straight Connector 24">
            <a:extLst>
              <a:ext uri="{FF2B5EF4-FFF2-40B4-BE49-F238E27FC236}">
                <a16:creationId xmlns:a16="http://schemas.microsoft.com/office/drawing/2014/main" id="{43E3114B-2740-7C96-D5FA-9304984A61DF}"/>
              </a:ext>
            </a:extLst>
          </p:cNvPr>
          <p:cNvSpPr>
            <a:spLocks noGrp="1"/>
          </p:cNvSpPr>
          <p:nvPr/>
        </p:nvSpPr>
        <p:spPr>
          <a:xfrm>
            <a:off x="8092440" y="3584448"/>
            <a:ext cx="800100" cy="0"/>
          </a:xfrm>
          <a:prstGeom prst="line">
            <a:avLst/>
          </a:prstGeom>
          <a:noFill/>
          <a:ln w="47625">
            <a:solidFill>
              <a:srgbClr val="078B7E"/>
            </a:solidFill>
            <a:prstDash val="solid"/>
          </a:ln>
        </p:spPr>
        <p:txBody>
          <a:bodyPr/>
          <a:lstStyle/>
          <a:p>
            <a:endParaRPr lang="en-AU"/>
          </a:p>
        </p:txBody>
      </p:sp>
      <p:sp>
        <p:nvSpPr>
          <p:cNvPr id="30" name="TextBox 16">
            <a:extLst>
              <a:ext uri="{FF2B5EF4-FFF2-40B4-BE49-F238E27FC236}">
                <a16:creationId xmlns:a16="http://schemas.microsoft.com/office/drawing/2014/main" id="{4580885D-FBA3-D50C-F862-70D50878E6D0}"/>
              </a:ext>
            </a:extLst>
          </p:cNvPr>
          <p:cNvSpPr txBox="1"/>
          <p:nvPr/>
        </p:nvSpPr>
        <p:spPr>
          <a:xfrm>
            <a:off x="713232" y="3993061"/>
            <a:ext cx="2926080" cy="62324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71450" indent="-171450">
              <a:spcAft>
                <a:spcPts val="600"/>
              </a:spcAft>
              <a:buFont typeface="Arial" panose="020B0604020202020204" pitchFamily="34" charset="0"/>
              <a:buChar char="•"/>
              <a:defRPr sz="1150">
                <a:solidFill>
                  <a:srgbClr val="192234"/>
                </a:solidFill>
                <a:latin typeface="Arial"/>
              </a:defRPr>
            </a:pPr>
            <a:r>
              <a:rPr sz="1150">
                <a:solidFill>
                  <a:srgbClr val="192234"/>
                </a:solidFill>
                <a:latin typeface="Aptos"/>
              </a:rPr>
              <a:t>Atomic mixing can provide an additional RF readout channel and enable frequency translation.</a:t>
            </a:r>
            <a:endParaRPr dirty="0"/>
          </a:p>
        </p:txBody>
      </p:sp>
      <p:sp>
        <p:nvSpPr>
          <p:cNvPr id="31" name="TextBox 17">
            <a:extLst>
              <a:ext uri="{FF2B5EF4-FFF2-40B4-BE49-F238E27FC236}">
                <a16:creationId xmlns:a16="http://schemas.microsoft.com/office/drawing/2014/main" id="{B3764B36-40E7-BD62-919B-017683F3AB33}"/>
              </a:ext>
            </a:extLst>
          </p:cNvPr>
          <p:cNvSpPr txBox="1"/>
          <p:nvPr/>
        </p:nvSpPr>
        <p:spPr>
          <a:xfrm>
            <a:off x="4324926" y="3993061"/>
            <a:ext cx="2926080" cy="62324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71450" indent="-171450">
              <a:spcAft>
                <a:spcPts val="600"/>
              </a:spcAft>
              <a:buFont typeface="Arial" panose="020B0604020202020204" pitchFamily="34" charset="0"/>
              <a:buChar char="•"/>
              <a:defRPr sz="1150">
                <a:solidFill>
                  <a:srgbClr val="192234"/>
                </a:solidFill>
                <a:latin typeface="Arial"/>
              </a:defRPr>
            </a:pPr>
            <a:r>
              <a:rPr sz="1150">
                <a:solidFill>
                  <a:srgbClr val="192234"/>
                </a:solidFill>
                <a:latin typeface="Aptos"/>
              </a:rPr>
              <a:t>Atomic spectra can retain useful structure when conventional RF measurements are degraded by interference.</a:t>
            </a:r>
            <a:endParaRPr dirty="0"/>
          </a:p>
        </p:txBody>
      </p:sp>
      <p:sp>
        <p:nvSpPr>
          <p:cNvPr id="32" name="TextBox 18">
            <a:extLst>
              <a:ext uri="{FF2B5EF4-FFF2-40B4-BE49-F238E27FC236}">
                <a16:creationId xmlns:a16="http://schemas.microsoft.com/office/drawing/2014/main" id="{884F1D98-CD38-5F7D-ECCA-5A048277F413}"/>
              </a:ext>
            </a:extLst>
          </p:cNvPr>
          <p:cNvSpPr txBox="1"/>
          <p:nvPr/>
        </p:nvSpPr>
        <p:spPr>
          <a:xfrm>
            <a:off x="8092440" y="3989724"/>
            <a:ext cx="3063240" cy="62324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71450" indent="-171450">
              <a:spcAft>
                <a:spcPts val="600"/>
              </a:spcAft>
              <a:buFont typeface="Arial" panose="020B0604020202020204" pitchFamily="34" charset="0"/>
              <a:buChar char="•"/>
              <a:defRPr sz="1150">
                <a:solidFill>
                  <a:srgbClr val="192234"/>
                </a:solidFill>
                <a:latin typeface="Arial"/>
              </a:defRPr>
            </a:pPr>
            <a:r>
              <a:rPr sz="1150">
                <a:solidFill>
                  <a:srgbClr val="192234"/>
                </a:solidFill>
                <a:latin typeface="Aptos"/>
              </a:rPr>
              <a:t>Changing the Rydberg transition shifts the operating band without changing the vapour-cell sensing element.</a:t>
            </a:r>
            <a:endParaRPr dirty="0"/>
          </a:p>
        </p:txBody>
      </p:sp>
      <p:sp>
        <p:nvSpPr>
          <p:cNvPr id="33" name="Rounded Rectangle 19">
            <a:extLst>
              <a:ext uri="{FF2B5EF4-FFF2-40B4-BE49-F238E27FC236}">
                <a16:creationId xmlns:a16="http://schemas.microsoft.com/office/drawing/2014/main" id="{449137A6-C5B0-7692-1C2E-5F260A0146A7}"/>
              </a:ext>
            </a:extLst>
          </p:cNvPr>
          <p:cNvSpPr/>
          <p:nvPr/>
        </p:nvSpPr>
        <p:spPr>
          <a:xfrm>
            <a:off x="7498080" y="5489591"/>
            <a:ext cx="3794760" cy="569700"/>
          </a:xfrm>
          <a:prstGeom prst="roundRect">
            <a:avLst/>
          </a:prstGeom>
          <a:solidFill>
            <a:srgbClr val="FCFCFD"/>
          </a:solidFill>
          <a:ln w="12700">
            <a:solidFill>
              <a:srgbClr val="DDE2E8"/>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35" name="TextBox 21">
            <a:extLst>
              <a:ext uri="{FF2B5EF4-FFF2-40B4-BE49-F238E27FC236}">
                <a16:creationId xmlns:a16="http://schemas.microsoft.com/office/drawing/2014/main" id="{69F848D3-6895-E976-A249-A09A06B6A473}"/>
              </a:ext>
            </a:extLst>
          </p:cNvPr>
          <p:cNvSpPr txBox="1"/>
          <p:nvPr/>
        </p:nvSpPr>
        <p:spPr>
          <a:xfrm>
            <a:off x="7667244" y="5564151"/>
            <a:ext cx="3456432" cy="446276"/>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sz="1150">
                <a:solidFill>
                  <a:srgbClr val="131C2C"/>
                </a:solidFill>
                <a:latin typeface="Aptos"/>
              </a:rPr>
              <a:t>Mobile testbed context: emitter detection, RF discrimination and environmental robustness.</a:t>
            </a:r>
            <a:endParaRPr sz="1150" b="0" i="0" dirty="0">
              <a:solidFill>
                <a:srgbClr val="192234"/>
              </a:solidFill>
              <a:latin typeface="Arial"/>
            </a:endParaRPr>
          </a:p>
        </p:txBody>
      </p:sp>
      <p:sp>
        <p:nvSpPr>
          <p:cNvPr id="18" name="Shape 10">
            <a:extLst>
              <a:ext uri="{FF2B5EF4-FFF2-40B4-BE49-F238E27FC236}">
                <a16:creationId xmlns:a16="http://schemas.microsoft.com/office/drawing/2014/main" id="{8BBFF67F-65A3-D78C-6E53-03E1F3C98440}"/>
              </a:ext>
            </a:extLst>
          </p:cNvPr>
          <p:cNvSpPr/>
          <p:nvPr/>
        </p:nvSpPr>
        <p:spPr>
          <a:xfrm>
            <a:off x="7508562" y="5158931"/>
            <a:ext cx="914400" cy="256032"/>
          </a:xfrm>
          <a:prstGeom prst="roundRect">
            <a:avLst>
              <a:gd name="adj" fmla="val 14286"/>
            </a:avLst>
          </a:prstGeom>
          <a:solidFill>
            <a:srgbClr val="C00000"/>
          </a:solidFill>
          <a:ln w="12700">
            <a:solidFill>
              <a:srgbClr val="C00000">
                <a:alpha val="0"/>
              </a:srgbClr>
            </a:solidFill>
            <a:prstDash val="solid"/>
          </a:ln>
        </p:spPr>
        <p:txBody>
          <a:bodyPr/>
          <a:lstStyle/>
          <a:p>
            <a:endParaRPr lang="en-AU"/>
          </a:p>
        </p:txBody>
      </p:sp>
      <p:sp>
        <p:nvSpPr>
          <p:cNvPr id="20" name="Text 11">
            <a:extLst>
              <a:ext uri="{FF2B5EF4-FFF2-40B4-BE49-F238E27FC236}">
                <a16:creationId xmlns:a16="http://schemas.microsoft.com/office/drawing/2014/main" id="{EE29E039-9E3F-1468-14E5-D3BE266FF73D}"/>
              </a:ext>
            </a:extLst>
          </p:cNvPr>
          <p:cNvSpPr/>
          <p:nvPr/>
        </p:nvSpPr>
        <p:spPr>
          <a:xfrm>
            <a:off x="7572570" y="5237354"/>
            <a:ext cx="786384" cy="91440"/>
          </a:xfrm>
          <a:prstGeom prst="rect">
            <a:avLst/>
          </a:prstGeom>
          <a:noFill/>
          <a:ln/>
        </p:spPr>
        <p:txBody>
          <a:bodyPr wrap="square" lIns="0" tIns="0" rIns="0" bIns="0" rtlCol="0" anchor="ctr"/>
          <a:lstStyle/>
          <a:p>
            <a:pPr marL="0" indent="0" algn="ctr">
              <a:buNone/>
            </a:pPr>
            <a:r>
              <a:rPr lang="en-US" sz="1000" b="1" dirty="0">
                <a:solidFill>
                  <a:srgbClr val="FFFFFF"/>
                </a:solidFill>
                <a:latin typeface="Aptos"/>
              </a:rPr>
              <a:t>UAV-LIV</a:t>
            </a:r>
            <a:endParaRPr lang="en-US" sz="1000" dirty="0"/>
          </a:p>
        </p:txBody>
      </p:sp>
      <p:sp>
        <p:nvSpPr>
          <p:cNvPr id="38" name="Rounded Rectangle 37"/>
          <p:cNvSpPr/>
          <p:nvPr/>
        </p:nvSpPr>
        <p:spPr>
          <a:xfrm>
            <a:off x="658368" y="5650992"/>
            <a:ext cx="5989320" cy="502920"/>
          </a:xfrm>
          <a:prstGeom prst="roundRect">
            <a:avLst/>
          </a:prstGeom>
          <a:solidFill>
            <a:srgbClr val="EAF6F8"/>
          </a:solidFill>
          <a:ln w="11430">
            <a:solidFill>
              <a:srgbClr val="D0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96768" y="5700075"/>
            <a:ext cx="5712519" cy="393954"/>
          </a:xfrm>
          <a:prstGeom prst="rect">
            <a:avLst/>
          </a:prstGeom>
          <a:noFill/>
        </p:spPr>
        <p:txBody>
          <a:bodyPr wrap="square" lIns="54864" tIns="27432" rIns="54864" bIns="27432">
            <a:spAutoFit/>
          </a:bodyPr>
          <a:lstStyle/>
          <a:p>
            <a:pPr algn="l">
              <a:lnSpc>
                <a:spcPct val="100000"/>
              </a:lnSpc>
              <a:defRPr sz="1100" b="1">
                <a:solidFill>
                  <a:srgbClr val="172033"/>
                </a:solidFill>
                <a:latin typeface="Aptos"/>
              </a:defRPr>
            </a:pPr>
            <a:r>
              <a:rPr dirty="0"/>
              <a:t>Connection to this thesis: use the atom as an optical RF readout, then add calibrated projections so the output carries vector information.</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1"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1"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1"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1"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1"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grpId="1" nodeType="with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1" nodeType="click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par>
                                <p:cTn id="31" presetID="1" presetClass="entr" presetSubtype="0" fill="hold" grpId="1" nodeType="withEffect">
                                  <p:stCondLst>
                                    <p:cond delay="0"/>
                                  </p:stCondLst>
                                  <p:childTnLst>
                                    <p:set>
                                      <p:cBhvr>
                                        <p:cTn id="32" dur="1" fill="hold">
                                          <p:stCondLst>
                                            <p:cond delay="0"/>
                                          </p:stCondLst>
                                        </p:cTn>
                                        <p:tgtEl>
                                          <p:spTgt spid="35"/>
                                        </p:tgtEl>
                                        <p:attrNameLst>
                                          <p:attrName>style.visibility</p:attrName>
                                        </p:attrNameLst>
                                      </p:cBhvr>
                                      <p:to>
                                        <p:strVal val="visible"/>
                                      </p:to>
                                    </p:set>
                                  </p:childTnLst>
                                </p:cTn>
                              </p:par>
                              <p:par>
                                <p:cTn id="33" presetID="1" presetClass="entr" presetSubtype="0" fill="hold" grpId="1"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1"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1" nodeType="clickEffect">
                                  <p:stCondLst>
                                    <p:cond delay="0"/>
                                  </p:stCondLst>
                                  <p:childTnLst>
                                    <p:set>
                                      <p:cBhvr>
                                        <p:cTn id="40" dur="1" fill="hold">
                                          <p:stCondLst>
                                            <p:cond delay="0"/>
                                          </p:stCondLst>
                                        </p:cTn>
                                        <p:tgtEl>
                                          <p:spTgt spid="38"/>
                                        </p:tgtEl>
                                        <p:attrNameLst>
                                          <p:attrName>style.visibility</p:attrName>
                                        </p:attrNameLst>
                                      </p:cBhvr>
                                      <p:to>
                                        <p:strVal val="visible"/>
                                      </p:to>
                                    </p:set>
                                  </p:childTnLst>
                                </p:cTn>
                              </p:par>
                              <p:par>
                                <p:cTn id="41" presetID="1" presetClass="entr" presetSubtype="0" fill="hold" grpId="1" nodeType="withEffect">
                                  <p:stCondLst>
                                    <p:cond delay="0"/>
                                  </p:stCondLst>
                                  <p:childTnLst>
                                    <p:set>
                                      <p:cBhvr>
                                        <p:cTn id="42"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3" grpId="1" animBg="1"/>
      <p:bldP spid="14" grpId="0" animBg="1"/>
      <p:bldP spid="14" grpId="1" animBg="1"/>
      <p:bldP spid="15" grpId="0" animBg="1"/>
      <p:bldP spid="15" grpId="1" animBg="1"/>
      <p:bldP spid="16" grpId="0" animBg="1"/>
      <p:bldP spid="16" grpId="1" animBg="1"/>
      <p:bldP spid="23" grpId="0" animBg="1"/>
      <p:bldP spid="24" grpId="0" animBg="1"/>
      <p:bldP spid="24" grpId="1" animBg="1"/>
      <p:bldP spid="25" grpId="0" animBg="1"/>
      <p:bldP spid="25" grpId="1" animBg="1"/>
      <p:bldP spid="30" grpId="0" animBg="1"/>
      <p:bldP spid="31" grpId="0" animBg="1"/>
      <p:bldP spid="31" grpId="1"/>
      <p:bldP spid="32" grpId="0" animBg="1"/>
      <p:bldP spid="32" grpId="1"/>
      <p:bldP spid="33" grpId="0" animBg="1"/>
      <p:bldP spid="33" grpId="1" animBg="1"/>
      <p:bldP spid="35" grpId="0" animBg="1"/>
      <p:bldP spid="35" grpId="1"/>
      <p:bldP spid="18" grpId="0" animBg="1"/>
      <p:bldP spid="18" grpId="1" animBg="1"/>
      <p:bldP spid="20" grpId="0" animBg="1"/>
      <p:bldP spid="20" grpId="1" animBg="1"/>
      <p:bldP spid="38" grpId="0" animBg="1"/>
      <p:bldP spid="38" grpId="1" animBg="1"/>
      <p:bldP spid="39" grpId="0" animBg="1"/>
      <p:bldP spid="39" grpId="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60" name="Rectangle 59"/>
          <p:cNvSpPr/>
          <p:nvPr/>
        </p:nvSpPr>
        <p:spPr>
          <a:xfrm>
            <a:off x="0" y="0"/>
            <a:ext cx="12192000" cy="6858000"/>
          </a:xfrm>
          <a:prstGeom prst="rect">
            <a:avLst/>
          </a:prstGeom>
          <a:solidFill>
            <a:srgbClr val="F8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Shape 3"/>
          <p:cNvSpPr/>
          <p:nvPr/>
        </p:nvSpPr>
        <p:spPr>
          <a:xfrm>
            <a:off x="457200" y="6547104"/>
            <a:ext cx="11247120" cy="0"/>
          </a:xfrm>
          <a:prstGeom prst="line">
            <a:avLst/>
          </a:prstGeom>
          <a:noFill/>
          <a:ln w="7620">
            <a:solidFill>
              <a:srgbClr val="E5E7EB"/>
            </a:solidFill>
            <a:prstDash val="solid"/>
          </a:ln>
        </p:spPr>
        <p:txBody>
          <a:bodyPr/>
          <a:lstStyle/>
          <a:p>
            <a:endParaRPr lang="en-AU"/>
          </a:p>
        </p:txBody>
      </p:sp>
      <p:sp>
        <p:nvSpPr>
          <p:cNvPr id="6" name="Text 4"/>
          <p:cNvSpPr/>
          <p:nvPr/>
        </p:nvSpPr>
        <p:spPr>
          <a:xfrm>
            <a:off x="502920" y="6583680"/>
            <a:ext cx="5943600" cy="164592"/>
          </a:xfrm>
          <a:prstGeom prst="rect">
            <a:avLst/>
          </a:prstGeom>
          <a:noFill/>
          <a:ln/>
        </p:spPr>
        <p:txBody>
          <a:bodyPr wrap="square" lIns="0" tIns="0" rIns="0" bIns="0" rtlCol="0" anchor="ctr"/>
          <a:lstStyle/>
          <a:p>
            <a:pPr marL="0" indent="0">
              <a:buNone/>
            </a:pPr>
            <a:r>
              <a:rPr lang="en-US" sz="660" dirty="0">
                <a:solidFill>
                  <a:srgbClr val="64748B"/>
                </a:solidFill>
                <a:latin typeface="Aptos" pitchFamily="34" charset="0"/>
                <a:ea typeface="Aptos" pitchFamily="34" charset="-122"/>
                <a:cs typeface="Aptos" pitchFamily="34" charset="-120"/>
              </a:rPr>
              <a:t>Rydberg sensing | Conference</a:t>
            </a:r>
            <a:endParaRPr lang="en-US" sz="660" dirty="0"/>
          </a:p>
        </p:txBody>
      </p:sp>
      <p:sp>
        <p:nvSpPr>
          <p:cNvPr id="7" name="Text 5"/>
          <p:cNvSpPr/>
          <p:nvPr/>
        </p:nvSpPr>
        <p:spPr>
          <a:xfrm>
            <a:off x="11292840" y="6583680"/>
            <a:ext cx="457200" cy="164592"/>
          </a:xfrm>
          <a:prstGeom prst="rect">
            <a:avLst/>
          </a:prstGeom>
          <a:noFill/>
          <a:ln/>
        </p:spPr>
        <p:txBody>
          <a:bodyPr wrap="square" lIns="0" tIns="0" rIns="0" bIns="0" rtlCol="0" anchor="ctr"/>
          <a:lstStyle/>
          <a:p>
            <a:pPr marL="0" indent="0" algn="r">
              <a:buNone/>
            </a:pPr>
            <a:r>
              <a:rPr lang="en-US" sz="660" dirty="0">
                <a:solidFill>
                  <a:srgbClr val="64748B"/>
                </a:solidFill>
                <a:latin typeface="Aptos" pitchFamily="34" charset="0"/>
              </a:rPr>
              <a:t>8</a:t>
            </a:r>
            <a:endParaRPr lang="en-US" sz="660" dirty="0"/>
          </a:p>
        </p:txBody>
      </p:sp>
      <p:sp>
        <p:nvSpPr>
          <p:cNvPr id="23" name="TextBox 22">
            <a:extLst>
              <a:ext uri="{FF2B5EF4-FFF2-40B4-BE49-F238E27FC236}">
                <a16:creationId xmlns:a16="http://schemas.microsoft.com/office/drawing/2014/main" id="{07AE755D-B088-14C6-BE4B-CD915EA6DA6A}"/>
              </a:ext>
            </a:extLst>
          </p:cNvPr>
          <p:cNvSpPr txBox="1"/>
          <p:nvPr/>
        </p:nvSpPr>
        <p:spPr>
          <a:xfrm>
            <a:off x="411480" y="256032"/>
            <a:ext cx="4389120" cy="457200"/>
          </a:xfrm>
          <a:prstGeom prst="rect">
            <a:avLst/>
          </a:prstGeom>
          <a:noFill/>
        </p:spPr>
        <p:txBody>
          <a:bodyPr wrap="square" anchor="t">
            <a:spAutoFit/>
          </a:bodyPr>
          <a:lstStyle/>
          <a:p>
            <a:pPr algn="l"/>
            <a:r>
              <a:rPr sz="2300" b="1">
                <a:solidFill>
                  <a:srgbClr val="1F2839"/>
                </a:solidFill>
                <a:latin typeface="Aptos"/>
              </a:rPr>
              <a:t>Conclusions</a:t>
            </a:r>
          </a:p>
        </p:txBody>
      </p:sp>
      <p:sp>
        <p:nvSpPr>
          <p:cNvPr id="25" name="TextBox 24">
            <a:extLst>
              <a:ext uri="{FF2B5EF4-FFF2-40B4-BE49-F238E27FC236}">
                <a16:creationId xmlns:a16="http://schemas.microsoft.com/office/drawing/2014/main" id="{A753572D-E9A8-114F-AE8F-82F290015B5B}"/>
              </a:ext>
            </a:extLst>
          </p:cNvPr>
          <p:cNvSpPr txBox="1"/>
          <p:nvPr/>
        </p:nvSpPr>
        <p:spPr>
          <a:xfrm>
            <a:off x="411480" y="658368"/>
            <a:ext cx="4937760" cy="274320"/>
          </a:xfrm>
          <a:prstGeom prst="rect">
            <a:avLst/>
          </a:prstGeom>
          <a:noFill/>
        </p:spPr>
        <p:txBody>
          <a:bodyPr wrap="square" anchor="t">
            <a:spAutoFit/>
          </a:bodyPr>
          <a:lstStyle/>
          <a:p>
            <a:pPr algn="l"/>
            <a:r>
              <a:rPr sz="1000" b="0">
                <a:solidFill>
                  <a:srgbClr val="636F82"/>
                </a:solidFill>
                <a:latin typeface="Aptos"/>
              </a:rPr>
              <a:t>What is measured, what is modelled, and what comes next</a:t>
            </a:r>
          </a:p>
        </p:txBody>
      </p:sp>
      <p:sp>
        <p:nvSpPr>
          <p:cNvPr id="27" name="Rectangle 26">
            <a:extLst>
              <a:ext uri="{FF2B5EF4-FFF2-40B4-BE49-F238E27FC236}">
                <a16:creationId xmlns:a16="http://schemas.microsoft.com/office/drawing/2014/main" id="{999B97E0-AD95-010A-DC61-2E772F32C987}"/>
              </a:ext>
            </a:extLst>
          </p:cNvPr>
          <p:cNvSpPr/>
          <p:nvPr/>
        </p:nvSpPr>
        <p:spPr>
          <a:xfrm>
            <a:off x="411480" y="914400"/>
            <a:ext cx="2651760" cy="27432"/>
          </a:xfrm>
          <a:prstGeom prst="rect">
            <a:avLst/>
          </a:prstGeom>
          <a:solidFill>
            <a:srgbClr val="009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4">
            <a:extLst>
              <a:ext uri="{FF2B5EF4-FFF2-40B4-BE49-F238E27FC236}">
                <a16:creationId xmlns:a16="http://schemas.microsoft.com/office/drawing/2014/main" id="{642A422E-E7D4-F6EE-C9D4-3A408537975D}"/>
              </a:ext>
            </a:extLst>
          </p:cNvPr>
          <p:cNvSpPr/>
          <p:nvPr/>
        </p:nvSpPr>
        <p:spPr>
          <a:xfrm>
            <a:off x="713232" y="1170432"/>
            <a:ext cx="9326880" cy="713232"/>
          </a:xfrm>
          <a:prstGeom prst="roundRect">
            <a:avLst/>
          </a:prstGeom>
          <a:solidFill>
            <a:srgbClr val="FFFFFF"/>
          </a:solidFill>
          <a:ln w="20320">
            <a:solidFill>
              <a:srgbClr val="009B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a:extLst>
              <a:ext uri="{FF2B5EF4-FFF2-40B4-BE49-F238E27FC236}">
                <a16:creationId xmlns:a16="http://schemas.microsoft.com/office/drawing/2014/main" id="{B6632FB9-6DA4-0A4D-021B-CF854302BF2C}"/>
              </a:ext>
            </a:extLst>
          </p:cNvPr>
          <p:cNvSpPr txBox="1"/>
          <p:nvPr/>
        </p:nvSpPr>
        <p:spPr>
          <a:xfrm>
            <a:off x="914400" y="1371600"/>
            <a:ext cx="1554480" cy="256032"/>
          </a:xfrm>
          <a:prstGeom prst="rect">
            <a:avLst/>
          </a:prstGeom>
          <a:noFill/>
        </p:spPr>
        <p:txBody>
          <a:bodyPr wrap="square" anchor="t">
            <a:spAutoFit/>
          </a:bodyPr>
          <a:lstStyle/>
          <a:p>
            <a:pPr algn="l"/>
            <a:r>
              <a:rPr sz="1250" b="1">
                <a:solidFill>
                  <a:srgbClr val="009BAA"/>
                </a:solidFill>
                <a:latin typeface="Aptos"/>
              </a:rPr>
              <a:t>Measured now</a:t>
            </a:r>
          </a:p>
        </p:txBody>
      </p:sp>
      <p:sp>
        <p:nvSpPr>
          <p:cNvPr id="33" name="TextBox 32">
            <a:extLst>
              <a:ext uri="{FF2B5EF4-FFF2-40B4-BE49-F238E27FC236}">
                <a16:creationId xmlns:a16="http://schemas.microsoft.com/office/drawing/2014/main" id="{1CA49338-D2C1-3792-6492-A7CF1E20E59E}"/>
              </a:ext>
            </a:extLst>
          </p:cNvPr>
          <p:cNvSpPr txBox="1"/>
          <p:nvPr/>
        </p:nvSpPr>
        <p:spPr>
          <a:xfrm>
            <a:off x="2176272" y="1344168"/>
            <a:ext cx="7498079" cy="437043"/>
          </a:xfrm>
          <a:prstGeom prst="rect">
            <a:avLst/>
          </a:prstGeom>
          <a:noFill/>
        </p:spPr>
        <p:txBody>
          <a:bodyPr wrap="square" anchor="t">
            <a:spAutoFit/>
          </a:bodyPr>
          <a:lstStyle/>
          <a:p>
            <a:pPr algn="l"/>
            <a:r>
              <a:rPr sz="1120" b="0">
                <a:solidFill>
                  <a:srgbClr val="1F2839"/>
                </a:solidFill>
                <a:latin typeface="Aptos"/>
              </a:rPr>
              <a:t>780-nm absorption and EIT-bearing spectra were recorded, and the linear-polariser run demonstrates ordered linear-polarisation response after atomic readout.</a:t>
            </a:r>
          </a:p>
        </p:txBody>
      </p:sp>
      <p:sp>
        <p:nvSpPr>
          <p:cNvPr id="35" name="Rounded Rectangle 7">
            <a:extLst>
              <a:ext uri="{FF2B5EF4-FFF2-40B4-BE49-F238E27FC236}">
                <a16:creationId xmlns:a16="http://schemas.microsoft.com/office/drawing/2014/main" id="{49E696AC-42F8-EE78-628F-2CAB7CF86CDE}"/>
              </a:ext>
            </a:extLst>
          </p:cNvPr>
          <p:cNvSpPr/>
          <p:nvPr/>
        </p:nvSpPr>
        <p:spPr>
          <a:xfrm>
            <a:off x="713232" y="2212848"/>
            <a:ext cx="9326880" cy="713232"/>
          </a:xfrm>
          <a:prstGeom prst="roundRect">
            <a:avLst/>
          </a:prstGeom>
          <a:solidFill>
            <a:srgbClr val="FFFFFF"/>
          </a:solidFill>
          <a:ln w="20320">
            <a:solidFill>
              <a:srgbClr val="23A0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a:extLst>
              <a:ext uri="{FF2B5EF4-FFF2-40B4-BE49-F238E27FC236}">
                <a16:creationId xmlns:a16="http://schemas.microsoft.com/office/drawing/2014/main" id="{F6713398-1619-77A2-DD2D-99A4EA445323}"/>
              </a:ext>
            </a:extLst>
          </p:cNvPr>
          <p:cNvSpPr txBox="1"/>
          <p:nvPr/>
        </p:nvSpPr>
        <p:spPr>
          <a:xfrm>
            <a:off x="914400" y="2353949"/>
            <a:ext cx="1554480" cy="256032"/>
          </a:xfrm>
          <a:prstGeom prst="rect">
            <a:avLst/>
          </a:prstGeom>
          <a:noFill/>
        </p:spPr>
        <p:txBody>
          <a:bodyPr wrap="square" anchor="t">
            <a:spAutoFit/>
          </a:bodyPr>
          <a:lstStyle/>
          <a:p>
            <a:pPr algn="l"/>
            <a:r>
              <a:rPr sz="1250" b="1" dirty="0">
                <a:solidFill>
                  <a:srgbClr val="23A0BE"/>
                </a:solidFill>
                <a:latin typeface="Aptos"/>
              </a:rPr>
              <a:t>Supported by modelling</a:t>
            </a:r>
          </a:p>
        </p:txBody>
      </p:sp>
      <p:sp>
        <p:nvSpPr>
          <p:cNvPr id="39" name="TextBox 38">
            <a:extLst>
              <a:ext uri="{FF2B5EF4-FFF2-40B4-BE49-F238E27FC236}">
                <a16:creationId xmlns:a16="http://schemas.microsoft.com/office/drawing/2014/main" id="{3DF7396B-6D62-0676-567A-B49C70C845E5}"/>
              </a:ext>
            </a:extLst>
          </p:cNvPr>
          <p:cNvSpPr txBox="1"/>
          <p:nvPr/>
        </p:nvSpPr>
        <p:spPr>
          <a:xfrm>
            <a:off x="2176272" y="2280485"/>
            <a:ext cx="7498079" cy="646331"/>
          </a:xfrm>
          <a:prstGeom prst="rect">
            <a:avLst/>
          </a:prstGeom>
          <a:noFill/>
        </p:spPr>
        <p:txBody>
          <a:bodyPr wrap="square" anchor="t">
            <a:spAutoFit/>
          </a:bodyPr>
          <a:lstStyle/>
          <a:p>
            <a:r>
              <a:rPr sz="1200">
                <a:solidFill>
                  <a:srgbClr val="131C2C"/>
                </a:solidFill>
                <a:latin typeface="Aptos"/>
              </a:rPr>
              <a:t>Observability analysis shows why an independent S₃-sensitive channel is required; Zeeman modelling provides a physically credible route to circular-handedness sensitivity.</a:t>
            </a:r>
            <a:endParaRPr sz="1120" b="0" dirty="0">
              <a:solidFill>
                <a:srgbClr val="1F2839"/>
              </a:solidFill>
              <a:latin typeface="Arial" panose="020B0604020202020204" pitchFamily="34" charset="0"/>
              <a:cs typeface="Arial" panose="020B0604020202020204" pitchFamily="34" charset="0"/>
            </a:endParaRPr>
          </a:p>
        </p:txBody>
      </p:sp>
      <p:sp>
        <p:nvSpPr>
          <p:cNvPr id="41" name="Rounded Rectangle 10">
            <a:extLst>
              <a:ext uri="{FF2B5EF4-FFF2-40B4-BE49-F238E27FC236}">
                <a16:creationId xmlns:a16="http://schemas.microsoft.com/office/drawing/2014/main" id="{787780E7-F56B-13CD-0838-1C78A70B5186}"/>
              </a:ext>
            </a:extLst>
          </p:cNvPr>
          <p:cNvSpPr/>
          <p:nvPr/>
        </p:nvSpPr>
        <p:spPr>
          <a:xfrm>
            <a:off x="713232" y="3255264"/>
            <a:ext cx="9326880" cy="713232"/>
          </a:xfrm>
          <a:prstGeom prst="roundRect">
            <a:avLst/>
          </a:prstGeom>
          <a:solidFill>
            <a:srgbClr val="FFFFFF"/>
          </a:solidFill>
          <a:ln w="20320">
            <a:solidFill>
              <a:srgbClr val="C61A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a:extLst>
              <a:ext uri="{FF2B5EF4-FFF2-40B4-BE49-F238E27FC236}">
                <a16:creationId xmlns:a16="http://schemas.microsoft.com/office/drawing/2014/main" id="{281E2C2E-E3CD-F581-859B-BC8C292ED3F7}"/>
              </a:ext>
            </a:extLst>
          </p:cNvPr>
          <p:cNvSpPr txBox="1"/>
          <p:nvPr/>
        </p:nvSpPr>
        <p:spPr>
          <a:xfrm>
            <a:off x="914400" y="3456432"/>
            <a:ext cx="1554480" cy="284693"/>
          </a:xfrm>
          <a:prstGeom prst="rect">
            <a:avLst/>
          </a:prstGeom>
          <a:noFill/>
        </p:spPr>
        <p:txBody>
          <a:bodyPr wrap="square" anchor="t">
            <a:spAutoFit/>
          </a:bodyPr>
          <a:lstStyle/>
          <a:p>
            <a:pPr algn="l"/>
            <a:r>
              <a:rPr lang="en-AU" sz="1250" b="1" dirty="0">
                <a:solidFill>
                  <a:srgbClr val="C61A75"/>
                </a:solidFill>
                <a:latin typeface="Aptos"/>
              </a:rPr>
              <a:t>What remains</a:t>
            </a:r>
            <a:endParaRPr sz="1250" b="1" dirty="0">
              <a:solidFill>
                <a:srgbClr val="C61A75"/>
              </a:solidFill>
              <a:latin typeface="Arial"/>
            </a:endParaRPr>
          </a:p>
        </p:txBody>
      </p:sp>
      <p:sp>
        <p:nvSpPr>
          <p:cNvPr id="45" name="TextBox 44">
            <a:extLst>
              <a:ext uri="{FF2B5EF4-FFF2-40B4-BE49-F238E27FC236}">
                <a16:creationId xmlns:a16="http://schemas.microsoft.com/office/drawing/2014/main" id="{C0AA18DE-9F19-F8D9-A8DE-0D3BFFA045FC}"/>
              </a:ext>
            </a:extLst>
          </p:cNvPr>
          <p:cNvSpPr txBox="1"/>
          <p:nvPr/>
        </p:nvSpPr>
        <p:spPr>
          <a:xfrm>
            <a:off x="2176272" y="3429000"/>
            <a:ext cx="7498079" cy="461665"/>
          </a:xfrm>
          <a:prstGeom prst="rect">
            <a:avLst/>
          </a:prstGeom>
          <a:noFill/>
        </p:spPr>
        <p:txBody>
          <a:bodyPr wrap="square" anchor="t">
            <a:spAutoFit/>
          </a:bodyPr>
          <a:lstStyle/>
          <a:p>
            <a:r>
              <a:rPr sz="1200">
                <a:solidFill>
                  <a:srgbClr val="131C2C"/>
                </a:solidFill>
                <a:latin typeface="Aptos"/>
              </a:rPr>
              <a:t>A calibrated R/L-sensitive measurement has not yet been demonstrated. The current experimental result is linear-polarisation discrimination, not complete full-Stokes recovery.</a:t>
            </a:r>
            <a:endParaRPr sz="1120" b="0" dirty="0">
              <a:solidFill>
                <a:srgbClr val="1F2839"/>
              </a:solidFill>
              <a:latin typeface="Arial" panose="020B0604020202020204" pitchFamily="34" charset="0"/>
              <a:cs typeface="Arial" panose="020B0604020202020204" pitchFamily="34" charset="0"/>
            </a:endParaRPr>
          </a:p>
        </p:txBody>
      </p:sp>
      <p:sp>
        <p:nvSpPr>
          <p:cNvPr id="47" name="Rounded Rectangle 13">
            <a:extLst>
              <a:ext uri="{FF2B5EF4-FFF2-40B4-BE49-F238E27FC236}">
                <a16:creationId xmlns:a16="http://schemas.microsoft.com/office/drawing/2014/main" id="{2B76ED48-FD86-CAF9-33CC-F744E50FEC54}"/>
              </a:ext>
            </a:extLst>
          </p:cNvPr>
          <p:cNvSpPr/>
          <p:nvPr/>
        </p:nvSpPr>
        <p:spPr>
          <a:xfrm>
            <a:off x="713232" y="4297680"/>
            <a:ext cx="9326880" cy="713232"/>
          </a:xfrm>
          <a:prstGeom prst="roundRect">
            <a:avLst/>
          </a:prstGeom>
          <a:solidFill>
            <a:srgbClr val="FFFFFF"/>
          </a:solidFill>
          <a:ln w="20320">
            <a:solidFill>
              <a:srgbClr val="2328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a:extLst>
              <a:ext uri="{FF2B5EF4-FFF2-40B4-BE49-F238E27FC236}">
                <a16:creationId xmlns:a16="http://schemas.microsoft.com/office/drawing/2014/main" id="{F157FF30-E3F2-228A-D126-53045918B8F6}"/>
              </a:ext>
            </a:extLst>
          </p:cNvPr>
          <p:cNvSpPr txBox="1"/>
          <p:nvPr/>
        </p:nvSpPr>
        <p:spPr>
          <a:xfrm>
            <a:off x="914400" y="4498848"/>
            <a:ext cx="1554480" cy="256032"/>
          </a:xfrm>
          <a:prstGeom prst="rect">
            <a:avLst/>
          </a:prstGeom>
          <a:noFill/>
        </p:spPr>
        <p:txBody>
          <a:bodyPr wrap="square" anchor="t">
            <a:spAutoFit/>
          </a:bodyPr>
          <a:lstStyle/>
          <a:p>
            <a:pPr algn="l"/>
            <a:r>
              <a:rPr sz="1250" b="1">
                <a:solidFill>
                  <a:srgbClr val="232832"/>
                </a:solidFill>
                <a:latin typeface="Aptos"/>
              </a:rPr>
              <a:t>Next proof</a:t>
            </a:r>
          </a:p>
        </p:txBody>
      </p:sp>
      <p:sp>
        <p:nvSpPr>
          <p:cNvPr id="51" name="TextBox 50">
            <a:extLst>
              <a:ext uri="{FF2B5EF4-FFF2-40B4-BE49-F238E27FC236}">
                <a16:creationId xmlns:a16="http://schemas.microsoft.com/office/drawing/2014/main" id="{6B5AF2F7-54C4-F211-3F91-9FE0B1FE808B}"/>
              </a:ext>
            </a:extLst>
          </p:cNvPr>
          <p:cNvSpPr txBox="1"/>
          <p:nvPr/>
        </p:nvSpPr>
        <p:spPr>
          <a:xfrm>
            <a:off x="2176272" y="4471416"/>
            <a:ext cx="7498079" cy="347472"/>
          </a:xfrm>
          <a:prstGeom prst="rect">
            <a:avLst/>
          </a:prstGeom>
          <a:noFill/>
        </p:spPr>
        <p:txBody>
          <a:bodyPr wrap="square" anchor="t">
            <a:spAutoFit/>
          </a:bodyPr>
          <a:lstStyle/>
          <a:p>
            <a:pPr algn="l"/>
            <a:r>
              <a:rPr sz="1120" b="0">
                <a:solidFill>
                  <a:srgbClr val="1F2839"/>
                </a:solidFill>
                <a:latin typeface="Aptos"/>
              </a:rPr>
              <a:t>Calibrate H/V, D/A and R/L projections; measure a stable circular response; invert the calibrated response to a Stokes vector; validate against known RF references.</a:t>
            </a:r>
          </a:p>
        </p:txBody>
      </p:sp>
      <p:sp>
        <p:nvSpPr>
          <p:cNvPr id="53" name="Rounded Rectangle 16">
            <a:extLst>
              <a:ext uri="{FF2B5EF4-FFF2-40B4-BE49-F238E27FC236}">
                <a16:creationId xmlns:a16="http://schemas.microsoft.com/office/drawing/2014/main" id="{0CF57E21-6E20-1EA6-D261-A27EBB024F7C}"/>
              </a:ext>
            </a:extLst>
          </p:cNvPr>
          <p:cNvSpPr/>
          <p:nvPr/>
        </p:nvSpPr>
        <p:spPr>
          <a:xfrm>
            <a:off x="713232" y="5440680"/>
            <a:ext cx="10972800" cy="850392"/>
          </a:xfrm>
          <a:prstGeom prst="roundRect">
            <a:avLst/>
          </a:prstGeom>
          <a:solidFill>
            <a:srgbClr val="FCF0F6"/>
          </a:solidFill>
          <a:ln>
            <a:solidFill>
              <a:srgbClr val="C61A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a:extLst>
              <a:ext uri="{FF2B5EF4-FFF2-40B4-BE49-F238E27FC236}">
                <a16:creationId xmlns:a16="http://schemas.microsoft.com/office/drawing/2014/main" id="{380D8CA7-A956-98BC-EE09-0B8601863D8B}"/>
              </a:ext>
            </a:extLst>
          </p:cNvPr>
          <p:cNvSpPr txBox="1"/>
          <p:nvPr/>
        </p:nvSpPr>
        <p:spPr>
          <a:xfrm>
            <a:off x="685800" y="5705856"/>
            <a:ext cx="1783080" cy="320040"/>
          </a:xfrm>
          <a:prstGeom prst="rect">
            <a:avLst/>
          </a:prstGeom>
          <a:noFill/>
        </p:spPr>
        <p:txBody>
          <a:bodyPr wrap="square" anchor="t">
            <a:spAutoFit/>
          </a:bodyPr>
          <a:lstStyle/>
          <a:p>
            <a:pPr algn="l"/>
            <a:r>
              <a:rPr sz="1150" b="1" dirty="0">
                <a:solidFill>
                  <a:srgbClr val="C61A75"/>
                </a:solidFill>
                <a:latin typeface="Aptos"/>
              </a:rPr>
              <a:t>Take-home message</a:t>
            </a:r>
          </a:p>
        </p:txBody>
      </p:sp>
      <p:sp>
        <p:nvSpPr>
          <p:cNvPr id="59" name="TextBox 58">
            <a:extLst>
              <a:ext uri="{FF2B5EF4-FFF2-40B4-BE49-F238E27FC236}">
                <a16:creationId xmlns:a16="http://schemas.microsoft.com/office/drawing/2014/main" id="{5C32C3B8-E502-49F7-717F-F871C367BB56}"/>
              </a:ext>
            </a:extLst>
          </p:cNvPr>
          <p:cNvSpPr txBox="1"/>
          <p:nvPr/>
        </p:nvSpPr>
        <p:spPr>
          <a:xfrm>
            <a:off x="2240280" y="5604266"/>
            <a:ext cx="9144000" cy="523220"/>
          </a:xfrm>
          <a:prstGeom prst="rect">
            <a:avLst/>
          </a:prstGeom>
          <a:noFill/>
        </p:spPr>
        <p:txBody>
          <a:bodyPr wrap="square" anchor="t">
            <a:spAutoFit/>
          </a:bodyPr>
          <a:lstStyle/>
          <a:p>
            <a:r>
              <a:rPr sz="1400" b="1">
                <a:solidFill>
                  <a:srgbClr val="131C2C"/>
                </a:solidFill>
                <a:latin typeface="Aptos"/>
              </a:rPr>
              <a:t>This work establishes a testable Rydberg-polarimetry architecture, demonstrates the linear-polarisation measurement pathway, and defines the route to calibrated full-Stokes validation.</a:t>
            </a:r>
            <a:endParaRPr sz="1240" b="1" dirty="0">
              <a:solidFill>
                <a:srgbClr val="1F2839"/>
              </a:solidFill>
              <a:latin typeface="Arial"/>
            </a:endParaRPr>
          </a:p>
        </p:txBody>
      </p:sp>
      <p:sp>
        <p:nvSpPr>
          <p:cNvPr id="61" name="Rounded Rectangle 60"/>
          <p:cNvSpPr/>
          <p:nvPr/>
        </p:nvSpPr>
        <p:spPr>
          <a:xfrm>
            <a:off x="10241280" y="1170432"/>
            <a:ext cx="1143000" cy="713232"/>
          </a:xfrm>
          <a:prstGeom prst="roundRect">
            <a:avLst/>
          </a:prstGeom>
          <a:solidFill>
            <a:srgbClr val="EAF6F8"/>
          </a:solidFill>
          <a:ln w="11430">
            <a:solidFill>
              <a:srgbClr val="B8DC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10341864" y="1353312"/>
            <a:ext cx="960120" cy="146304"/>
          </a:xfrm>
          <a:prstGeom prst="rect">
            <a:avLst/>
          </a:prstGeom>
          <a:noFill/>
        </p:spPr>
        <p:txBody>
          <a:bodyPr wrap="none" lIns="54864" tIns="27432" rIns="54864" bIns="27432">
            <a:spAutoFit/>
          </a:bodyPr>
          <a:lstStyle/>
          <a:p>
            <a:pPr algn="ctr">
              <a:lnSpc>
                <a:spcPct val="100000"/>
              </a:lnSpc>
              <a:defRPr sz="1000" b="1">
                <a:solidFill>
                  <a:srgbClr val="149EA6"/>
                </a:solidFill>
                <a:latin typeface="Aptos"/>
              </a:defRPr>
            </a:pPr>
            <a:r>
              <a:t>MEASURED</a:t>
            </a:r>
          </a:p>
        </p:txBody>
      </p:sp>
      <p:sp>
        <p:nvSpPr>
          <p:cNvPr id="63" name="Rounded Rectangle 62"/>
          <p:cNvSpPr/>
          <p:nvPr/>
        </p:nvSpPr>
        <p:spPr>
          <a:xfrm>
            <a:off x="10241280" y="2212848"/>
            <a:ext cx="1143000" cy="713232"/>
          </a:xfrm>
          <a:prstGeom prst="roundRect">
            <a:avLst/>
          </a:prstGeom>
          <a:solidFill>
            <a:srgbClr val="FCEEF6"/>
          </a:solidFill>
          <a:ln w="11430">
            <a:solidFill>
              <a:srgbClr val="E7B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10341864" y="2395728"/>
            <a:ext cx="960120" cy="146304"/>
          </a:xfrm>
          <a:prstGeom prst="rect">
            <a:avLst/>
          </a:prstGeom>
          <a:noFill/>
        </p:spPr>
        <p:txBody>
          <a:bodyPr wrap="none" lIns="54864" tIns="27432" rIns="54864" bIns="27432">
            <a:spAutoFit/>
          </a:bodyPr>
          <a:lstStyle/>
          <a:p>
            <a:pPr algn="ctr">
              <a:lnSpc>
                <a:spcPct val="100000"/>
              </a:lnSpc>
              <a:defRPr sz="1000" b="1">
                <a:solidFill>
                  <a:srgbClr val="C21877"/>
                </a:solidFill>
                <a:latin typeface="Aptos"/>
              </a:defRPr>
            </a:pPr>
            <a:r>
              <a:t>MODELLED</a:t>
            </a:r>
          </a:p>
        </p:txBody>
      </p:sp>
      <p:sp>
        <p:nvSpPr>
          <p:cNvPr id="65" name="Rounded Rectangle 64"/>
          <p:cNvSpPr/>
          <p:nvPr/>
        </p:nvSpPr>
        <p:spPr>
          <a:xfrm>
            <a:off x="10241280" y="3255264"/>
            <a:ext cx="1143000" cy="713232"/>
          </a:xfrm>
          <a:prstGeom prst="roundRect">
            <a:avLst/>
          </a:prstGeom>
          <a:solidFill>
            <a:srgbClr val="FFF6E4"/>
          </a:solidFill>
          <a:ln w="11430">
            <a:solidFill>
              <a:srgbClr val="F1D4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10341864" y="3438144"/>
            <a:ext cx="960120" cy="146304"/>
          </a:xfrm>
          <a:prstGeom prst="rect">
            <a:avLst/>
          </a:prstGeom>
          <a:noFill/>
        </p:spPr>
        <p:txBody>
          <a:bodyPr wrap="none" lIns="54864" tIns="27432" rIns="54864" bIns="27432">
            <a:spAutoFit/>
          </a:bodyPr>
          <a:lstStyle/>
          <a:p>
            <a:pPr algn="ctr">
              <a:lnSpc>
                <a:spcPct val="100000"/>
              </a:lnSpc>
              <a:defRPr sz="1000" b="1">
                <a:solidFill>
                  <a:srgbClr val="F5A623"/>
                </a:solidFill>
                <a:latin typeface="Aptos"/>
              </a:defRPr>
            </a:pPr>
            <a:r>
              <a:t>NEXT</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ounded Rectangle 17"/>
          <p:cNvSpPr/>
          <p:nvPr/>
        </p:nvSpPr>
        <p:spPr>
          <a:xfrm>
            <a:off x="989503" y="588199"/>
            <a:ext cx="2532821" cy="2836188"/>
          </a:xfrm>
          <a:prstGeom prst="roundRect">
            <a:avLst/>
          </a:prstGeom>
          <a:solidFill>
            <a:srgbClr val="FFFFFF"/>
          </a:solidFill>
          <a:ln w="9525">
            <a:solidFill>
              <a:srgbClr val="DF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387552" y="588199"/>
            <a:ext cx="1974021" cy="2815987"/>
          </a:xfrm>
          <a:prstGeom prst="roundRect">
            <a:avLst/>
          </a:prstGeom>
          <a:solidFill>
            <a:srgbClr val="FFFFFF"/>
          </a:solidFill>
          <a:ln w="9525">
            <a:solidFill>
              <a:srgbClr val="DF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213412" y="3054731"/>
            <a:ext cx="2230051" cy="3113087"/>
          </a:xfrm>
          <a:prstGeom prst="roundRect">
            <a:avLst/>
          </a:prstGeom>
          <a:solidFill>
            <a:srgbClr val="FFFFFF"/>
          </a:solidFill>
          <a:ln w="9525">
            <a:solidFill>
              <a:srgbClr val="DF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2570654" y="3355848"/>
            <a:ext cx="2230050" cy="3277563"/>
          </a:xfrm>
          <a:prstGeom prst="roundRect">
            <a:avLst/>
          </a:prstGeom>
          <a:solidFill>
            <a:srgbClr val="FFFFFF"/>
          </a:solidFill>
          <a:ln w="9525">
            <a:solidFill>
              <a:srgbClr val="DF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0"/>
            <a:ext cx="12192000" cy="6858000"/>
          </a:xfrm>
          <a:prstGeom prst="rect">
            <a:avLst/>
          </a:prstGeom>
          <a:solidFill>
            <a:srgbClr val="F8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a:extLst>
              <a:ext uri="{FF2B5EF4-FFF2-40B4-BE49-F238E27FC236}">
                <a16:creationId xmlns:a16="http://schemas.microsoft.com/office/drawing/2014/main" id="{923190CE-8B10-80C6-354D-13CD8C2D7B14}"/>
              </a:ext>
            </a:extLst>
          </p:cNvPr>
          <p:cNvPicPr>
            <a:picLocks noChangeAspect="1"/>
          </p:cNvPicPr>
          <p:nvPr/>
        </p:nvPicPr>
        <p:blipFill>
          <a:blip r:embed="rId3"/>
          <a:stretch>
            <a:fillRect/>
          </a:stretch>
        </p:blipFill>
        <p:spPr>
          <a:xfrm>
            <a:off x="2643806" y="3429000"/>
            <a:ext cx="2083746" cy="2774643"/>
          </a:xfrm>
          <a:prstGeom prst="rect">
            <a:avLst/>
          </a:prstGeom>
        </p:spPr>
      </p:pic>
      <p:sp>
        <p:nvSpPr>
          <p:cNvPr id="8" name="TextBox 7">
            <a:extLst>
              <a:ext uri="{FF2B5EF4-FFF2-40B4-BE49-F238E27FC236}">
                <a16:creationId xmlns:a16="http://schemas.microsoft.com/office/drawing/2014/main" id="{0E15755E-00DE-ECD1-83F3-83C3F6525E2D}"/>
              </a:ext>
            </a:extLst>
          </p:cNvPr>
          <p:cNvSpPr txBox="1"/>
          <p:nvPr/>
        </p:nvSpPr>
        <p:spPr>
          <a:xfrm>
            <a:off x="2770059" y="6258962"/>
            <a:ext cx="3025902" cy="369332"/>
          </a:xfrm>
          <a:prstGeom prst="rect">
            <a:avLst/>
          </a:prstGeom>
          <a:noFill/>
        </p:spPr>
        <p:txBody>
          <a:bodyPr wrap="square" rtlCol="0">
            <a:spAutoFit/>
          </a:bodyPr>
          <a:lstStyle/>
          <a:p>
            <a:r>
              <a:rPr lang="en-US" dirty="0">
                <a:solidFill>
                  <a:srgbClr val="131C2C"/>
                </a:solidFill>
                <a:latin typeface="Aptos"/>
              </a:rPr>
              <a:t>Haroldo Hattori</a:t>
            </a:r>
            <a:endParaRPr lang="en-AU" dirty="0"/>
          </a:p>
        </p:txBody>
      </p:sp>
      <p:pic>
        <p:nvPicPr>
          <p:cNvPr id="10" name="Picture 9">
            <a:extLst>
              <a:ext uri="{FF2B5EF4-FFF2-40B4-BE49-F238E27FC236}">
                <a16:creationId xmlns:a16="http://schemas.microsoft.com/office/drawing/2014/main" id="{802DB352-28E8-9D62-39F6-C7B412B10762}"/>
              </a:ext>
            </a:extLst>
          </p:cNvPr>
          <p:cNvPicPr>
            <a:picLocks noChangeAspect="1"/>
          </p:cNvPicPr>
          <p:nvPr/>
        </p:nvPicPr>
        <p:blipFill>
          <a:blip r:embed="rId4"/>
          <a:stretch>
            <a:fillRect/>
          </a:stretch>
        </p:blipFill>
        <p:spPr>
          <a:xfrm>
            <a:off x="8286564" y="3127883"/>
            <a:ext cx="2083747" cy="2610167"/>
          </a:xfrm>
          <a:prstGeom prst="rect">
            <a:avLst/>
          </a:prstGeom>
        </p:spPr>
      </p:pic>
      <p:sp>
        <p:nvSpPr>
          <p:cNvPr id="11" name="TextBox 10">
            <a:extLst>
              <a:ext uri="{FF2B5EF4-FFF2-40B4-BE49-F238E27FC236}">
                <a16:creationId xmlns:a16="http://schemas.microsoft.com/office/drawing/2014/main" id="{E848B194-4438-DA7E-6487-DB4399EAE740}"/>
              </a:ext>
            </a:extLst>
          </p:cNvPr>
          <p:cNvSpPr txBox="1"/>
          <p:nvPr/>
        </p:nvSpPr>
        <p:spPr>
          <a:xfrm>
            <a:off x="8009869" y="6065544"/>
            <a:ext cx="3752850" cy="369332"/>
          </a:xfrm>
          <a:prstGeom prst="rect">
            <a:avLst/>
          </a:prstGeom>
          <a:noFill/>
        </p:spPr>
        <p:txBody>
          <a:bodyPr wrap="square" rtlCol="0">
            <a:spAutoFit/>
          </a:bodyPr>
          <a:lstStyle/>
          <a:p>
            <a:r>
              <a:rPr lang="en-US" dirty="0">
                <a:solidFill>
                  <a:srgbClr val="131C2C"/>
                </a:solidFill>
                <a:latin typeface="Aptos"/>
              </a:rPr>
              <a:t>Andrey Miroshnichenko</a:t>
            </a:r>
            <a:endParaRPr lang="en-AU" dirty="0"/>
          </a:p>
        </p:txBody>
      </p:sp>
      <p:pic>
        <p:nvPicPr>
          <p:cNvPr id="4" name="Picture 3">
            <a:extLst>
              <a:ext uri="{FF2B5EF4-FFF2-40B4-BE49-F238E27FC236}">
                <a16:creationId xmlns:a16="http://schemas.microsoft.com/office/drawing/2014/main" id="{A43F4D84-74FD-F57B-585D-166E2E37EBE2}"/>
              </a:ext>
            </a:extLst>
          </p:cNvPr>
          <p:cNvPicPr>
            <a:picLocks noChangeAspect="1"/>
          </p:cNvPicPr>
          <p:nvPr/>
        </p:nvPicPr>
        <p:blipFill>
          <a:blip r:embed="rId5"/>
          <a:stretch>
            <a:fillRect/>
          </a:stretch>
        </p:blipFill>
        <p:spPr>
          <a:xfrm>
            <a:off x="5460704" y="661351"/>
            <a:ext cx="1827717" cy="2313067"/>
          </a:xfrm>
          <a:prstGeom prst="rect">
            <a:avLst/>
          </a:prstGeom>
        </p:spPr>
      </p:pic>
      <p:sp>
        <p:nvSpPr>
          <p:cNvPr id="5" name="TextBox 4">
            <a:extLst>
              <a:ext uri="{FF2B5EF4-FFF2-40B4-BE49-F238E27FC236}">
                <a16:creationId xmlns:a16="http://schemas.microsoft.com/office/drawing/2014/main" id="{6B157BB0-562C-1F58-A52F-BA5C074E95D4}"/>
              </a:ext>
            </a:extLst>
          </p:cNvPr>
          <p:cNvSpPr txBox="1"/>
          <p:nvPr/>
        </p:nvSpPr>
        <p:spPr>
          <a:xfrm>
            <a:off x="5201154" y="3568183"/>
            <a:ext cx="2346815" cy="369332"/>
          </a:xfrm>
          <a:prstGeom prst="rect">
            <a:avLst/>
          </a:prstGeom>
          <a:noFill/>
        </p:spPr>
        <p:txBody>
          <a:bodyPr wrap="square" rtlCol="0">
            <a:spAutoFit/>
          </a:bodyPr>
          <a:lstStyle/>
          <a:p>
            <a:r>
              <a:rPr lang="en-US" dirty="0">
                <a:solidFill>
                  <a:srgbClr val="131C2C"/>
                </a:solidFill>
                <a:latin typeface="Aptos"/>
              </a:rPr>
              <a:t>Ishara Somaweera</a:t>
            </a:r>
            <a:endParaRPr lang="en-AU" dirty="0"/>
          </a:p>
        </p:txBody>
      </p:sp>
      <p:pic>
        <p:nvPicPr>
          <p:cNvPr id="9" name="Picture 8">
            <a:extLst>
              <a:ext uri="{FF2B5EF4-FFF2-40B4-BE49-F238E27FC236}">
                <a16:creationId xmlns:a16="http://schemas.microsoft.com/office/drawing/2014/main" id="{0535D38A-15CA-D508-8CD5-B554D7F6DBFC}"/>
              </a:ext>
            </a:extLst>
          </p:cNvPr>
          <p:cNvPicPr>
            <a:picLocks noChangeAspect="1"/>
          </p:cNvPicPr>
          <p:nvPr/>
        </p:nvPicPr>
        <p:blipFill>
          <a:blip r:embed="rId6"/>
          <a:stretch>
            <a:fillRect/>
          </a:stretch>
        </p:blipFill>
        <p:spPr>
          <a:xfrm>
            <a:off x="1062655" y="661351"/>
            <a:ext cx="2386517" cy="2333268"/>
          </a:xfrm>
          <a:prstGeom prst="rect">
            <a:avLst/>
          </a:prstGeom>
        </p:spPr>
      </p:pic>
      <p:sp>
        <p:nvSpPr>
          <p:cNvPr id="12" name="TextBox 11">
            <a:extLst>
              <a:ext uri="{FF2B5EF4-FFF2-40B4-BE49-F238E27FC236}">
                <a16:creationId xmlns:a16="http://schemas.microsoft.com/office/drawing/2014/main" id="{E7E5A837-C78C-7118-9FB1-2BDF5BC270E2}"/>
              </a:ext>
            </a:extLst>
          </p:cNvPr>
          <p:cNvSpPr txBox="1"/>
          <p:nvPr/>
        </p:nvSpPr>
        <p:spPr>
          <a:xfrm>
            <a:off x="1197429" y="3131551"/>
            <a:ext cx="2743200" cy="369332"/>
          </a:xfrm>
          <a:prstGeom prst="rect">
            <a:avLst/>
          </a:prstGeom>
          <a:noFill/>
        </p:spPr>
        <p:txBody>
          <a:bodyPr wrap="square" rtlCol="0">
            <a:spAutoFit/>
          </a:bodyPr>
          <a:lstStyle/>
          <a:p>
            <a:r>
              <a:rPr lang="en-US" dirty="0">
                <a:solidFill>
                  <a:srgbClr val="131C2C"/>
                </a:solidFill>
                <a:latin typeface="Aptos"/>
              </a:rPr>
              <a:t>Ryan Verghese</a:t>
            </a:r>
            <a:endParaRPr lang="en-AU" dirty="0"/>
          </a:p>
        </p:txBody>
      </p:sp>
      <p:sp>
        <p:nvSpPr>
          <p:cNvPr id="14" name="TextBox 13"/>
          <p:cNvSpPr txBox="1"/>
          <p:nvPr/>
        </p:nvSpPr>
        <p:spPr>
          <a:xfrm>
            <a:off x="502920" y="411480"/>
            <a:ext cx="3657600" cy="411480"/>
          </a:xfrm>
          <a:prstGeom prst="rect">
            <a:avLst/>
          </a:prstGeom>
          <a:noFill/>
        </p:spPr>
        <p:txBody>
          <a:bodyPr wrap="none" lIns="45720" tIns="18288" rIns="45720" bIns="18288">
            <a:spAutoFit/>
          </a:bodyPr>
          <a:lstStyle/>
          <a:p>
            <a:pPr algn="l">
              <a:spcAft>
                <a:spcPts val="0"/>
              </a:spcAft>
            </a:pPr>
            <a:r>
              <a:rPr sz="2800" b="1">
                <a:solidFill>
                  <a:srgbClr val="131C2C"/>
                </a:solidFill>
                <a:latin typeface="Aptos"/>
              </a:rPr>
              <a:t>Team</a:t>
            </a:r>
          </a:p>
        </p:txBody>
      </p:sp>
      <p:sp>
        <p:nvSpPr>
          <p:cNvPr id="19" name="Rectangle 18"/>
          <p:cNvSpPr/>
          <p:nvPr/>
        </p:nvSpPr>
        <p:spPr>
          <a:xfrm>
            <a:off x="0" y="0"/>
            <a:ext cx="12198096" cy="6419088"/>
          </a:xfrm>
          <a:prstGeom prst="rect">
            <a:avLst/>
          </a:prstGeom>
          <a:solidFill>
            <a:srgbClr val="F3FAFB"/>
          </a:solidFill>
          <a:ln>
            <a:solidFill>
              <a:srgbClr val="F3FA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2920" y="320040"/>
            <a:ext cx="10789920" cy="384048"/>
          </a:xfrm>
          <a:prstGeom prst="rect">
            <a:avLst/>
          </a:prstGeom>
          <a:noFill/>
        </p:spPr>
        <p:txBody>
          <a:bodyPr wrap="square" lIns="45720" tIns="27432" rIns="45720" bIns="18288">
            <a:spAutoFit/>
          </a:bodyPr>
          <a:lstStyle/>
          <a:p>
            <a:pPr algn="l">
              <a:defRPr sz="2400" b="1">
                <a:solidFill>
                  <a:srgbClr val="172033"/>
                </a:solidFill>
                <a:latin typeface="Aptos"/>
              </a:defRPr>
            </a:pPr>
            <a:r>
              <a:t>Team</a:t>
            </a:r>
          </a:p>
        </p:txBody>
      </p:sp>
      <p:sp>
        <p:nvSpPr>
          <p:cNvPr id="21" name="TextBox 20"/>
          <p:cNvSpPr txBox="1"/>
          <p:nvPr/>
        </p:nvSpPr>
        <p:spPr>
          <a:xfrm>
            <a:off x="512064" y="749808"/>
            <a:ext cx="10332720" cy="201168"/>
          </a:xfrm>
          <a:prstGeom prst="rect">
            <a:avLst/>
          </a:prstGeom>
          <a:noFill/>
        </p:spPr>
        <p:txBody>
          <a:bodyPr wrap="square" lIns="45720" tIns="27432" rIns="45720" bIns="18288">
            <a:spAutoFit/>
          </a:bodyPr>
          <a:lstStyle/>
          <a:p>
            <a:pPr algn="l">
              <a:defRPr sz="1070" b="0">
                <a:solidFill>
                  <a:srgbClr val="657381"/>
                </a:solidFill>
                <a:latin typeface="Aptos"/>
              </a:defRPr>
            </a:pPr>
            <a:r>
              <a:t>Acknowledgements and project context</a:t>
            </a:r>
          </a:p>
        </p:txBody>
      </p:sp>
      <p:sp>
        <p:nvSpPr>
          <p:cNvPr id="22" name="Rectangle 21"/>
          <p:cNvSpPr/>
          <p:nvPr/>
        </p:nvSpPr>
        <p:spPr>
          <a:xfrm>
            <a:off x="512064" y="987552"/>
            <a:ext cx="2697480" cy="32004"/>
          </a:xfrm>
          <a:prstGeom prst="rect">
            <a:avLst/>
          </a:prstGeom>
          <a:solidFill>
            <a:srgbClr val="149EA6"/>
          </a:solidFill>
          <a:ln>
            <a:solidFill>
              <a:srgbClr val="149E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731520" y="1417320"/>
            <a:ext cx="2148840" cy="3337560"/>
          </a:xfrm>
          <a:prstGeom prst="roundRect">
            <a:avLst/>
          </a:prstGeom>
          <a:solidFill>
            <a:srgbClr val="FFFFFF"/>
          </a:solidFill>
          <a:ln w="10160">
            <a:solidFill>
              <a:srgbClr val="D8E5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image.png"/>
          <p:cNvPicPr>
            <a:picLocks noChangeAspect="1"/>
          </p:cNvPicPr>
          <p:nvPr/>
        </p:nvPicPr>
        <p:blipFill>
          <a:blip r:embed="rId6"/>
          <a:stretch>
            <a:fillRect/>
          </a:stretch>
        </p:blipFill>
        <p:spPr>
          <a:xfrm>
            <a:off x="987552" y="1664078"/>
            <a:ext cx="1627632" cy="1591315"/>
          </a:xfrm>
          <a:prstGeom prst="rect">
            <a:avLst/>
          </a:prstGeom>
        </p:spPr>
      </p:pic>
      <p:sp>
        <p:nvSpPr>
          <p:cNvPr id="25" name="TextBox 24"/>
          <p:cNvSpPr txBox="1"/>
          <p:nvPr/>
        </p:nvSpPr>
        <p:spPr>
          <a:xfrm>
            <a:off x="896112" y="3474720"/>
            <a:ext cx="1819656" cy="228600"/>
          </a:xfrm>
          <a:prstGeom prst="rect">
            <a:avLst/>
          </a:prstGeom>
          <a:noFill/>
        </p:spPr>
        <p:txBody>
          <a:bodyPr wrap="square" lIns="45720" tIns="27432" rIns="45720" bIns="18288">
            <a:spAutoFit/>
          </a:bodyPr>
          <a:lstStyle/>
          <a:p>
            <a:pPr algn="ctr">
              <a:defRPr sz="1250" b="1">
                <a:solidFill>
                  <a:srgbClr val="172033"/>
                </a:solidFill>
                <a:latin typeface="Aptos"/>
              </a:defRPr>
            </a:pPr>
            <a:r>
              <a:t>Ryan Verghese</a:t>
            </a:r>
          </a:p>
        </p:txBody>
      </p:sp>
      <p:sp>
        <p:nvSpPr>
          <p:cNvPr id="26" name="TextBox 25"/>
          <p:cNvSpPr txBox="1"/>
          <p:nvPr/>
        </p:nvSpPr>
        <p:spPr>
          <a:xfrm>
            <a:off x="914400" y="3858768"/>
            <a:ext cx="1783080" cy="190821"/>
          </a:xfrm>
          <a:prstGeom prst="rect">
            <a:avLst/>
          </a:prstGeom>
          <a:noFill/>
        </p:spPr>
        <p:txBody>
          <a:bodyPr wrap="square" lIns="45720" tIns="27432" rIns="45720" bIns="18288">
            <a:spAutoFit/>
          </a:bodyPr>
          <a:lstStyle/>
          <a:p>
            <a:pPr algn="ctr">
              <a:defRPr sz="940" b="0">
                <a:solidFill>
                  <a:srgbClr val="657381"/>
                </a:solidFill>
                <a:latin typeface="Aptos"/>
              </a:defRPr>
            </a:pPr>
            <a:r>
              <a:rPr dirty="0"/>
              <a:t>Presenter</a:t>
            </a:r>
          </a:p>
        </p:txBody>
      </p:sp>
      <p:sp>
        <p:nvSpPr>
          <p:cNvPr id="27" name="Rounded Rectangle 26"/>
          <p:cNvSpPr/>
          <p:nvPr/>
        </p:nvSpPr>
        <p:spPr>
          <a:xfrm>
            <a:off x="3611880" y="1417320"/>
            <a:ext cx="2148840" cy="3337560"/>
          </a:xfrm>
          <a:prstGeom prst="roundRect">
            <a:avLst/>
          </a:prstGeom>
          <a:solidFill>
            <a:srgbClr val="FFFFFF"/>
          </a:solidFill>
          <a:ln w="10160">
            <a:solidFill>
              <a:srgbClr val="D8E5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image.png"/>
          <p:cNvPicPr>
            <a:picLocks noChangeAspect="1"/>
          </p:cNvPicPr>
          <p:nvPr/>
        </p:nvPicPr>
        <p:blipFill>
          <a:blip r:embed="rId3"/>
          <a:stretch>
            <a:fillRect/>
          </a:stretch>
        </p:blipFill>
        <p:spPr>
          <a:xfrm>
            <a:off x="4070555" y="1645920"/>
            <a:ext cx="1222345" cy="1627632"/>
          </a:xfrm>
          <a:prstGeom prst="rect">
            <a:avLst/>
          </a:prstGeom>
        </p:spPr>
      </p:pic>
      <p:sp>
        <p:nvSpPr>
          <p:cNvPr id="29" name="TextBox 28"/>
          <p:cNvSpPr txBox="1"/>
          <p:nvPr/>
        </p:nvSpPr>
        <p:spPr>
          <a:xfrm>
            <a:off x="3776472" y="3474720"/>
            <a:ext cx="1819656" cy="228600"/>
          </a:xfrm>
          <a:prstGeom prst="rect">
            <a:avLst/>
          </a:prstGeom>
          <a:noFill/>
        </p:spPr>
        <p:txBody>
          <a:bodyPr wrap="square" lIns="45720" tIns="27432" rIns="45720" bIns="18288">
            <a:spAutoFit/>
          </a:bodyPr>
          <a:lstStyle/>
          <a:p>
            <a:pPr algn="ctr">
              <a:defRPr sz="1250" b="1">
                <a:solidFill>
                  <a:srgbClr val="172033"/>
                </a:solidFill>
                <a:latin typeface="Aptos"/>
              </a:defRPr>
            </a:pPr>
            <a:r>
              <a:t>Dr Haroldo T. Hattori</a:t>
            </a:r>
          </a:p>
        </p:txBody>
      </p:sp>
      <p:sp>
        <p:nvSpPr>
          <p:cNvPr id="30" name="TextBox 29"/>
          <p:cNvSpPr txBox="1"/>
          <p:nvPr/>
        </p:nvSpPr>
        <p:spPr>
          <a:xfrm>
            <a:off x="3794760" y="3858768"/>
            <a:ext cx="1783080" cy="329184"/>
          </a:xfrm>
          <a:prstGeom prst="rect">
            <a:avLst/>
          </a:prstGeom>
          <a:noFill/>
        </p:spPr>
        <p:txBody>
          <a:bodyPr wrap="square" lIns="45720" tIns="27432" rIns="45720" bIns="18288">
            <a:spAutoFit/>
          </a:bodyPr>
          <a:lstStyle/>
          <a:p>
            <a:pPr algn="ctr">
              <a:defRPr sz="940" b="0">
                <a:solidFill>
                  <a:srgbClr val="657381"/>
                </a:solidFill>
                <a:latin typeface="Aptos"/>
              </a:defRPr>
            </a:pPr>
            <a:r>
              <a:t>Supervisor</a:t>
            </a:r>
          </a:p>
        </p:txBody>
      </p:sp>
      <p:sp>
        <p:nvSpPr>
          <p:cNvPr id="31" name="Rounded Rectangle 30"/>
          <p:cNvSpPr/>
          <p:nvPr/>
        </p:nvSpPr>
        <p:spPr>
          <a:xfrm>
            <a:off x="6492240" y="1417320"/>
            <a:ext cx="2148840" cy="3337560"/>
          </a:xfrm>
          <a:prstGeom prst="roundRect">
            <a:avLst/>
          </a:prstGeom>
          <a:solidFill>
            <a:srgbClr val="FFFFFF"/>
          </a:solidFill>
          <a:ln w="10160">
            <a:solidFill>
              <a:srgbClr val="D8E5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Picture 31" descr="image.png"/>
          <p:cNvPicPr>
            <a:picLocks noChangeAspect="1"/>
          </p:cNvPicPr>
          <p:nvPr/>
        </p:nvPicPr>
        <p:blipFill>
          <a:blip r:embed="rId4"/>
          <a:stretch>
            <a:fillRect/>
          </a:stretch>
        </p:blipFill>
        <p:spPr>
          <a:xfrm>
            <a:off x="6912402" y="1645920"/>
            <a:ext cx="1299370" cy="1627632"/>
          </a:xfrm>
          <a:prstGeom prst="rect">
            <a:avLst/>
          </a:prstGeom>
        </p:spPr>
      </p:pic>
      <p:sp>
        <p:nvSpPr>
          <p:cNvPr id="33" name="TextBox 32"/>
          <p:cNvSpPr txBox="1"/>
          <p:nvPr/>
        </p:nvSpPr>
        <p:spPr>
          <a:xfrm>
            <a:off x="6656831" y="3474720"/>
            <a:ext cx="1819656" cy="228600"/>
          </a:xfrm>
          <a:prstGeom prst="rect">
            <a:avLst/>
          </a:prstGeom>
          <a:noFill/>
        </p:spPr>
        <p:txBody>
          <a:bodyPr wrap="square" lIns="45720" tIns="27432" rIns="45720" bIns="18288">
            <a:spAutoFit/>
          </a:bodyPr>
          <a:lstStyle/>
          <a:p>
            <a:pPr algn="ctr">
              <a:defRPr sz="1250" b="1">
                <a:solidFill>
                  <a:srgbClr val="172033"/>
                </a:solidFill>
                <a:latin typeface="Aptos"/>
              </a:defRPr>
            </a:pPr>
            <a:r>
              <a:t>Prof Andrey E. Miroshnichenko</a:t>
            </a:r>
          </a:p>
        </p:txBody>
      </p:sp>
      <p:sp>
        <p:nvSpPr>
          <p:cNvPr id="34" name="TextBox 33"/>
          <p:cNvSpPr txBox="1"/>
          <p:nvPr/>
        </p:nvSpPr>
        <p:spPr>
          <a:xfrm>
            <a:off x="6675120" y="3858768"/>
            <a:ext cx="1783080" cy="329184"/>
          </a:xfrm>
          <a:prstGeom prst="rect">
            <a:avLst/>
          </a:prstGeom>
          <a:noFill/>
        </p:spPr>
        <p:txBody>
          <a:bodyPr wrap="square" lIns="45720" tIns="27432" rIns="45720" bIns="18288">
            <a:spAutoFit/>
          </a:bodyPr>
          <a:lstStyle/>
          <a:p>
            <a:pPr algn="ctr">
              <a:defRPr sz="940" b="0">
                <a:solidFill>
                  <a:srgbClr val="657381"/>
                </a:solidFill>
                <a:latin typeface="Aptos"/>
              </a:defRPr>
            </a:pPr>
            <a:r>
              <a:t>Supervisor</a:t>
            </a:r>
          </a:p>
        </p:txBody>
      </p:sp>
      <p:sp>
        <p:nvSpPr>
          <p:cNvPr id="35" name="Rounded Rectangle 34"/>
          <p:cNvSpPr/>
          <p:nvPr/>
        </p:nvSpPr>
        <p:spPr>
          <a:xfrm>
            <a:off x="9372600" y="1417320"/>
            <a:ext cx="2148840" cy="3337560"/>
          </a:xfrm>
          <a:prstGeom prst="roundRect">
            <a:avLst/>
          </a:prstGeom>
          <a:solidFill>
            <a:srgbClr val="FFFFFF"/>
          </a:solidFill>
          <a:ln w="10160">
            <a:solidFill>
              <a:srgbClr val="D8E5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Picture 35" descr="image.png"/>
          <p:cNvPicPr>
            <a:picLocks noChangeAspect="1"/>
          </p:cNvPicPr>
          <p:nvPr/>
        </p:nvPicPr>
        <p:blipFill>
          <a:blip r:embed="rId5"/>
          <a:stretch>
            <a:fillRect/>
          </a:stretch>
        </p:blipFill>
        <p:spPr>
          <a:xfrm>
            <a:off x="9799394" y="1645920"/>
            <a:ext cx="1286106" cy="1627632"/>
          </a:xfrm>
          <a:prstGeom prst="rect">
            <a:avLst/>
          </a:prstGeom>
        </p:spPr>
      </p:pic>
      <p:sp>
        <p:nvSpPr>
          <p:cNvPr id="37" name="TextBox 36"/>
          <p:cNvSpPr txBox="1"/>
          <p:nvPr/>
        </p:nvSpPr>
        <p:spPr>
          <a:xfrm>
            <a:off x="9537192" y="3474720"/>
            <a:ext cx="1819656" cy="238527"/>
          </a:xfrm>
          <a:prstGeom prst="rect">
            <a:avLst/>
          </a:prstGeom>
          <a:noFill/>
        </p:spPr>
        <p:txBody>
          <a:bodyPr wrap="square" lIns="45720" tIns="27432" rIns="45720" bIns="18288">
            <a:spAutoFit/>
          </a:bodyPr>
          <a:lstStyle/>
          <a:p>
            <a:pPr algn="ctr">
              <a:defRPr sz="1250" b="1">
                <a:solidFill>
                  <a:srgbClr val="172033"/>
                </a:solidFill>
                <a:latin typeface="Aptos"/>
              </a:defRPr>
            </a:pPr>
            <a:r>
              <a:rPr dirty="0"/>
              <a:t>Ishara </a:t>
            </a:r>
            <a:r>
              <a:rPr lang="en-AU" dirty="0"/>
              <a:t>Weerasinghe</a:t>
            </a:r>
            <a:endParaRPr dirty="0"/>
          </a:p>
        </p:txBody>
      </p:sp>
      <p:sp>
        <p:nvSpPr>
          <p:cNvPr id="38" name="TextBox 37"/>
          <p:cNvSpPr txBox="1"/>
          <p:nvPr/>
        </p:nvSpPr>
        <p:spPr>
          <a:xfrm>
            <a:off x="9555480" y="3858768"/>
            <a:ext cx="1783080" cy="190821"/>
          </a:xfrm>
          <a:prstGeom prst="rect">
            <a:avLst/>
          </a:prstGeom>
          <a:noFill/>
        </p:spPr>
        <p:txBody>
          <a:bodyPr wrap="square" lIns="45720" tIns="27432" rIns="45720" bIns="18288">
            <a:spAutoFit/>
          </a:bodyPr>
          <a:lstStyle/>
          <a:p>
            <a:pPr algn="ctr">
              <a:defRPr sz="940" b="0">
                <a:solidFill>
                  <a:srgbClr val="657381"/>
                </a:solidFill>
                <a:latin typeface="Aptos"/>
              </a:defRPr>
            </a:pPr>
            <a:r>
              <a:rPr dirty="0"/>
              <a:t>P</a:t>
            </a:r>
            <a:r>
              <a:rPr lang="en-AU" dirty="0" err="1"/>
              <a:t>hD</a:t>
            </a:r>
            <a:r>
              <a:rPr lang="en-AU" dirty="0"/>
              <a:t> Student</a:t>
            </a:r>
            <a:endParaRPr dirty="0"/>
          </a:p>
        </p:txBody>
      </p:sp>
      <p:sp>
        <p:nvSpPr>
          <p:cNvPr id="39" name="Rounded Rectangle 38"/>
          <p:cNvSpPr/>
          <p:nvPr/>
        </p:nvSpPr>
        <p:spPr>
          <a:xfrm>
            <a:off x="1051560" y="5166360"/>
            <a:ext cx="10104120" cy="512064"/>
          </a:xfrm>
          <a:prstGeom prst="roundRect">
            <a:avLst/>
          </a:prstGeom>
          <a:solidFill>
            <a:srgbClr val="EAF6F8"/>
          </a:solidFill>
          <a:ln w="10160">
            <a:solidFill>
              <a:srgbClr val="C6E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280160" y="5340096"/>
            <a:ext cx="9646920" cy="146304"/>
          </a:xfrm>
          <a:prstGeom prst="rect">
            <a:avLst/>
          </a:prstGeom>
          <a:noFill/>
        </p:spPr>
        <p:txBody>
          <a:bodyPr wrap="square" lIns="45720" tIns="27432" rIns="45720" bIns="18288">
            <a:spAutoFit/>
          </a:bodyPr>
          <a:lstStyle/>
          <a:p>
            <a:pPr algn="ctr">
              <a:defRPr sz="1080" b="1">
                <a:solidFill>
                  <a:srgbClr val="172033"/>
                </a:solidFill>
                <a:latin typeface="Aptos"/>
              </a:defRPr>
            </a:pPr>
            <a:r>
              <a:t>This work sits within the wider UNSW/DSTG quantum RF sensing programme: receiver physics, calibrated RF projections, and practical sensing architectures.</a:t>
            </a:r>
          </a:p>
        </p:txBody>
      </p:sp>
      <p:sp>
        <p:nvSpPr>
          <p:cNvPr id="41" name="TextBox 40"/>
          <p:cNvSpPr txBox="1"/>
          <p:nvPr/>
        </p:nvSpPr>
        <p:spPr>
          <a:xfrm>
            <a:off x="457200" y="6236208"/>
            <a:ext cx="2286000" cy="137160"/>
          </a:xfrm>
          <a:prstGeom prst="rect">
            <a:avLst/>
          </a:prstGeom>
          <a:noFill/>
        </p:spPr>
        <p:txBody>
          <a:bodyPr wrap="square" lIns="45720" tIns="27432" rIns="45720" bIns="18288">
            <a:spAutoFit/>
          </a:bodyPr>
          <a:lstStyle/>
          <a:p>
            <a:pPr algn="l">
              <a:defRPr sz="650" b="0">
                <a:solidFill>
                  <a:srgbClr val="657381"/>
                </a:solidFill>
                <a:latin typeface="Aptos"/>
              </a:defRPr>
            </a:pPr>
            <a:r>
              <a:t>Rydberg sensing | SET HDR Conference</a:t>
            </a:r>
          </a:p>
        </p:txBody>
      </p:sp>
      <p:sp>
        <p:nvSpPr>
          <p:cNvPr id="42" name="Rectangle 41"/>
          <p:cNvSpPr/>
          <p:nvPr/>
        </p:nvSpPr>
        <p:spPr>
          <a:xfrm>
            <a:off x="0" y="5925312"/>
            <a:ext cx="12198096" cy="932688"/>
          </a:xfrm>
          <a:prstGeom prst="rect">
            <a:avLst/>
          </a:prstGeom>
          <a:solidFill>
            <a:srgbClr val="F3FAFB"/>
          </a:solidFill>
          <a:ln>
            <a:solidFill>
              <a:srgbClr val="F3FA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1051560" y="5486400"/>
            <a:ext cx="10104120" cy="411480"/>
          </a:xfrm>
          <a:prstGeom prst="roundRect">
            <a:avLst/>
          </a:prstGeom>
          <a:solidFill>
            <a:srgbClr val="EAF6F8"/>
          </a:solidFill>
          <a:ln w="10160">
            <a:solidFill>
              <a:srgbClr val="C6E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280160" y="5605272"/>
            <a:ext cx="9646920" cy="128016"/>
          </a:xfrm>
          <a:prstGeom prst="rect">
            <a:avLst/>
          </a:prstGeom>
          <a:noFill/>
        </p:spPr>
        <p:txBody>
          <a:bodyPr wrap="square" lIns="36576" tIns="18288" rIns="36576" bIns="18288">
            <a:spAutoFit/>
          </a:bodyPr>
          <a:lstStyle/>
          <a:p>
            <a:pPr algn="ctr">
              <a:defRPr sz="940" b="1">
                <a:solidFill>
                  <a:srgbClr val="172033"/>
                </a:solidFill>
                <a:latin typeface="Aptos"/>
              </a:defRPr>
            </a:pPr>
            <a:r>
              <a:t>This work sits within the wider UNSW/DSTG quantum RF sensing programme: receiver physics, calibrated RF projections, and practical sensing architectures.</a:t>
            </a:r>
          </a:p>
        </p:txBody>
      </p:sp>
      <p:sp>
        <p:nvSpPr>
          <p:cNvPr id="45" name="Rectangle 44"/>
          <p:cNvSpPr/>
          <p:nvPr/>
        </p:nvSpPr>
        <p:spPr>
          <a:xfrm>
            <a:off x="0" y="6245352"/>
            <a:ext cx="12198096" cy="612648"/>
          </a:xfrm>
          <a:prstGeom prst="rect">
            <a:avLst/>
          </a:prstGeom>
          <a:solidFill>
            <a:srgbClr val="F3FAFB"/>
          </a:solidFill>
          <a:ln>
            <a:solidFill>
              <a:srgbClr val="F3FA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57200" y="6373368"/>
            <a:ext cx="2331720" cy="137160"/>
          </a:xfrm>
          <a:prstGeom prst="rect">
            <a:avLst/>
          </a:prstGeom>
          <a:noFill/>
        </p:spPr>
        <p:txBody>
          <a:bodyPr wrap="square" lIns="36576" tIns="18288" rIns="36576" bIns="18288">
            <a:spAutoFit/>
          </a:bodyPr>
          <a:lstStyle/>
          <a:p>
            <a:pPr algn="l">
              <a:defRPr sz="650" b="0">
                <a:solidFill>
                  <a:srgbClr val="657381"/>
                </a:solidFill>
                <a:latin typeface="Aptos"/>
              </a:defRPr>
            </a:pPr>
            <a:r>
              <a:t>Rydberg sensing | SET HDR Conference</a:t>
            </a:r>
          </a:p>
        </p:txBody>
      </p:sp>
      <p:sp>
        <p:nvSpPr>
          <p:cNvPr id="47" name="Rectangle 46"/>
          <p:cNvSpPr/>
          <p:nvPr/>
        </p:nvSpPr>
        <p:spPr>
          <a:xfrm>
            <a:off x="0" y="5212080"/>
            <a:ext cx="12198096" cy="960120"/>
          </a:xfrm>
          <a:prstGeom prst="rect">
            <a:avLst/>
          </a:prstGeom>
          <a:solidFill>
            <a:srgbClr val="F3FAFB"/>
          </a:solidFill>
          <a:ln>
            <a:solidFill>
              <a:srgbClr val="F3FA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1051560" y="5449824"/>
            <a:ext cx="10104120" cy="457200"/>
          </a:xfrm>
          <a:prstGeom prst="roundRect">
            <a:avLst/>
          </a:prstGeom>
          <a:solidFill>
            <a:srgbClr val="EAF6F8"/>
          </a:solidFill>
          <a:ln w="10160">
            <a:solidFill>
              <a:srgbClr val="C6E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280160" y="5596128"/>
            <a:ext cx="9646920" cy="128016"/>
          </a:xfrm>
          <a:prstGeom prst="rect">
            <a:avLst/>
          </a:prstGeom>
          <a:noFill/>
        </p:spPr>
        <p:txBody>
          <a:bodyPr wrap="square" lIns="36576" tIns="18288" rIns="36576" bIns="18288">
            <a:spAutoFit/>
          </a:bodyPr>
          <a:lstStyle/>
          <a:p>
            <a:pPr algn="ctr">
              <a:defRPr sz="960" b="1">
                <a:solidFill>
                  <a:srgbClr val="172033"/>
                </a:solidFill>
                <a:latin typeface="Aptos"/>
              </a:defRPr>
            </a:pPr>
            <a:r>
              <a:t>This work sits within the wider UNSW/DSTG quantum RF sensing programme: receiver physics, calibrated RF projections, and practical sensing architectures.</a:t>
            </a:r>
          </a:p>
        </p:txBody>
      </p:sp>
      <p:sp>
        <p:nvSpPr>
          <p:cNvPr id="50" name="Rectangle 49"/>
          <p:cNvSpPr/>
          <p:nvPr/>
        </p:nvSpPr>
        <p:spPr>
          <a:xfrm>
            <a:off x="0" y="6217920"/>
            <a:ext cx="12198096" cy="640080"/>
          </a:xfrm>
          <a:prstGeom prst="rect">
            <a:avLst/>
          </a:prstGeom>
          <a:solidFill>
            <a:srgbClr val="F3FAFB"/>
          </a:solidFill>
          <a:ln>
            <a:solidFill>
              <a:srgbClr val="F3FA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57200" y="6373368"/>
            <a:ext cx="2331720" cy="137160"/>
          </a:xfrm>
          <a:prstGeom prst="rect">
            <a:avLst/>
          </a:prstGeom>
          <a:noFill/>
        </p:spPr>
        <p:txBody>
          <a:bodyPr wrap="square" lIns="36576" tIns="18288" rIns="36576" bIns="18288">
            <a:spAutoFit/>
          </a:bodyPr>
          <a:lstStyle/>
          <a:p>
            <a:pPr algn="l">
              <a:defRPr sz="650" b="0">
                <a:solidFill>
                  <a:srgbClr val="657381"/>
                </a:solidFill>
                <a:latin typeface="Aptos"/>
              </a:defRPr>
            </a:pPr>
            <a:r>
              <a:t>Rydberg sensing | SET HDR Conference</a:t>
            </a:r>
          </a:p>
        </p:txBody>
      </p:sp>
      <p:sp>
        <p:nvSpPr>
          <p:cNvPr id="52" name="Rectangle 51"/>
          <p:cNvSpPr/>
          <p:nvPr/>
        </p:nvSpPr>
        <p:spPr>
          <a:xfrm>
            <a:off x="0" y="4892040"/>
            <a:ext cx="12198096" cy="1325880"/>
          </a:xfrm>
          <a:prstGeom prst="rect">
            <a:avLst/>
          </a:prstGeom>
          <a:solidFill>
            <a:srgbClr val="F3FAFB"/>
          </a:solidFill>
          <a:ln>
            <a:solidFill>
              <a:srgbClr val="F3FA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ounded Rectangle 52"/>
          <p:cNvSpPr/>
          <p:nvPr/>
        </p:nvSpPr>
        <p:spPr>
          <a:xfrm>
            <a:off x="1051560" y="5449824"/>
            <a:ext cx="10104120" cy="457200"/>
          </a:xfrm>
          <a:prstGeom prst="roundRect">
            <a:avLst/>
          </a:prstGeom>
          <a:solidFill>
            <a:srgbClr val="EAF6F8"/>
          </a:solidFill>
          <a:ln w="10160">
            <a:solidFill>
              <a:srgbClr val="C6E3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1280160" y="5596128"/>
            <a:ext cx="9646920" cy="212366"/>
          </a:xfrm>
          <a:prstGeom prst="rect">
            <a:avLst/>
          </a:prstGeom>
          <a:noFill/>
        </p:spPr>
        <p:txBody>
          <a:bodyPr wrap="square" lIns="36576" tIns="18288" rIns="36576">
            <a:spAutoFit/>
          </a:bodyPr>
          <a:lstStyle/>
          <a:p>
            <a:pPr algn="ctr">
              <a:defRPr sz="960" b="1">
                <a:solidFill>
                  <a:srgbClr val="172033"/>
                </a:solidFill>
                <a:latin typeface="Aptos"/>
              </a:defRPr>
            </a:pPr>
            <a:r>
              <a:rPr dirty="0"/>
              <a:t>This work sits within the wider UNSW quantum RF sensing </a:t>
            </a:r>
            <a:r>
              <a:rPr dirty="0" err="1"/>
              <a:t>programme</a:t>
            </a:r>
            <a:endParaRPr dirty="0"/>
          </a:p>
        </p:txBody>
      </p:sp>
      <p:sp>
        <p:nvSpPr>
          <p:cNvPr id="55" name="Rectangle 54"/>
          <p:cNvSpPr/>
          <p:nvPr/>
        </p:nvSpPr>
        <p:spPr>
          <a:xfrm>
            <a:off x="0" y="6217920"/>
            <a:ext cx="12198096" cy="640080"/>
          </a:xfrm>
          <a:prstGeom prst="rect">
            <a:avLst/>
          </a:prstGeom>
          <a:solidFill>
            <a:srgbClr val="F3FAFB"/>
          </a:solidFill>
          <a:ln>
            <a:solidFill>
              <a:srgbClr val="F3FA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457200" y="6373368"/>
            <a:ext cx="2331720" cy="164660"/>
          </a:xfrm>
          <a:prstGeom prst="rect">
            <a:avLst/>
          </a:prstGeom>
          <a:noFill/>
        </p:spPr>
        <p:txBody>
          <a:bodyPr wrap="square" lIns="36576" tIns="18288" rIns="36576">
            <a:spAutoFit/>
          </a:bodyPr>
          <a:lstStyle/>
          <a:p>
            <a:pPr algn="l">
              <a:defRPr sz="650" b="0">
                <a:solidFill>
                  <a:srgbClr val="657381"/>
                </a:solidFill>
                <a:latin typeface="Aptos"/>
              </a:defRPr>
            </a:pPr>
            <a:r>
              <a:rPr dirty="0"/>
              <a:t>Rydberg sensing | Conference</a:t>
            </a:r>
          </a:p>
        </p:txBody>
      </p:sp>
    </p:spTree>
    <p:extLst>
      <p:ext uri="{BB962C8B-B14F-4D97-AF65-F5344CB8AC3E}">
        <p14:creationId xmlns:p14="http://schemas.microsoft.com/office/powerpoint/2010/main" val="3173342458"/>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114" name="Rounded Rectangle 113"/>
          <p:cNvSpPr/>
          <p:nvPr/>
        </p:nvSpPr>
        <p:spPr>
          <a:xfrm>
            <a:off x="411480" y="1124712"/>
            <a:ext cx="10972800" cy="4800600"/>
          </a:xfrm>
          <a:prstGeom prst="roundRect">
            <a:avLst/>
          </a:prstGeom>
          <a:solidFill>
            <a:srgbClr val="FFFFFF"/>
          </a:solidFill>
          <a:ln w="9525">
            <a:solidFill>
              <a:srgbClr val="DF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Rectangle 112"/>
          <p:cNvSpPr/>
          <p:nvPr/>
        </p:nvSpPr>
        <p:spPr>
          <a:xfrm>
            <a:off x="0" y="0"/>
            <a:ext cx="12192000" cy="6858000"/>
          </a:xfrm>
          <a:prstGeom prst="rect">
            <a:avLst/>
          </a:prstGeom>
          <a:solidFill>
            <a:srgbClr val="F8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Shape 3"/>
          <p:cNvSpPr/>
          <p:nvPr/>
        </p:nvSpPr>
        <p:spPr>
          <a:xfrm>
            <a:off x="457200" y="6547104"/>
            <a:ext cx="11247120" cy="0"/>
          </a:xfrm>
          <a:prstGeom prst="line">
            <a:avLst/>
          </a:prstGeom>
          <a:noFill/>
          <a:ln w="7620">
            <a:solidFill>
              <a:srgbClr val="E5E7EB"/>
            </a:solidFill>
            <a:prstDash val="solid"/>
          </a:ln>
        </p:spPr>
        <p:txBody>
          <a:bodyPr/>
          <a:lstStyle/>
          <a:p>
            <a:endParaRPr lang="en-AU"/>
          </a:p>
        </p:txBody>
      </p:sp>
      <p:sp>
        <p:nvSpPr>
          <p:cNvPr id="6" name="Text 4"/>
          <p:cNvSpPr/>
          <p:nvPr/>
        </p:nvSpPr>
        <p:spPr>
          <a:xfrm>
            <a:off x="502920" y="6583680"/>
            <a:ext cx="5943600" cy="164592"/>
          </a:xfrm>
          <a:prstGeom prst="rect">
            <a:avLst/>
          </a:prstGeom>
          <a:noFill/>
          <a:ln/>
        </p:spPr>
        <p:txBody>
          <a:bodyPr wrap="square" lIns="0" tIns="0" rIns="0" bIns="0" rtlCol="0" anchor="ctr"/>
          <a:lstStyle/>
          <a:p>
            <a:pPr marL="0" indent="0">
              <a:buNone/>
            </a:pPr>
            <a:r>
              <a:rPr lang="en-US" sz="660" dirty="0">
                <a:solidFill>
                  <a:srgbClr val="64748B"/>
                </a:solidFill>
                <a:latin typeface="Aptos" pitchFamily="34" charset="0"/>
                <a:ea typeface="Aptos" pitchFamily="34" charset="-122"/>
                <a:cs typeface="Aptos" pitchFamily="34" charset="-120"/>
              </a:rPr>
              <a:t>Rydberg sensing | Conference</a:t>
            </a:r>
            <a:endParaRPr lang="en-US" sz="660" dirty="0"/>
          </a:p>
        </p:txBody>
      </p:sp>
      <p:sp>
        <p:nvSpPr>
          <p:cNvPr id="7" name="Text 5"/>
          <p:cNvSpPr/>
          <p:nvPr/>
        </p:nvSpPr>
        <p:spPr>
          <a:xfrm>
            <a:off x="11292840" y="6583680"/>
            <a:ext cx="457200" cy="164592"/>
          </a:xfrm>
          <a:prstGeom prst="rect">
            <a:avLst/>
          </a:prstGeom>
          <a:noFill/>
          <a:ln/>
        </p:spPr>
        <p:txBody>
          <a:bodyPr wrap="square" lIns="0" tIns="0" rIns="0" bIns="0" rtlCol="0" anchor="ctr"/>
          <a:lstStyle/>
          <a:p>
            <a:pPr marL="0" indent="0" algn="r">
              <a:buNone/>
            </a:pPr>
            <a:r>
              <a:rPr lang="en-US" sz="660" dirty="0">
                <a:solidFill>
                  <a:srgbClr val="64748B"/>
                </a:solidFill>
                <a:latin typeface="Aptos" pitchFamily="34" charset="0"/>
              </a:rPr>
              <a:t>9</a:t>
            </a:r>
          </a:p>
        </p:txBody>
      </p:sp>
      <p:sp>
        <p:nvSpPr>
          <p:cNvPr id="62" name="Text 0">
            <a:extLst>
              <a:ext uri="{FF2B5EF4-FFF2-40B4-BE49-F238E27FC236}">
                <a16:creationId xmlns:a16="http://schemas.microsoft.com/office/drawing/2014/main" id="{61450F8D-9BF5-E1C6-32B3-A706917DB504}"/>
              </a:ext>
            </a:extLst>
          </p:cNvPr>
          <p:cNvSpPr/>
          <p:nvPr/>
        </p:nvSpPr>
        <p:spPr>
          <a:xfrm>
            <a:off x="429768" y="470002"/>
            <a:ext cx="3657600" cy="329184"/>
          </a:xfrm>
          <a:prstGeom prst="rect">
            <a:avLst/>
          </a:prstGeom>
          <a:noFill/>
          <a:ln/>
        </p:spPr>
        <p:txBody>
          <a:bodyPr wrap="square" lIns="254" tIns="254" rIns="254" bIns="254" rtlCol="0" anchor="t">
            <a:normAutofit lnSpcReduction="10000"/>
          </a:bodyPr>
          <a:lstStyle/>
          <a:p>
            <a:pPr marL="0" indent="0" algn="l">
              <a:buNone/>
            </a:pPr>
            <a:r>
              <a:rPr lang="en-US" sz="2200" b="1" dirty="0">
                <a:solidFill>
                  <a:srgbClr val="172033"/>
                </a:solidFill>
                <a:latin typeface="Aptos Display" pitchFamily="34" charset="0"/>
                <a:ea typeface="Aptos Display" pitchFamily="34" charset="-122"/>
                <a:cs typeface="Aptos Display" pitchFamily="34" charset="-120"/>
              </a:rPr>
              <a:t>References</a:t>
            </a:r>
            <a:endParaRPr lang="en-US" sz="2200" dirty="0"/>
          </a:p>
        </p:txBody>
      </p:sp>
      <p:sp>
        <p:nvSpPr>
          <p:cNvPr id="66" name="Shape 2">
            <a:extLst>
              <a:ext uri="{FF2B5EF4-FFF2-40B4-BE49-F238E27FC236}">
                <a16:creationId xmlns:a16="http://schemas.microsoft.com/office/drawing/2014/main" id="{6CCF2525-577F-16C0-D9C3-FC914FF6F67A}"/>
              </a:ext>
            </a:extLst>
          </p:cNvPr>
          <p:cNvSpPr/>
          <p:nvPr/>
        </p:nvSpPr>
        <p:spPr>
          <a:xfrm>
            <a:off x="429768" y="850392"/>
            <a:ext cx="2926080" cy="32004"/>
          </a:xfrm>
          <a:prstGeom prst="rect">
            <a:avLst/>
          </a:prstGeom>
          <a:solidFill>
            <a:srgbClr val="009AAA"/>
          </a:solidFill>
          <a:ln w="12700">
            <a:solidFill>
              <a:srgbClr val="009AAA"/>
            </a:solidFill>
            <a:prstDash val="solid"/>
          </a:ln>
        </p:spPr>
        <p:txBody>
          <a:bodyPr/>
          <a:lstStyle/>
          <a:p>
            <a:endParaRPr lang="en-AU"/>
          </a:p>
        </p:txBody>
      </p:sp>
      <p:sp>
        <p:nvSpPr>
          <p:cNvPr id="68" name="Shape 4">
            <a:extLst>
              <a:ext uri="{FF2B5EF4-FFF2-40B4-BE49-F238E27FC236}">
                <a16:creationId xmlns:a16="http://schemas.microsoft.com/office/drawing/2014/main" id="{7EDD22D3-7CA1-21A0-9424-F232DD485F83}"/>
              </a:ext>
            </a:extLst>
          </p:cNvPr>
          <p:cNvSpPr/>
          <p:nvPr/>
        </p:nvSpPr>
        <p:spPr>
          <a:xfrm>
            <a:off x="429768" y="987552"/>
            <a:ext cx="11338560" cy="0"/>
          </a:xfrm>
          <a:prstGeom prst="line">
            <a:avLst/>
          </a:prstGeom>
          <a:noFill/>
          <a:ln w="7620">
            <a:solidFill>
              <a:srgbClr val="D7DFEA"/>
            </a:solidFill>
            <a:prstDash val="solid"/>
          </a:ln>
        </p:spPr>
        <p:txBody>
          <a:bodyPr/>
          <a:lstStyle/>
          <a:p>
            <a:endParaRPr lang="en-AU"/>
          </a:p>
        </p:txBody>
      </p:sp>
      <p:sp>
        <p:nvSpPr>
          <p:cNvPr id="78" name="Text 10">
            <a:extLst>
              <a:ext uri="{FF2B5EF4-FFF2-40B4-BE49-F238E27FC236}">
                <a16:creationId xmlns:a16="http://schemas.microsoft.com/office/drawing/2014/main" id="{5C21DDC5-A3AF-861D-DAF2-6181D25A96A8}"/>
              </a:ext>
            </a:extLst>
          </p:cNvPr>
          <p:cNvSpPr/>
          <p:nvPr/>
        </p:nvSpPr>
        <p:spPr>
          <a:xfrm>
            <a:off x="658368" y="1572768"/>
            <a:ext cx="5010912" cy="402336"/>
          </a:xfrm>
          <a:prstGeom prst="rect">
            <a:avLst/>
          </a:prstGeom>
          <a:noFill/>
          <a:ln/>
        </p:spPr>
        <p:txBody>
          <a:bodyPr wrap="square" lIns="254" tIns="254" rIns="254" bIns="254" rtlCol="0" anchor="t">
            <a:normAutofit/>
          </a:bodyPr>
          <a:lstStyle/>
          <a:p>
            <a:pPr marL="0" indent="0">
              <a:buNone/>
            </a:pPr>
            <a:r>
              <a:rPr lang="en-US" sz="750" b="1" dirty="0">
                <a:solidFill>
                  <a:srgbClr val="131C2C"/>
                </a:solidFill>
                <a:latin typeface="Aptos" pitchFamily="34" charset="0"/>
                <a:ea typeface="Aptos" pitchFamily="34" charset="-122"/>
                <a:cs typeface="Aptos" pitchFamily="34" charset="-120"/>
              </a:rPr>
              <a:t>1. </a:t>
            </a:r>
            <a:r>
              <a:rPr lang="en-US" sz="750" dirty="0">
                <a:solidFill>
                  <a:srgbClr val="131C2C"/>
                </a:solidFill>
                <a:latin typeface="Aptos" pitchFamily="34" charset="0"/>
                <a:ea typeface="Aptos" pitchFamily="34" charset="-122"/>
                <a:cs typeface="Aptos" pitchFamily="34" charset="-120"/>
              </a:rPr>
              <a:t>Sedlacek et al., “Microwave electrometry with Rydberg atoms in a vapour cell using bright atomic resonances,” Nature Physics 8, 819–824 (2012).</a:t>
            </a:r>
            <a:endParaRPr lang="en-US" sz="1100" dirty="0"/>
          </a:p>
        </p:txBody>
      </p:sp>
      <p:sp>
        <p:nvSpPr>
          <p:cNvPr id="80" name="Text 11">
            <a:extLst>
              <a:ext uri="{FF2B5EF4-FFF2-40B4-BE49-F238E27FC236}">
                <a16:creationId xmlns:a16="http://schemas.microsoft.com/office/drawing/2014/main" id="{3E28AECB-19E8-9401-89D4-A20E8CE8F611}"/>
              </a:ext>
            </a:extLst>
          </p:cNvPr>
          <p:cNvSpPr/>
          <p:nvPr/>
        </p:nvSpPr>
        <p:spPr>
          <a:xfrm>
            <a:off x="658368" y="2057400"/>
            <a:ext cx="5010912" cy="402336"/>
          </a:xfrm>
          <a:prstGeom prst="rect">
            <a:avLst/>
          </a:prstGeom>
          <a:noFill/>
          <a:ln/>
        </p:spPr>
        <p:txBody>
          <a:bodyPr wrap="square" lIns="254" tIns="254" rIns="254" bIns="254" rtlCol="0" anchor="t">
            <a:normAutofit/>
          </a:bodyPr>
          <a:lstStyle/>
          <a:p>
            <a:pPr marL="0" indent="0">
              <a:buNone/>
            </a:pPr>
            <a:r>
              <a:rPr lang="en-US" sz="750" b="1" dirty="0">
                <a:solidFill>
                  <a:srgbClr val="131C2C"/>
                </a:solidFill>
                <a:latin typeface="Aptos" pitchFamily="34" charset="0"/>
                <a:ea typeface="Aptos" pitchFamily="34" charset="-122"/>
                <a:cs typeface="Aptos" pitchFamily="34" charset="-120"/>
              </a:rPr>
              <a:t>2. </a:t>
            </a:r>
            <a:r>
              <a:rPr lang="en-US" sz="750" dirty="0">
                <a:solidFill>
                  <a:srgbClr val="131C2C"/>
                </a:solidFill>
                <a:latin typeface="Aptos" pitchFamily="34" charset="0"/>
                <a:ea typeface="Aptos" pitchFamily="34" charset="-122"/>
                <a:cs typeface="Aptos" pitchFamily="34" charset="-120"/>
              </a:rPr>
              <a:t>Holloway et al., “Sub-wavelength imaging and field mapping via EIT and Autler–Townes splitting in Rydberg atoms,” Applied Physics Letters 104, 244102 (2014).</a:t>
            </a:r>
            <a:endParaRPr lang="en-US" sz="1100" dirty="0"/>
          </a:p>
        </p:txBody>
      </p:sp>
      <p:sp>
        <p:nvSpPr>
          <p:cNvPr id="82" name="Text 12">
            <a:extLst>
              <a:ext uri="{FF2B5EF4-FFF2-40B4-BE49-F238E27FC236}">
                <a16:creationId xmlns:a16="http://schemas.microsoft.com/office/drawing/2014/main" id="{78A2B9E7-82DF-F062-A797-AD2BBA1A9E44}"/>
              </a:ext>
            </a:extLst>
          </p:cNvPr>
          <p:cNvSpPr/>
          <p:nvPr/>
        </p:nvSpPr>
        <p:spPr>
          <a:xfrm>
            <a:off x="658368" y="2542032"/>
            <a:ext cx="5010912" cy="402336"/>
          </a:xfrm>
          <a:prstGeom prst="rect">
            <a:avLst/>
          </a:prstGeom>
          <a:noFill/>
          <a:ln/>
        </p:spPr>
        <p:txBody>
          <a:bodyPr wrap="square" lIns="254" tIns="254" rIns="254" bIns="254" rtlCol="0" anchor="t">
            <a:normAutofit/>
          </a:bodyPr>
          <a:lstStyle/>
          <a:p>
            <a:pPr marL="0" indent="0">
              <a:buNone/>
            </a:pPr>
            <a:r>
              <a:rPr lang="en-US" sz="750" b="1" dirty="0">
                <a:solidFill>
                  <a:srgbClr val="131C2C"/>
                </a:solidFill>
                <a:latin typeface="Aptos" pitchFamily="34" charset="0"/>
                <a:ea typeface="Aptos" pitchFamily="34" charset="-122"/>
                <a:cs typeface="Aptos" pitchFamily="34" charset="-120"/>
              </a:rPr>
              <a:t>3. </a:t>
            </a:r>
            <a:r>
              <a:rPr lang="en-US" sz="750" dirty="0">
                <a:solidFill>
                  <a:srgbClr val="131C2C"/>
                </a:solidFill>
                <a:latin typeface="Aptos" pitchFamily="34" charset="0"/>
                <a:ea typeface="Aptos" pitchFamily="34" charset="-122"/>
                <a:cs typeface="Aptos" pitchFamily="34" charset="-120"/>
              </a:rPr>
              <a:t>Gordon et al., “Millimeter wave detection via Autler–Townes splitting in rubidium Rydberg atoms,” Applied Physics Letters 105, 024104 (2014).</a:t>
            </a:r>
            <a:endParaRPr lang="en-US" sz="1100" dirty="0"/>
          </a:p>
        </p:txBody>
      </p:sp>
      <p:sp>
        <p:nvSpPr>
          <p:cNvPr id="84" name="Text 13">
            <a:extLst>
              <a:ext uri="{FF2B5EF4-FFF2-40B4-BE49-F238E27FC236}">
                <a16:creationId xmlns:a16="http://schemas.microsoft.com/office/drawing/2014/main" id="{AD71D36C-D9A4-1252-DA56-3500572CDC19}"/>
              </a:ext>
            </a:extLst>
          </p:cNvPr>
          <p:cNvSpPr/>
          <p:nvPr/>
        </p:nvSpPr>
        <p:spPr>
          <a:xfrm>
            <a:off x="658368" y="3026664"/>
            <a:ext cx="5010912" cy="402336"/>
          </a:xfrm>
          <a:prstGeom prst="rect">
            <a:avLst/>
          </a:prstGeom>
          <a:noFill/>
          <a:ln/>
        </p:spPr>
        <p:txBody>
          <a:bodyPr wrap="square" lIns="254" tIns="254" rIns="254" bIns="254" rtlCol="0" anchor="t">
            <a:normAutofit/>
          </a:bodyPr>
          <a:lstStyle/>
          <a:p>
            <a:pPr marL="0" indent="0">
              <a:buNone/>
            </a:pPr>
            <a:r>
              <a:rPr lang="en-US" sz="750" b="1" dirty="0">
                <a:solidFill>
                  <a:srgbClr val="131C2C"/>
                </a:solidFill>
                <a:latin typeface="Aptos" pitchFamily="34" charset="0"/>
                <a:ea typeface="Aptos" pitchFamily="34" charset="-122"/>
                <a:cs typeface="Aptos" pitchFamily="34" charset="-120"/>
              </a:rPr>
              <a:t>4. </a:t>
            </a:r>
            <a:r>
              <a:rPr lang="en-US" sz="750" dirty="0">
                <a:solidFill>
                  <a:srgbClr val="131C2C"/>
                </a:solidFill>
                <a:latin typeface="Aptos" pitchFamily="34" charset="0"/>
                <a:ea typeface="Aptos" pitchFamily="34" charset="-122"/>
                <a:cs typeface="Aptos" pitchFamily="34" charset="-120"/>
              </a:rPr>
              <a:t>Holloway et al., “A Rydberg atom-based mixer: measuring the phase of a radio frequency wave,” Applied Physics Letters 114, 114101 (2019).</a:t>
            </a:r>
            <a:endParaRPr lang="en-US" sz="1100" dirty="0"/>
          </a:p>
        </p:txBody>
      </p:sp>
      <p:sp>
        <p:nvSpPr>
          <p:cNvPr id="86" name="Text 14">
            <a:extLst>
              <a:ext uri="{FF2B5EF4-FFF2-40B4-BE49-F238E27FC236}">
                <a16:creationId xmlns:a16="http://schemas.microsoft.com/office/drawing/2014/main" id="{743FF888-7333-EEC6-1C3F-168804F15B2D}"/>
              </a:ext>
            </a:extLst>
          </p:cNvPr>
          <p:cNvSpPr/>
          <p:nvPr/>
        </p:nvSpPr>
        <p:spPr>
          <a:xfrm>
            <a:off x="658368" y="3511296"/>
            <a:ext cx="5010912" cy="402336"/>
          </a:xfrm>
          <a:prstGeom prst="rect">
            <a:avLst/>
          </a:prstGeom>
          <a:noFill/>
          <a:ln/>
        </p:spPr>
        <p:txBody>
          <a:bodyPr wrap="square" lIns="254" tIns="254" rIns="254" bIns="254" rtlCol="0" anchor="t">
            <a:normAutofit/>
          </a:bodyPr>
          <a:lstStyle/>
          <a:p>
            <a:pPr marL="0" indent="0">
              <a:buNone/>
            </a:pPr>
            <a:r>
              <a:rPr lang="en-US" sz="750" b="1" dirty="0">
                <a:solidFill>
                  <a:srgbClr val="131C2C"/>
                </a:solidFill>
                <a:latin typeface="Aptos" pitchFamily="34" charset="0"/>
                <a:ea typeface="Aptos" pitchFamily="34" charset="-122"/>
                <a:cs typeface="Aptos" pitchFamily="34" charset="-120"/>
              </a:rPr>
              <a:t>5. </a:t>
            </a:r>
            <a:r>
              <a:rPr lang="en-US" sz="750" dirty="0">
                <a:solidFill>
                  <a:srgbClr val="131C2C"/>
                </a:solidFill>
                <a:latin typeface="Aptos" pitchFamily="34" charset="0"/>
                <a:ea typeface="Aptos" pitchFamily="34" charset="-122"/>
                <a:cs typeface="Aptos" pitchFamily="34" charset="-120"/>
              </a:rPr>
              <a:t>Gordon et al., “Weak electric-field detection with sub-1 Hz resolution at radio frequencies using a Rydberg atom-based mixer,” AIP Advances 9, 045030 (2019).</a:t>
            </a:r>
            <a:endParaRPr lang="en-US" sz="1100" dirty="0"/>
          </a:p>
        </p:txBody>
      </p:sp>
      <p:sp>
        <p:nvSpPr>
          <p:cNvPr id="88" name="Text 15">
            <a:extLst>
              <a:ext uri="{FF2B5EF4-FFF2-40B4-BE49-F238E27FC236}">
                <a16:creationId xmlns:a16="http://schemas.microsoft.com/office/drawing/2014/main" id="{D8AF3461-6E57-652F-34C4-0B6D5C81C0E6}"/>
              </a:ext>
            </a:extLst>
          </p:cNvPr>
          <p:cNvSpPr/>
          <p:nvPr/>
        </p:nvSpPr>
        <p:spPr>
          <a:xfrm>
            <a:off x="658368" y="3995928"/>
            <a:ext cx="5010912" cy="402336"/>
          </a:xfrm>
          <a:prstGeom prst="rect">
            <a:avLst/>
          </a:prstGeom>
          <a:noFill/>
          <a:ln/>
        </p:spPr>
        <p:txBody>
          <a:bodyPr wrap="square" lIns="254" tIns="254" rIns="254" bIns="254" rtlCol="0" anchor="t">
            <a:normAutofit/>
          </a:bodyPr>
          <a:lstStyle/>
          <a:p>
            <a:pPr marL="0" indent="0">
              <a:buNone/>
            </a:pPr>
            <a:r>
              <a:rPr lang="en-US" sz="750" b="1" dirty="0">
                <a:solidFill>
                  <a:srgbClr val="131C2C"/>
                </a:solidFill>
                <a:latin typeface="Aptos" pitchFamily="34" charset="0"/>
                <a:ea typeface="Aptos" pitchFamily="34" charset="-122"/>
                <a:cs typeface="Aptos" pitchFamily="34" charset="-120"/>
              </a:rPr>
              <a:t>6. </a:t>
            </a:r>
            <a:r>
              <a:rPr lang="en-US" sz="750" dirty="0">
                <a:solidFill>
                  <a:srgbClr val="131C2C"/>
                </a:solidFill>
                <a:latin typeface="Aptos" pitchFamily="34" charset="0"/>
                <a:ea typeface="Aptos" pitchFamily="34" charset="-122"/>
                <a:cs typeface="Aptos" pitchFamily="34" charset="-120"/>
              </a:rPr>
              <a:t>Holloway et al., “Detecting and receiving phase-modulated signals with a Rydberg atom-based receiver,” NIST / atom-based receiver demonstration (2019).</a:t>
            </a:r>
            <a:endParaRPr lang="en-US" sz="1100" dirty="0"/>
          </a:p>
        </p:txBody>
      </p:sp>
      <p:sp>
        <p:nvSpPr>
          <p:cNvPr id="90" name="Text 16">
            <a:extLst>
              <a:ext uri="{FF2B5EF4-FFF2-40B4-BE49-F238E27FC236}">
                <a16:creationId xmlns:a16="http://schemas.microsoft.com/office/drawing/2014/main" id="{7572FF15-63EE-A991-EFA8-546036F2DA40}"/>
              </a:ext>
            </a:extLst>
          </p:cNvPr>
          <p:cNvSpPr/>
          <p:nvPr/>
        </p:nvSpPr>
        <p:spPr>
          <a:xfrm>
            <a:off x="658368" y="4480560"/>
            <a:ext cx="5010912" cy="402336"/>
          </a:xfrm>
          <a:prstGeom prst="rect">
            <a:avLst/>
          </a:prstGeom>
          <a:noFill/>
          <a:ln/>
        </p:spPr>
        <p:txBody>
          <a:bodyPr wrap="square" lIns="254" tIns="254" rIns="254" bIns="254" rtlCol="0" anchor="t">
            <a:normAutofit/>
          </a:bodyPr>
          <a:lstStyle/>
          <a:p>
            <a:pPr marL="0" indent="0">
              <a:buNone/>
            </a:pPr>
            <a:r>
              <a:rPr lang="en-US" sz="750" b="1" dirty="0">
                <a:solidFill>
                  <a:srgbClr val="131C2C"/>
                </a:solidFill>
                <a:latin typeface="Aptos" pitchFamily="34" charset="0"/>
                <a:ea typeface="Aptos" pitchFamily="34" charset="-122"/>
                <a:cs typeface="Aptos" pitchFamily="34" charset="-120"/>
              </a:rPr>
              <a:t>7. </a:t>
            </a:r>
            <a:r>
              <a:rPr lang="en-US" sz="750" dirty="0">
                <a:solidFill>
                  <a:srgbClr val="131C2C"/>
                </a:solidFill>
                <a:latin typeface="Aptos" pitchFamily="34" charset="0"/>
                <a:ea typeface="Aptos" pitchFamily="34" charset="-122"/>
                <a:cs typeface="Aptos" pitchFamily="34" charset="-120"/>
              </a:rPr>
              <a:t>Robinson et al., “Determining the angle-of-arrival of a radio-frequency source with a Rydberg atom-based sensor,” Applied Physics Letters 118, 114001 (2021).</a:t>
            </a:r>
            <a:endParaRPr lang="en-US" sz="1100" dirty="0"/>
          </a:p>
        </p:txBody>
      </p:sp>
      <p:sp>
        <p:nvSpPr>
          <p:cNvPr id="92" name="Text 17">
            <a:extLst>
              <a:ext uri="{FF2B5EF4-FFF2-40B4-BE49-F238E27FC236}">
                <a16:creationId xmlns:a16="http://schemas.microsoft.com/office/drawing/2014/main" id="{17BC7851-520C-E228-E60D-030C85CF3352}"/>
              </a:ext>
            </a:extLst>
          </p:cNvPr>
          <p:cNvSpPr/>
          <p:nvPr/>
        </p:nvSpPr>
        <p:spPr>
          <a:xfrm>
            <a:off x="658368" y="4965192"/>
            <a:ext cx="5010912" cy="402336"/>
          </a:xfrm>
          <a:prstGeom prst="rect">
            <a:avLst/>
          </a:prstGeom>
          <a:noFill/>
          <a:ln/>
        </p:spPr>
        <p:txBody>
          <a:bodyPr wrap="square" lIns="254" tIns="254" rIns="254" bIns="254" rtlCol="0" anchor="t">
            <a:normAutofit/>
          </a:bodyPr>
          <a:lstStyle/>
          <a:p>
            <a:pPr marL="0" indent="0">
              <a:buNone/>
            </a:pPr>
            <a:r>
              <a:rPr lang="en-US" sz="750" b="1" dirty="0">
                <a:solidFill>
                  <a:srgbClr val="131C2C"/>
                </a:solidFill>
                <a:latin typeface="Aptos" pitchFamily="34" charset="0"/>
                <a:ea typeface="Aptos" pitchFamily="34" charset="-122"/>
                <a:cs typeface="Aptos" pitchFamily="34" charset="-120"/>
              </a:rPr>
              <a:t>8. </a:t>
            </a:r>
            <a:r>
              <a:rPr lang="en-US" sz="750" dirty="0">
                <a:solidFill>
                  <a:srgbClr val="131C2C"/>
                </a:solidFill>
                <a:latin typeface="Aptos" pitchFamily="34" charset="0"/>
                <a:ea typeface="Aptos" pitchFamily="34" charset="-122"/>
                <a:cs typeface="Aptos" pitchFamily="34" charset="-120"/>
              </a:rPr>
              <a:t>Berweger et al., “Independent Rydberg atom sensing using a dual-ladder scheme,” Applied Physics Letters, DOI: 10.1063/5.0206004 (2024).</a:t>
            </a:r>
            <a:endParaRPr lang="en-US" sz="1100" dirty="0"/>
          </a:p>
        </p:txBody>
      </p:sp>
      <p:sp>
        <p:nvSpPr>
          <p:cNvPr id="94" name="Text 18">
            <a:extLst>
              <a:ext uri="{FF2B5EF4-FFF2-40B4-BE49-F238E27FC236}">
                <a16:creationId xmlns:a16="http://schemas.microsoft.com/office/drawing/2014/main" id="{F6F1C5D6-E51E-B20E-14E7-A2C4FBF7665E}"/>
              </a:ext>
            </a:extLst>
          </p:cNvPr>
          <p:cNvSpPr/>
          <p:nvPr/>
        </p:nvSpPr>
        <p:spPr>
          <a:xfrm>
            <a:off x="658368" y="5449824"/>
            <a:ext cx="5010912" cy="402336"/>
          </a:xfrm>
          <a:prstGeom prst="rect">
            <a:avLst/>
          </a:prstGeom>
          <a:noFill/>
          <a:ln/>
        </p:spPr>
        <p:txBody>
          <a:bodyPr wrap="square" lIns="254" tIns="254" rIns="254" bIns="254" rtlCol="0" anchor="t">
            <a:normAutofit/>
          </a:bodyPr>
          <a:lstStyle/>
          <a:p>
            <a:pPr marL="0" indent="0">
              <a:buNone/>
            </a:pPr>
            <a:r>
              <a:rPr lang="en-US" sz="750" b="1" dirty="0">
                <a:solidFill>
                  <a:srgbClr val="131C2C"/>
                </a:solidFill>
                <a:latin typeface="Aptos" pitchFamily="34" charset="0"/>
                <a:ea typeface="Aptos" pitchFamily="34" charset="-122"/>
                <a:cs typeface="Aptos" pitchFamily="34" charset="-120"/>
              </a:rPr>
              <a:t>9. </a:t>
            </a:r>
            <a:r>
              <a:rPr lang="en-US" sz="750" dirty="0">
                <a:solidFill>
                  <a:srgbClr val="131C2C"/>
                </a:solidFill>
                <a:latin typeface="Aptos" pitchFamily="34" charset="0"/>
                <a:ea typeface="Aptos" pitchFamily="34" charset="-122"/>
                <a:cs typeface="Aptos" pitchFamily="34" charset="-120"/>
              </a:rPr>
              <a:t>Holloway, Simons and colleagues, NIST Rydberg electrometry, mixer, antenna and receiver publications used as the RF-sensing baseline.</a:t>
            </a:r>
            <a:endParaRPr lang="en-US" sz="1100" dirty="0"/>
          </a:p>
        </p:txBody>
      </p:sp>
      <p:sp>
        <p:nvSpPr>
          <p:cNvPr id="96" name="Text 19">
            <a:extLst>
              <a:ext uri="{FF2B5EF4-FFF2-40B4-BE49-F238E27FC236}">
                <a16:creationId xmlns:a16="http://schemas.microsoft.com/office/drawing/2014/main" id="{D714389E-3257-5D78-1C15-E5E40D6A04EE}"/>
              </a:ext>
            </a:extLst>
          </p:cNvPr>
          <p:cNvSpPr/>
          <p:nvPr/>
        </p:nvSpPr>
        <p:spPr>
          <a:xfrm>
            <a:off x="6428232" y="1572768"/>
            <a:ext cx="5084064" cy="402336"/>
          </a:xfrm>
          <a:prstGeom prst="rect">
            <a:avLst/>
          </a:prstGeom>
          <a:noFill/>
          <a:ln/>
        </p:spPr>
        <p:txBody>
          <a:bodyPr wrap="square" lIns="254" tIns="254" rIns="254" bIns="254" rtlCol="0" anchor="t">
            <a:normAutofit/>
          </a:bodyPr>
          <a:lstStyle/>
          <a:p>
            <a:pPr marL="0" indent="0">
              <a:buNone/>
            </a:pPr>
            <a:r>
              <a:rPr lang="en-US" sz="750" b="1" dirty="0">
                <a:solidFill>
                  <a:srgbClr val="131C2C"/>
                </a:solidFill>
                <a:latin typeface="Aptos" pitchFamily="34" charset="0"/>
                <a:ea typeface="Aptos" pitchFamily="34" charset="-122"/>
                <a:cs typeface="Aptos" pitchFamily="34" charset="-120"/>
              </a:rPr>
              <a:t>10. </a:t>
            </a:r>
            <a:r>
              <a:rPr lang="en-US" sz="750" dirty="0">
                <a:solidFill>
                  <a:srgbClr val="131C2C"/>
                </a:solidFill>
                <a:latin typeface="Aptos" pitchFamily="34" charset="0"/>
                <a:ea typeface="Aptos" pitchFamily="34" charset="-122"/>
                <a:cs typeface="Aptos" pitchFamily="34" charset="-120"/>
              </a:rPr>
              <a:t>Goldstein, Polarized Light, 3rd ed., CRC Press (2011) — Stokes parameters and Poincaré-sphere formalism.</a:t>
            </a:r>
            <a:endParaRPr lang="en-US" sz="1100" dirty="0"/>
          </a:p>
        </p:txBody>
      </p:sp>
      <p:sp>
        <p:nvSpPr>
          <p:cNvPr id="98" name="Text 20">
            <a:extLst>
              <a:ext uri="{FF2B5EF4-FFF2-40B4-BE49-F238E27FC236}">
                <a16:creationId xmlns:a16="http://schemas.microsoft.com/office/drawing/2014/main" id="{9DB5EFBB-6293-6A63-B681-8F6CD9ED453D}"/>
              </a:ext>
            </a:extLst>
          </p:cNvPr>
          <p:cNvSpPr/>
          <p:nvPr/>
        </p:nvSpPr>
        <p:spPr>
          <a:xfrm>
            <a:off x="6428232" y="2057400"/>
            <a:ext cx="5084064" cy="402336"/>
          </a:xfrm>
          <a:prstGeom prst="rect">
            <a:avLst/>
          </a:prstGeom>
          <a:noFill/>
          <a:ln/>
        </p:spPr>
        <p:txBody>
          <a:bodyPr wrap="square" lIns="254" tIns="254" rIns="254" bIns="254" rtlCol="0" anchor="t">
            <a:normAutofit/>
          </a:bodyPr>
          <a:lstStyle/>
          <a:p>
            <a:pPr marL="0" indent="0">
              <a:buNone/>
            </a:pPr>
            <a:r>
              <a:rPr lang="en-US" sz="750" b="1" dirty="0">
                <a:solidFill>
                  <a:srgbClr val="131C2C"/>
                </a:solidFill>
                <a:latin typeface="Aptos" pitchFamily="34" charset="0"/>
                <a:ea typeface="Aptos" pitchFamily="34" charset="-122"/>
                <a:cs typeface="Aptos" pitchFamily="34" charset="-120"/>
              </a:rPr>
              <a:t>11. </a:t>
            </a:r>
            <a:r>
              <a:rPr lang="en-US" sz="750" dirty="0">
                <a:solidFill>
                  <a:srgbClr val="131C2C"/>
                </a:solidFill>
                <a:latin typeface="Aptos" pitchFamily="34" charset="0"/>
                <a:ea typeface="Aptos" pitchFamily="34" charset="-122"/>
                <a:cs typeface="Aptos" pitchFamily="34" charset="-120"/>
              </a:rPr>
              <a:t>Chipman, Lam and Young, Polarized Light and Optical Systems, CRC Press (2018) — analyser matrices and polarimetric instrumentation.</a:t>
            </a:r>
            <a:endParaRPr lang="en-US" sz="1100" dirty="0"/>
          </a:p>
        </p:txBody>
      </p:sp>
      <p:sp>
        <p:nvSpPr>
          <p:cNvPr id="100" name="Text 21">
            <a:extLst>
              <a:ext uri="{FF2B5EF4-FFF2-40B4-BE49-F238E27FC236}">
                <a16:creationId xmlns:a16="http://schemas.microsoft.com/office/drawing/2014/main" id="{7367764A-6AF2-C88D-1C28-F060E004CCCA}"/>
              </a:ext>
            </a:extLst>
          </p:cNvPr>
          <p:cNvSpPr/>
          <p:nvPr/>
        </p:nvSpPr>
        <p:spPr>
          <a:xfrm>
            <a:off x="6428232" y="2542032"/>
            <a:ext cx="5084064" cy="402336"/>
          </a:xfrm>
          <a:prstGeom prst="rect">
            <a:avLst/>
          </a:prstGeom>
          <a:noFill/>
          <a:ln/>
        </p:spPr>
        <p:txBody>
          <a:bodyPr wrap="square" lIns="254" tIns="254" rIns="254" bIns="254" rtlCol="0" anchor="t">
            <a:normAutofit/>
          </a:bodyPr>
          <a:lstStyle/>
          <a:p>
            <a:pPr marL="0" indent="0">
              <a:buNone/>
            </a:pPr>
            <a:r>
              <a:rPr lang="en-US" sz="750" b="1" dirty="0">
                <a:solidFill>
                  <a:srgbClr val="131C2C"/>
                </a:solidFill>
                <a:latin typeface="Aptos" pitchFamily="34" charset="0"/>
                <a:ea typeface="Aptos" pitchFamily="34" charset="-122"/>
                <a:cs typeface="Aptos" pitchFamily="34" charset="-120"/>
              </a:rPr>
              <a:t>12. </a:t>
            </a:r>
            <a:r>
              <a:rPr lang="en-US" sz="750" dirty="0">
                <a:solidFill>
                  <a:srgbClr val="131C2C"/>
                </a:solidFill>
                <a:latin typeface="Aptos" pitchFamily="34" charset="0"/>
                <a:ea typeface="Aptos" pitchFamily="34" charset="-122"/>
                <a:cs typeface="Aptos" pitchFamily="34" charset="-120"/>
              </a:rPr>
              <a:t>Balanis, Antenna Theory: Analysis and Design, 4th ed., Wiley (2016) — antenna polarisation, gain and RF link assumptions.</a:t>
            </a:r>
            <a:endParaRPr lang="en-US" sz="1100" dirty="0"/>
          </a:p>
        </p:txBody>
      </p:sp>
      <p:sp>
        <p:nvSpPr>
          <p:cNvPr id="102" name="Text 22">
            <a:extLst>
              <a:ext uri="{FF2B5EF4-FFF2-40B4-BE49-F238E27FC236}">
                <a16:creationId xmlns:a16="http://schemas.microsoft.com/office/drawing/2014/main" id="{0A12BC36-5FB0-28F7-E7A0-6B42A1141F7A}"/>
              </a:ext>
            </a:extLst>
          </p:cNvPr>
          <p:cNvSpPr/>
          <p:nvPr/>
        </p:nvSpPr>
        <p:spPr>
          <a:xfrm>
            <a:off x="6428232" y="3026664"/>
            <a:ext cx="5084064" cy="402336"/>
          </a:xfrm>
          <a:prstGeom prst="rect">
            <a:avLst/>
          </a:prstGeom>
          <a:noFill/>
          <a:ln/>
        </p:spPr>
        <p:txBody>
          <a:bodyPr wrap="square" lIns="254" tIns="254" rIns="254" bIns="254" rtlCol="0" anchor="t">
            <a:normAutofit/>
          </a:bodyPr>
          <a:lstStyle/>
          <a:p>
            <a:pPr marL="0" indent="0">
              <a:buNone/>
            </a:pPr>
            <a:r>
              <a:rPr lang="en-US" sz="750" b="1" dirty="0">
                <a:solidFill>
                  <a:srgbClr val="131C2C"/>
                </a:solidFill>
                <a:latin typeface="Aptos" pitchFamily="34" charset="0"/>
                <a:ea typeface="Aptos" pitchFamily="34" charset="-122"/>
                <a:cs typeface="Aptos" pitchFamily="34" charset="-120"/>
              </a:rPr>
              <a:t>13. </a:t>
            </a:r>
            <a:r>
              <a:rPr lang="en-US" sz="750" dirty="0">
                <a:solidFill>
                  <a:srgbClr val="131C2C"/>
                </a:solidFill>
                <a:latin typeface="Aptos" pitchFamily="34" charset="0"/>
                <a:ea typeface="Aptos" pitchFamily="34" charset="-122"/>
                <a:cs typeface="Aptos" pitchFamily="34" charset="-120"/>
              </a:rPr>
              <a:t>Hamaker, Bregman and Sault, “Understanding radio polarimetry. I. Mathematical foundations,” Astronomy &amp; Astrophysics Supplement Series 117, 137–147 (1996).</a:t>
            </a:r>
            <a:endParaRPr lang="en-US" sz="1100" dirty="0"/>
          </a:p>
        </p:txBody>
      </p:sp>
      <p:sp>
        <p:nvSpPr>
          <p:cNvPr id="104" name="Text 23">
            <a:extLst>
              <a:ext uri="{FF2B5EF4-FFF2-40B4-BE49-F238E27FC236}">
                <a16:creationId xmlns:a16="http://schemas.microsoft.com/office/drawing/2014/main" id="{0356ACAE-B028-1B42-266A-FBC85A96DDF4}"/>
              </a:ext>
            </a:extLst>
          </p:cNvPr>
          <p:cNvSpPr/>
          <p:nvPr/>
        </p:nvSpPr>
        <p:spPr>
          <a:xfrm>
            <a:off x="6428232" y="3511296"/>
            <a:ext cx="5084064" cy="402336"/>
          </a:xfrm>
          <a:prstGeom prst="rect">
            <a:avLst/>
          </a:prstGeom>
          <a:noFill/>
          <a:ln/>
        </p:spPr>
        <p:txBody>
          <a:bodyPr wrap="square" lIns="254" tIns="254" rIns="254" bIns="254" rtlCol="0" anchor="t">
            <a:normAutofit/>
          </a:bodyPr>
          <a:lstStyle/>
          <a:p>
            <a:pPr marL="0" indent="0">
              <a:buNone/>
            </a:pPr>
            <a:r>
              <a:rPr sz="750" b="1">
                <a:solidFill>
                  <a:srgbClr val="131C2C"/>
                </a:solidFill>
                <a:latin typeface="Aptos"/>
              </a:rPr>
              <a:t>14. Elgee et al., “Complete three-dimensional vector polarimetry with a Rydberg-atom RF electrometer,” Physical Review Applied 22, 064012 (2024).</a:t>
            </a:r>
            <a:endParaRPr lang="en-US" sz="1100" dirty="0"/>
          </a:p>
        </p:txBody>
      </p:sp>
      <p:sp>
        <p:nvSpPr>
          <p:cNvPr id="106" name="Text 24">
            <a:extLst>
              <a:ext uri="{FF2B5EF4-FFF2-40B4-BE49-F238E27FC236}">
                <a16:creationId xmlns:a16="http://schemas.microsoft.com/office/drawing/2014/main" id="{F6505D3E-0557-2A63-9D43-F7CB1A5DCED8}"/>
              </a:ext>
            </a:extLst>
          </p:cNvPr>
          <p:cNvSpPr/>
          <p:nvPr/>
        </p:nvSpPr>
        <p:spPr>
          <a:xfrm>
            <a:off x="6428232" y="3995928"/>
            <a:ext cx="5084064" cy="402336"/>
          </a:xfrm>
          <a:prstGeom prst="rect">
            <a:avLst/>
          </a:prstGeom>
          <a:noFill/>
          <a:ln/>
        </p:spPr>
        <p:txBody>
          <a:bodyPr wrap="square" lIns="254" tIns="254" rIns="254" bIns="254" rtlCol="0" anchor="t">
            <a:normAutofit/>
          </a:bodyPr>
          <a:lstStyle/>
          <a:p>
            <a:pPr marL="0" indent="0">
              <a:buNone/>
            </a:pPr>
            <a:r>
              <a:rPr lang="en-US" sz="750" b="1" dirty="0">
                <a:solidFill>
                  <a:srgbClr val="131C2C"/>
                </a:solidFill>
                <a:latin typeface="Aptos" pitchFamily="34" charset="0"/>
                <a:ea typeface="Aptos" pitchFamily="34" charset="-122"/>
                <a:cs typeface="Aptos" pitchFamily="34" charset="-120"/>
              </a:rPr>
              <a:t>15. </a:t>
            </a:r>
            <a:r>
              <a:rPr lang="en-US" sz="750" dirty="0">
                <a:solidFill>
                  <a:srgbClr val="131C2C"/>
                </a:solidFill>
                <a:latin typeface="Aptos" pitchFamily="34" charset="0"/>
                <a:ea typeface="Aptos" pitchFamily="34" charset="-122"/>
                <a:cs typeface="Aptos" pitchFamily="34" charset="-120"/>
              </a:rPr>
              <a:t>Chiccot et al., “Quantum-enabled complete RF-polarimetry with an optically-wired atomic sensor,” arXiv:2505.14259 (2025).</a:t>
            </a:r>
            <a:endParaRPr lang="en-US" sz="1100" dirty="0"/>
          </a:p>
        </p:txBody>
      </p:sp>
      <p:sp>
        <p:nvSpPr>
          <p:cNvPr id="108" name="Text 25">
            <a:extLst>
              <a:ext uri="{FF2B5EF4-FFF2-40B4-BE49-F238E27FC236}">
                <a16:creationId xmlns:a16="http://schemas.microsoft.com/office/drawing/2014/main" id="{335C89C6-797C-6B53-8F69-9CA98D999281}"/>
              </a:ext>
            </a:extLst>
          </p:cNvPr>
          <p:cNvSpPr/>
          <p:nvPr/>
        </p:nvSpPr>
        <p:spPr>
          <a:xfrm>
            <a:off x="6428232" y="4480560"/>
            <a:ext cx="5084064" cy="402336"/>
          </a:xfrm>
          <a:prstGeom prst="rect">
            <a:avLst/>
          </a:prstGeom>
          <a:noFill/>
          <a:ln/>
        </p:spPr>
        <p:txBody>
          <a:bodyPr wrap="square" lIns="254" tIns="254" rIns="254" bIns="254" rtlCol="0" anchor="t">
            <a:normAutofit/>
          </a:bodyPr>
          <a:lstStyle/>
          <a:p>
            <a:pPr marL="0" indent="0">
              <a:buNone/>
            </a:pPr>
            <a:r>
              <a:rPr lang="en-US" sz="750" b="1" dirty="0">
                <a:solidFill>
                  <a:srgbClr val="131C2C"/>
                </a:solidFill>
                <a:latin typeface="Aptos" pitchFamily="34" charset="0"/>
                <a:ea typeface="Aptos" pitchFamily="34" charset="-122"/>
                <a:cs typeface="Aptos" pitchFamily="34" charset="-120"/>
              </a:rPr>
              <a:t>16. </a:t>
            </a:r>
            <a:r>
              <a:rPr lang="en-US" sz="750" dirty="0">
                <a:solidFill>
                  <a:srgbClr val="131C2C"/>
                </a:solidFill>
                <a:latin typeface="Aptos" pitchFamily="34" charset="0"/>
                <a:ea typeface="Aptos" pitchFamily="34" charset="-122"/>
                <a:cs typeface="Aptos" pitchFamily="34" charset="-120"/>
              </a:rPr>
              <a:t>Šibalić et al., “ARC: An open-source library for calculating properties of alkali Rydberg atoms,” Computer Physics Communications 220, 319–331 (2017).</a:t>
            </a:r>
            <a:endParaRPr lang="en-US" sz="1100" dirty="0"/>
          </a:p>
        </p:txBody>
      </p:sp>
      <p:sp>
        <p:nvSpPr>
          <p:cNvPr id="110" name="Text 26">
            <a:extLst>
              <a:ext uri="{FF2B5EF4-FFF2-40B4-BE49-F238E27FC236}">
                <a16:creationId xmlns:a16="http://schemas.microsoft.com/office/drawing/2014/main" id="{5A654F60-51C8-CF29-54E5-4DA6835CA431}"/>
              </a:ext>
            </a:extLst>
          </p:cNvPr>
          <p:cNvSpPr/>
          <p:nvPr/>
        </p:nvSpPr>
        <p:spPr>
          <a:xfrm>
            <a:off x="6428232" y="4965192"/>
            <a:ext cx="5084064" cy="402336"/>
          </a:xfrm>
          <a:prstGeom prst="rect">
            <a:avLst/>
          </a:prstGeom>
          <a:noFill/>
          <a:ln/>
        </p:spPr>
        <p:txBody>
          <a:bodyPr wrap="square" lIns="254" tIns="254" rIns="254" bIns="254" rtlCol="0" anchor="t">
            <a:normAutofit/>
          </a:bodyPr>
          <a:lstStyle/>
          <a:p>
            <a:pPr marL="0" indent="0">
              <a:buNone/>
            </a:pPr>
            <a:r>
              <a:rPr lang="en-US" sz="750" b="1" dirty="0">
                <a:solidFill>
                  <a:srgbClr val="131C2C"/>
                </a:solidFill>
                <a:latin typeface="Aptos" pitchFamily="34" charset="0"/>
                <a:ea typeface="Aptos" pitchFamily="34" charset="-122"/>
                <a:cs typeface="Aptos" pitchFamily="34" charset="-120"/>
              </a:rPr>
              <a:t>17. </a:t>
            </a:r>
            <a:r>
              <a:rPr lang="en-US" sz="750" dirty="0">
                <a:solidFill>
                  <a:srgbClr val="131C2C"/>
                </a:solidFill>
                <a:latin typeface="Aptos" pitchFamily="34" charset="0"/>
                <a:ea typeface="Aptos" pitchFamily="34" charset="-122"/>
                <a:cs typeface="Aptos" pitchFamily="34" charset="-120"/>
              </a:rPr>
              <a:t>Rydiqule documentation and density-matrix modelling workflows used for EIT / AT spectral simulations and forward-model checks.</a:t>
            </a:r>
            <a:endParaRPr lang="en-US" sz="1100" dirty="0"/>
          </a:p>
        </p:txBody>
      </p:sp>
      <p:sp>
        <p:nvSpPr>
          <p:cNvPr id="112" name="Text 27">
            <a:extLst>
              <a:ext uri="{FF2B5EF4-FFF2-40B4-BE49-F238E27FC236}">
                <a16:creationId xmlns:a16="http://schemas.microsoft.com/office/drawing/2014/main" id="{8850563C-FDAC-7F50-A67A-02130AB35FF1}"/>
              </a:ext>
            </a:extLst>
          </p:cNvPr>
          <p:cNvSpPr/>
          <p:nvPr/>
        </p:nvSpPr>
        <p:spPr>
          <a:xfrm>
            <a:off x="6428232" y="5449824"/>
            <a:ext cx="5084064" cy="402336"/>
          </a:xfrm>
          <a:prstGeom prst="rect">
            <a:avLst/>
          </a:prstGeom>
          <a:noFill/>
          <a:ln/>
        </p:spPr>
        <p:txBody>
          <a:bodyPr wrap="square" lIns="254" tIns="254" rIns="254" bIns="254" rtlCol="0" anchor="t">
            <a:normAutofit/>
          </a:bodyPr>
          <a:lstStyle/>
          <a:p>
            <a:pPr marL="0" indent="0">
              <a:buNone/>
            </a:pPr>
            <a:r>
              <a:rPr lang="en-US" sz="750" b="1" dirty="0">
                <a:solidFill>
                  <a:srgbClr val="131C2C"/>
                </a:solidFill>
                <a:latin typeface="Aptos" pitchFamily="34" charset="0"/>
                <a:ea typeface="Aptos" pitchFamily="34" charset="-122"/>
                <a:cs typeface="Aptos" pitchFamily="34" charset="-120"/>
              </a:rPr>
              <a:t>18. </a:t>
            </a:r>
            <a:r>
              <a:rPr lang="en-US" sz="750" dirty="0">
                <a:solidFill>
                  <a:srgbClr val="131C2C"/>
                </a:solidFill>
                <a:latin typeface="Aptos" pitchFamily="34" charset="0"/>
                <a:ea typeface="Aptos" pitchFamily="34" charset="-122"/>
                <a:cs typeface="Aptos" pitchFamily="34" charset="-120"/>
              </a:rPr>
              <a:t>Internal UNSW/DSTG group material: Weerasinghe, Muthugala, Verghese et al. manuscripts and preprints supplied to author (2026).</a:t>
            </a:r>
            <a:endParaRPr lang="en-US" sz="11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8" name="Rectangle 37"/>
          <p:cNvSpPr/>
          <p:nvPr/>
        </p:nvSpPr>
        <p:spPr>
          <a:xfrm>
            <a:off x="0" y="0"/>
            <a:ext cx="12192000" cy="6858000"/>
          </a:xfrm>
          <a:prstGeom prst="rect">
            <a:avLst/>
          </a:prstGeom>
          <a:solidFill>
            <a:srgbClr val="F8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Shape 3"/>
          <p:cNvSpPr/>
          <p:nvPr/>
        </p:nvSpPr>
        <p:spPr>
          <a:xfrm>
            <a:off x="457200" y="6547104"/>
            <a:ext cx="11247120" cy="0"/>
          </a:xfrm>
          <a:prstGeom prst="line">
            <a:avLst/>
          </a:prstGeom>
          <a:noFill/>
          <a:ln w="7620">
            <a:solidFill>
              <a:srgbClr val="E5E7EB"/>
            </a:solidFill>
            <a:prstDash val="solid"/>
          </a:ln>
        </p:spPr>
        <p:txBody>
          <a:bodyPr/>
          <a:lstStyle/>
          <a:p>
            <a:endParaRPr lang="en-AU"/>
          </a:p>
        </p:txBody>
      </p:sp>
      <p:sp>
        <p:nvSpPr>
          <p:cNvPr id="6" name="Text 4"/>
          <p:cNvSpPr/>
          <p:nvPr/>
        </p:nvSpPr>
        <p:spPr>
          <a:xfrm>
            <a:off x="502920" y="6583680"/>
            <a:ext cx="5943600" cy="164592"/>
          </a:xfrm>
          <a:prstGeom prst="rect">
            <a:avLst/>
          </a:prstGeom>
          <a:noFill/>
          <a:ln/>
        </p:spPr>
        <p:txBody>
          <a:bodyPr wrap="square" lIns="0" tIns="0" rIns="0" bIns="0" rtlCol="0" anchor="ctr"/>
          <a:lstStyle/>
          <a:p>
            <a:pPr marL="0" indent="0">
              <a:buNone/>
            </a:pPr>
            <a:r>
              <a:rPr lang="en-US" sz="660" dirty="0">
                <a:solidFill>
                  <a:srgbClr val="64748B"/>
                </a:solidFill>
                <a:latin typeface="Aptos" pitchFamily="34" charset="0"/>
                <a:ea typeface="Aptos" pitchFamily="34" charset="-122"/>
                <a:cs typeface="Aptos" pitchFamily="34" charset="-120"/>
              </a:rPr>
              <a:t>Rydberg sensing | Conference</a:t>
            </a:r>
            <a:endParaRPr lang="en-US" sz="660" dirty="0"/>
          </a:p>
        </p:txBody>
      </p:sp>
      <p:sp>
        <p:nvSpPr>
          <p:cNvPr id="7" name="Text 5"/>
          <p:cNvSpPr/>
          <p:nvPr/>
        </p:nvSpPr>
        <p:spPr>
          <a:xfrm>
            <a:off x="11292840" y="6583680"/>
            <a:ext cx="457200" cy="164592"/>
          </a:xfrm>
          <a:prstGeom prst="rect">
            <a:avLst/>
          </a:prstGeom>
          <a:noFill/>
          <a:ln/>
        </p:spPr>
        <p:txBody>
          <a:bodyPr wrap="square" lIns="0" tIns="0" rIns="0" bIns="0" rtlCol="0" anchor="ctr"/>
          <a:lstStyle/>
          <a:p>
            <a:pPr marL="0" indent="0" algn="r">
              <a:buNone/>
            </a:pPr>
            <a:r>
              <a:rPr lang="en-US" sz="660" dirty="0">
                <a:solidFill>
                  <a:srgbClr val="64748B"/>
                </a:solidFill>
                <a:latin typeface="Aptos" pitchFamily="34" charset="0"/>
                <a:ea typeface="Aptos" pitchFamily="34" charset="-122"/>
                <a:cs typeface="Aptos" pitchFamily="34" charset="-120"/>
              </a:rPr>
              <a:t>10</a:t>
            </a:r>
          </a:p>
        </p:txBody>
      </p:sp>
      <p:sp>
        <p:nvSpPr>
          <p:cNvPr id="19" name="Text 0">
            <a:extLst>
              <a:ext uri="{FF2B5EF4-FFF2-40B4-BE49-F238E27FC236}">
                <a16:creationId xmlns:a16="http://schemas.microsoft.com/office/drawing/2014/main" id="{37E876E4-473D-154A-2086-A5C10D1BA7F2}"/>
              </a:ext>
            </a:extLst>
          </p:cNvPr>
          <p:cNvSpPr/>
          <p:nvPr/>
        </p:nvSpPr>
        <p:spPr>
          <a:xfrm>
            <a:off x="609600" y="694944"/>
            <a:ext cx="6217920" cy="20116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b="1" kern="0" spc="60" dirty="0">
                <a:solidFill>
                  <a:srgbClr val="00A0C6"/>
                </a:solidFill>
                <a:latin typeface="Aptos" pitchFamily="34" charset="0"/>
                <a:ea typeface="Aptos" pitchFamily="34" charset="-122"/>
                <a:cs typeface="Aptos" pitchFamily="34" charset="-120"/>
              </a:rPr>
              <a:t>QUESTIONS</a:t>
            </a:r>
            <a:endParaRPr lang="en-US" sz="1000" dirty="0"/>
          </a:p>
        </p:txBody>
      </p:sp>
      <p:sp>
        <p:nvSpPr>
          <p:cNvPr id="21" name="Text 1">
            <a:extLst>
              <a:ext uri="{FF2B5EF4-FFF2-40B4-BE49-F238E27FC236}">
                <a16:creationId xmlns:a16="http://schemas.microsoft.com/office/drawing/2014/main" id="{7DFF71F9-C176-27A6-13E0-2C589C510AA7}"/>
              </a:ext>
            </a:extLst>
          </p:cNvPr>
          <p:cNvSpPr/>
          <p:nvPr/>
        </p:nvSpPr>
        <p:spPr>
          <a:xfrm>
            <a:off x="609600" y="923544"/>
            <a:ext cx="10972800" cy="365760"/>
          </a:xfrm>
          <a:prstGeom prst="rect">
            <a:avLst/>
          </a:prstGeom>
          <a:noFill/>
          <a:ln/>
        </p:spPr>
        <p:txBody>
          <a:bodyPr wrap="square" lIns="0" tIns="0" rIns="0" bIns="0" rtlCol="0" anchor="ctr">
            <a:normAutofit lnSpcReduction="100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sz="2450" b="1">
                <a:solidFill>
                  <a:srgbClr val="121D33"/>
                </a:solidFill>
                <a:latin typeface="Aptos Display"/>
              </a:rPr>
              <a:t>Explore the wider Quantum RF Sensing programme</a:t>
            </a:r>
            <a:endParaRPr lang="en-US" sz="2450" dirty="0"/>
          </a:p>
        </p:txBody>
      </p:sp>
      <p:sp>
        <p:nvSpPr>
          <p:cNvPr id="22" name="Shape 2">
            <a:extLst>
              <a:ext uri="{FF2B5EF4-FFF2-40B4-BE49-F238E27FC236}">
                <a16:creationId xmlns:a16="http://schemas.microsoft.com/office/drawing/2014/main" id="{98E82AA4-4EEE-D0EC-DDA4-1E6BBDB1244D}"/>
              </a:ext>
            </a:extLst>
          </p:cNvPr>
          <p:cNvSpPr/>
          <p:nvPr/>
        </p:nvSpPr>
        <p:spPr>
          <a:xfrm>
            <a:off x="609600" y="1472184"/>
            <a:ext cx="841248" cy="41148"/>
          </a:xfrm>
          <a:prstGeom prst="rect">
            <a:avLst/>
          </a:prstGeom>
          <a:solidFill>
            <a:srgbClr val="00A0C6"/>
          </a:solidFill>
          <a:ln w="12700">
            <a:solidFill>
              <a:srgbClr val="00A0C6"/>
            </a:solidFill>
            <a:prstDash val="solid"/>
          </a:ln>
        </p:spPr>
        <p:txBody>
          <a:bodyPr/>
          <a:lstStyle/>
          <a:p>
            <a:endParaRPr lang="en-AU"/>
          </a:p>
        </p:txBody>
      </p:sp>
      <p:sp>
        <p:nvSpPr>
          <p:cNvPr id="23" name="Shape 3">
            <a:extLst>
              <a:ext uri="{FF2B5EF4-FFF2-40B4-BE49-F238E27FC236}">
                <a16:creationId xmlns:a16="http://schemas.microsoft.com/office/drawing/2014/main" id="{71DA1772-3C2A-B724-1695-C6D43878A6AC}"/>
              </a:ext>
            </a:extLst>
          </p:cNvPr>
          <p:cNvSpPr/>
          <p:nvPr/>
        </p:nvSpPr>
        <p:spPr>
          <a:xfrm>
            <a:off x="737616" y="1883664"/>
            <a:ext cx="6812280" cy="1051560"/>
          </a:xfrm>
          <a:prstGeom prst="roundRect">
            <a:avLst>
              <a:gd name="adj" fmla="val 6957"/>
            </a:avLst>
          </a:prstGeom>
          <a:solidFill>
            <a:srgbClr val="FFFFFF"/>
          </a:solidFill>
          <a:ln w="12700">
            <a:solidFill>
              <a:srgbClr val="DDE5EC"/>
            </a:solidFill>
            <a:prstDash val="solid"/>
          </a:ln>
          <a:effectLst>
            <a:outerShdw algn="bl" rotWithShape="0">
              <a:srgbClr val="000000">
                <a:alpha val="0"/>
              </a:srgbClr>
            </a:outerShdw>
          </a:effectLst>
        </p:spPr>
        <p:txBody>
          <a:bodyPr/>
          <a:lstStyle/>
          <a:p>
            <a:endParaRPr lang="en-AU"/>
          </a:p>
        </p:txBody>
      </p:sp>
      <p:sp>
        <p:nvSpPr>
          <p:cNvPr id="24" name="Shape 4">
            <a:extLst>
              <a:ext uri="{FF2B5EF4-FFF2-40B4-BE49-F238E27FC236}">
                <a16:creationId xmlns:a16="http://schemas.microsoft.com/office/drawing/2014/main" id="{EB2901B8-D05D-85CE-7682-90A67AB1A962}"/>
              </a:ext>
            </a:extLst>
          </p:cNvPr>
          <p:cNvSpPr/>
          <p:nvPr/>
        </p:nvSpPr>
        <p:spPr>
          <a:xfrm>
            <a:off x="737616" y="1883664"/>
            <a:ext cx="59436" cy="1051560"/>
          </a:xfrm>
          <a:prstGeom prst="rect">
            <a:avLst/>
          </a:prstGeom>
          <a:solidFill>
            <a:srgbClr val="D11C73"/>
          </a:solidFill>
          <a:ln w="12700">
            <a:solidFill>
              <a:srgbClr val="D11C73"/>
            </a:solidFill>
            <a:prstDash val="solid"/>
          </a:ln>
        </p:spPr>
        <p:txBody>
          <a:bodyPr/>
          <a:lstStyle/>
          <a:p>
            <a:endParaRPr lang="en-AU"/>
          </a:p>
        </p:txBody>
      </p:sp>
      <p:sp>
        <p:nvSpPr>
          <p:cNvPr id="25" name="Text 5">
            <a:extLst>
              <a:ext uri="{FF2B5EF4-FFF2-40B4-BE49-F238E27FC236}">
                <a16:creationId xmlns:a16="http://schemas.microsoft.com/office/drawing/2014/main" id="{0C8881AB-B3BB-E62B-1950-0F010A802001}"/>
              </a:ext>
            </a:extLst>
          </p:cNvPr>
          <p:cNvSpPr/>
          <p:nvPr/>
        </p:nvSpPr>
        <p:spPr>
          <a:xfrm>
            <a:off x="920496" y="2029968"/>
            <a:ext cx="411480" cy="31089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700" b="1" dirty="0">
                <a:solidFill>
                  <a:srgbClr val="D11C73"/>
                </a:solidFill>
                <a:latin typeface="Aptos"/>
              </a:rPr>
              <a:t>1</a:t>
            </a:r>
            <a:endParaRPr lang="en-US" sz="1700" dirty="0"/>
          </a:p>
        </p:txBody>
      </p:sp>
      <p:sp>
        <p:nvSpPr>
          <p:cNvPr id="26" name="Text 6">
            <a:extLst>
              <a:ext uri="{FF2B5EF4-FFF2-40B4-BE49-F238E27FC236}">
                <a16:creationId xmlns:a16="http://schemas.microsoft.com/office/drawing/2014/main" id="{159BA6DF-A1B8-271E-D2E7-49FEAC3B54D9}"/>
              </a:ext>
            </a:extLst>
          </p:cNvPr>
          <p:cNvSpPr/>
          <p:nvPr/>
        </p:nvSpPr>
        <p:spPr>
          <a:xfrm>
            <a:off x="1395984" y="2029968"/>
            <a:ext cx="5971032" cy="256032"/>
          </a:xfrm>
          <a:prstGeom prst="rect">
            <a:avLst/>
          </a:prstGeom>
          <a:noFill/>
          <a:ln/>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20" b="1" dirty="0">
                <a:solidFill>
                  <a:srgbClr val="121D33"/>
                </a:solidFill>
                <a:latin typeface="Aptos"/>
              </a:rPr>
              <a:t>THIS THESIS</a:t>
            </a:r>
            <a:endParaRPr lang="en-US" sz="1320" dirty="0"/>
          </a:p>
        </p:txBody>
      </p:sp>
      <p:sp>
        <p:nvSpPr>
          <p:cNvPr id="27" name="Text 7">
            <a:extLst>
              <a:ext uri="{FF2B5EF4-FFF2-40B4-BE49-F238E27FC236}">
                <a16:creationId xmlns:a16="http://schemas.microsoft.com/office/drawing/2014/main" id="{B7484600-9879-AF45-7341-78E2D81EB1B3}"/>
              </a:ext>
            </a:extLst>
          </p:cNvPr>
          <p:cNvSpPr/>
          <p:nvPr/>
        </p:nvSpPr>
        <p:spPr>
          <a:xfrm>
            <a:off x="938784" y="2432304"/>
            <a:ext cx="6409944" cy="338328"/>
          </a:xfrm>
          <a:prstGeom prst="rect">
            <a:avLst/>
          </a:prstGeom>
          <a:noFill/>
          <a:ln/>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sz="1020">
                <a:solidFill>
                  <a:srgbClr val="384556"/>
                </a:solidFill>
                <a:latin typeface="Aptos"/>
              </a:rPr>
              <a:t>Linear-polarisation discrimination • Stokes observability • full-Stokes validation path</a:t>
            </a:r>
            <a:endParaRPr lang="en-US" sz="1020" dirty="0"/>
          </a:p>
        </p:txBody>
      </p:sp>
      <p:sp>
        <p:nvSpPr>
          <p:cNvPr id="28" name="Shape 8">
            <a:extLst>
              <a:ext uri="{FF2B5EF4-FFF2-40B4-BE49-F238E27FC236}">
                <a16:creationId xmlns:a16="http://schemas.microsoft.com/office/drawing/2014/main" id="{22A0E9D8-B31B-BE2C-843E-D6C5D23C8A00}"/>
              </a:ext>
            </a:extLst>
          </p:cNvPr>
          <p:cNvSpPr/>
          <p:nvPr/>
        </p:nvSpPr>
        <p:spPr>
          <a:xfrm>
            <a:off x="737616" y="3108960"/>
            <a:ext cx="6812280" cy="1051560"/>
          </a:xfrm>
          <a:prstGeom prst="roundRect">
            <a:avLst>
              <a:gd name="adj" fmla="val 6957"/>
            </a:avLst>
          </a:prstGeom>
          <a:solidFill>
            <a:srgbClr val="FFFFFF"/>
          </a:solidFill>
          <a:ln w="12700">
            <a:solidFill>
              <a:srgbClr val="DDE5EC"/>
            </a:solidFill>
            <a:prstDash val="solid"/>
          </a:ln>
          <a:effectLst>
            <a:outerShdw algn="bl" rotWithShape="0">
              <a:srgbClr val="000000">
                <a:alpha val="0"/>
              </a:srgbClr>
            </a:outerShdw>
          </a:effectLst>
        </p:spPr>
        <p:txBody>
          <a:bodyPr/>
          <a:lstStyle/>
          <a:p>
            <a:endParaRPr lang="en-AU"/>
          </a:p>
        </p:txBody>
      </p:sp>
      <p:sp>
        <p:nvSpPr>
          <p:cNvPr id="29" name="Shape 9">
            <a:extLst>
              <a:ext uri="{FF2B5EF4-FFF2-40B4-BE49-F238E27FC236}">
                <a16:creationId xmlns:a16="http://schemas.microsoft.com/office/drawing/2014/main" id="{77807306-B392-C72B-2075-5F7DC3DF6193}"/>
              </a:ext>
            </a:extLst>
          </p:cNvPr>
          <p:cNvSpPr/>
          <p:nvPr/>
        </p:nvSpPr>
        <p:spPr>
          <a:xfrm>
            <a:off x="737616" y="3108960"/>
            <a:ext cx="59436" cy="1051560"/>
          </a:xfrm>
          <a:prstGeom prst="rect">
            <a:avLst/>
          </a:prstGeom>
          <a:solidFill>
            <a:srgbClr val="00A0C6"/>
          </a:solidFill>
          <a:ln w="12700">
            <a:solidFill>
              <a:srgbClr val="00A0C6"/>
            </a:solidFill>
            <a:prstDash val="solid"/>
          </a:ln>
        </p:spPr>
        <p:txBody>
          <a:bodyPr/>
          <a:lstStyle/>
          <a:p>
            <a:endParaRPr lang="en-AU"/>
          </a:p>
        </p:txBody>
      </p:sp>
      <p:sp>
        <p:nvSpPr>
          <p:cNvPr id="30" name="Text 10">
            <a:extLst>
              <a:ext uri="{FF2B5EF4-FFF2-40B4-BE49-F238E27FC236}">
                <a16:creationId xmlns:a16="http://schemas.microsoft.com/office/drawing/2014/main" id="{1C2BDA81-857C-D9A2-EACA-5F3C650B36C8}"/>
              </a:ext>
            </a:extLst>
          </p:cNvPr>
          <p:cNvSpPr/>
          <p:nvPr/>
        </p:nvSpPr>
        <p:spPr>
          <a:xfrm>
            <a:off x="920496" y="3255264"/>
            <a:ext cx="411480" cy="31089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700" b="1" dirty="0">
                <a:solidFill>
                  <a:srgbClr val="00A0C6"/>
                </a:solidFill>
                <a:latin typeface="Aptos"/>
              </a:rPr>
              <a:t>2</a:t>
            </a:r>
            <a:endParaRPr lang="en-US" sz="1700" dirty="0"/>
          </a:p>
        </p:txBody>
      </p:sp>
      <p:sp>
        <p:nvSpPr>
          <p:cNvPr id="31" name="Text 11">
            <a:extLst>
              <a:ext uri="{FF2B5EF4-FFF2-40B4-BE49-F238E27FC236}">
                <a16:creationId xmlns:a16="http://schemas.microsoft.com/office/drawing/2014/main" id="{636FE2B3-F231-5BA9-7FE2-17BE7A6B7680}"/>
              </a:ext>
            </a:extLst>
          </p:cNvPr>
          <p:cNvSpPr/>
          <p:nvPr/>
        </p:nvSpPr>
        <p:spPr>
          <a:xfrm>
            <a:off x="1395984" y="3255264"/>
            <a:ext cx="5971032" cy="256032"/>
          </a:xfrm>
          <a:prstGeom prst="rect">
            <a:avLst/>
          </a:prstGeom>
          <a:noFill/>
          <a:ln/>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20" b="1" dirty="0">
                <a:solidFill>
                  <a:srgbClr val="121D33"/>
                </a:solidFill>
                <a:latin typeface="Aptos"/>
              </a:rPr>
              <a:t>GROUP PROGRAMME</a:t>
            </a:r>
            <a:endParaRPr lang="en-US" sz="1320" dirty="0"/>
          </a:p>
        </p:txBody>
      </p:sp>
      <p:sp>
        <p:nvSpPr>
          <p:cNvPr id="32" name="Text 12">
            <a:extLst>
              <a:ext uri="{FF2B5EF4-FFF2-40B4-BE49-F238E27FC236}">
                <a16:creationId xmlns:a16="http://schemas.microsoft.com/office/drawing/2014/main" id="{AE30AFF8-2849-069B-0A8B-F06F367E1026}"/>
              </a:ext>
            </a:extLst>
          </p:cNvPr>
          <p:cNvSpPr/>
          <p:nvPr/>
        </p:nvSpPr>
        <p:spPr>
          <a:xfrm>
            <a:off x="938784" y="3657600"/>
            <a:ext cx="6409944" cy="338328"/>
          </a:xfrm>
          <a:prstGeom prst="rect">
            <a:avLst/>
          </a:prstGeom>
          <a:noFill/>
          <a:ln/>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sz="1020">
                <a:solidFill>
                  <a:srgbClr val="384556"/>
                </a:solidFill>
                <a:latin typeface="Aptos"/>
              </a:rPr>
              <a:t>Wideband reception • atomic mixing • interference studies • simplified optics • field enhancement</a:t>
            </a:r>
            <a:endParaRPr lang="en-US" sz="1020" dirty="0"/>
          </a:p>
        </p:txBody>
      </p:sp>
      <p:sp>
        <p:nvSpPr>
          <p:cNvPr id="33" name="Shape 13">
            <a:extLst>
              <a:ext uri="{FF2B5EF4-FFF2-40B4-BE49-F238E27FC236}">
                <a16:creationId xmlns:a16="http://schemas.microsoft.com/office/drawing/2014/main" id="{40D9A5F5-C1DE-1757-8DD4-DA0F1A1DDBF2}"/>
              </a:ext>
            </a:extLst>
          </p:cNvPr>
          <p:cNvSpPr/>
          <p:nvPr/>
        </p:nvSpPr>
        <p:spPr>
          <a:xfrm>
            <a:off x="737616" y="4334256"/>
            <a:ext cx="6812280" cy="1051560"/>
          </a:xfrm>
          <a:prstGeom prst="roundRect">
            <a:avLst>
              <a:gd name="adj" fmla="val 6957"/>
            </a:avLst>
          </a:prstGeom>
          <a:solidFill>
            <a:srgbClr val="FFFFFF"/>
          </a:solidFill>
          <a:ln w="12700">
            <a:solidFill>
              <a:srgbClr val="DDE5EC"/>
            </a:solidFill>
            <a:prstDash val="solid"/>
          </a:ln>
          <a:effectLst>
            <a:outerShdw algn="bl" rotWithShape="0">
              <a:srgbClr val="000000">
                <a:alpha val="0"/>
              </a:srgbClr>
            </a:outerShdw>
          </a:effectLst>
        </p:spPr>
        <p:txBody>
          <a:bodyPr/>
          <a:lstStyle/>
          <a:p>
            <a:endParaRPr lang="en-AU"/>
          </a:p>
        </p:txBody>
      </p:sp>
      <p:sp>
        <p:nvSpPr>
          <p:cNvPr id="34" name="Shape 14">
            <a:extLst>
              <a:ext uri="{FF2B5EF4-FFF2-40B4-BE49-F238E27FC236}">
                <a16:creationId xmlns:a16="http://schemas.microsoft.com/office/drawing/2014/main" id="{A3F62024-BA81-FF9B-F9D0-04698F15757E}"/>
              </a:ext>
            </a:extLst>
          </p:cNvPr>
          <p:cNvSpPr/>
          <p:nvPr/>
        </p:nvSpPr>
        <p:spPr>
          <a:xfrm>
            <a:off x="737616" y="4334256"/>
            <a:ext cx="59436" cy="1051560"/>
          </a:xfrm>
          <a:prstGeom prst="rect">
            <a:avLst/>
          </a:prstGeom>
          <a:solidFill>
            <a:srgbClr val="F3A315"/>
          </a:solidFill>
          <a:ln w="12700">
            <a:solidFill>
              <a:srgbClr val="F3A315"/>
            </a:solidFill>
            <a:prstDash val="solid"/>
          </a:ln>
        </p:spPr>
        <p:txBody>
          <a:bodyPr/>
          <a:lstStyle/>
          <a:p>
            <a:endParaRPr lang="en-AU"/>
          </a:p>
        </p:txBody>
      </p:sp>
      <p:sp>
        <p:nvSpPr>
          <p:cNvPr id="35" name="Text 15">
            <a:extLst>
              <a:ext uri="{FF2B5EF4-FFF2-40B4-BE49-F238E27FC236}">
                <a16:creationId xmlns:a16="http://schemas.microsoft.com/office/drawing/2014/main" id="{59CF9862-C847-6CA9-D811-02123EF06840}"/>
              </a:ext>
            </a:extLst>
          </p:cNvPr>
          <p:cNvSpPr/>
          <p:nvPr/>
        </p:nvSpPr>
        <p:spPr>
          <a:xfrm>
            <a:off x="920496" y="4480560"/>
            <a:ext cx="411480" cy="31089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700" b="1" dirty="0">
                <a:solidFill>
                  <a:srgbClr val="F3A315"/>
                </a:solidFill>
                <a:latin typeface="Aptos"/>
              </a:rPr>
              <a:t>3</a:t>
            </a:r>
            <a:endParaRPr lang="en-US" sz="1700" dirty="0"/>
          </a:p>
        </p:txBody>
      </p:sp>
      <p:sp>
        <p:nvSpPr>
          <p:cNvPr id="36" name="Text 16">
            <a:extLst>
              <a:ext uri="{FF2B5EF4-FFF2-40B4-BE49-F238E27FC236}">
                <a16:creationId xmlns:a16="http://schemas.microsoft.com/office/drawing/2014/main" id="{972BB722-55BB-3340-1A01-8E03ECCF58CF}"/>
              </a:ext>
            </a:extLst>
          </p:cNvPr>
          <p:cNvSpPr/>
          <p:nvPr/>
        </p:nvSpPr>
        <p:spPr>
          <a:xfrm>
            <a:off x="1395984" y="4480560"/>
            <a:ext cx="5971032" cy="256032"/>
          </a:xfrm>
          <a:prstGeom prst="rect">
            <a:avLst/>
          </a:prstGeom>
          <a:noFill/>
          <a:ln/>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20" b="1" dirty="0">
                <a:solidFill>
                  <a:srgbClr val="121D33"/>
                </a:solidFill>
                <a:latin typeface="Aptos"/>
              </a:rPr>
              <a:t>NEXT PLATFORMS</a:t>
            </a:r>
            <a:endParaRPr lang="en-US" sz="1320" dirty="0"/>
          </a:p>
        </p:txBody>
      </p:sp>
      <p:sp>
        <p:nvSpPr>
          <p:cNvPr id="37" name="Text 17">
            <a:extLst>
              <a:ext uri="{FF2B5EF4-FFF2-40B4-BE49-F238E27FC236}">
                <a16:creationId xmlns:a16="http://schemas.microsoft.com/office/drawing/2014/main" id="{90DE0B2F-1B1E-F494-6624-E400346F789F}"/>
              </a:ext>
            </a:extLst>
          </p:cNvPr>
          <p:cNvSpPr/>
          <p:nvPr/>
        </p:nvSpPr>
        <p:spPr>
          <a:xfrm>
            <a:off x="938784" y="4882896"/>
            <a:ext cx="6409944" cy="338328"/>
          </a:xfrm>
          <a:prstGeom prst="rect">
            <a:avLst/>
          </a:prstGeom>
          <a:noFill/>
          <a:ln/>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sz="1020">
                <a:solidFill>
                  <a:srgbClr val="384556"/>
                </a:solidFill>
                <a:latin typeface="Aptos"/>
              </a:rPr>
              <a:t>Drone RF signatures • environmental robustness • metasurface enhancement • active sensing concepts</a:t>
            </a:r>
            <a:endParaRPr lang="en-US" sz="1020" dirty="0"/>
          </a:p>
        </p:txBody>
      </p:sp>
      <p:sp>
        <p:nvSpPr>
          <p:cNvPr id="3" name="Rounded Rectangle 22">
            <a:extLst>
              <a:ext uri="{FF2B5EF4-FFF2-40B4-BE49-F238E27FC236}">
                <a16:creationId xmlns:a16="http://schemas.microsoft.com/office/drawing/2014/main" id="{6817FD2E-B6FD-3BA0-38DD-1090DDCAD44F}"/>
              </a:ext>
            </a:extLst>
          </p:cNvPr>
          <p:cNvSpPr/>
          <p:nvPr/>
        </p:nvSpPr>
        <p:spPr>
          <a:xfrm>
            <a:off x="8009934" y="1389888"/>
            <a:ext cx="3364992" cy="4055360"/>
          </a:xfrm>
          <a:prstGeom prst="roundRect">
            <a:avLst/>
          </a:prstGeom>
          <a:solidFill>
            <a:srgbClr val="F8FAFC"/>
          </a:solidFill>
          <a:ln w="12700">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5F248C7F-9E8B-1D67-3797-C4568D705E1F}"/>
              </a:ext>
            </a:extLst>
          </p:cNvPr>
          <p:cNvSpPr txBox="1"/>
          <p:nvPr/>
        </p:nvSpPr>
        <p:spPr>
          <a:xfrm>
            <a:off x="8227235" y="1636776"/>
            <a:ext cx="2788920" cy="274320"/>
          </a:xfrm>
          <a:prstGeom prst="rect">
            <a:avLst/>
          </a:prstGeom>
          <a:noFill/>
        </p:spPr>
        <p:txBody>
          <a:bodyPr wrap="square" lIns="36576" tIns="36576" rIns="36576" bIns="36576" anchor="t">
            <a:spAutoFit/>
          </a:bodyPr>
          <a:lstStyle/>
          <a:p>
            <a:pPr algn="ctr"/>
            <a:r>
              <a:rPr sz="1550" b="1" dirty="0">
                <a:solidFill>
                  <a:srgbClr val="172033"/>
                </a:solidFill>
                <a:latin typeface="Aptos"/>
              </a:rPr>
              <a:t>Scan to explore</a:t>
            </a:r>
          </a:p>
        </p:txBody>
      </p:sp>
      <p:pic>
        <p:nvPicPr>
          <p:cNvPr id="10" name="Picture 9" descr="quantum_rf_sensing_qr.png">
            <a:extLst>
              <a:ext uri="{FF2B5EF4-FFF2-40B4-BE49-F238E27FC236}">
                <a16:creationId xmlns:a16="http://schemas.microsoft.com/office/drawing/2014/main" id="{99B287FC-BF0D-4252-9BEA-041CC75D7FB3}"/>
              </a:ext>
            </a:extLst>
          </p:cNvPr>
          <p:cNvPicPr>
            <a:picLocks noChangeAspect="1"/>
          </p:cNvPicPr>
          <p:nvPr/>
        </p:nvPicPr>
        <p:blipFill>
          <a:blip r:embed="rId3"/>
          <a:stretch>
            <a:fillRect/>
          </a:stretch>
        </p:blipFill>
        <p:spPr>
          <a:xfrm>
            <a:off x="8389409" y="2011680"/>
            <a:ext cx="2606040" cy="2606040"/>
          </a:xfrm>
          <a:prstGeom prst="rect">
            <a:avLst/>
          </a:prstGeom>
        </p:spPr>
      </p:pic>
      <p:sp>
        <p:nvSpPr>
          <p:cNvPr id="12" name="TextBox 11">
            <a:extLst>
              <a:ext uri="{FF2B5EF4-FFF2-40B4-BE49-F238E27FC236}">
                <a16:creationId xmlns:a16="http://schemas.microsoft.com/office/drawing/2014/main" id="{F52D3F04-1765-CFE4-D59A-9F5806280058}"/>
              </a:ext>
            </a:extLst>
          </p:cNvPr>
          <p:cNvSpPr txBox="1"/>
          <p:nvPr/>
        </p:nvSpPr>
        <p:spPr>
          <a:xfrm>
            <a:off x="8204375" y="4736592"/>
            <a:ext cx="2834640" cy="201168"/>
          </a:xfrm>
          <a:prstGeom prst="rect">
            <a:avLst/>
          </a:prstGeom>
          <a:noFill/>
        </p:spPr>
        <p:txBody>
          <a:bodyPr wrap="square" lIns="36576" tIns="36576" rIns="36576" bIns="36576" anchor="t">
            <a:spAutoFit/>
          </a:bodyPr>
          <a:lstStyle/>
          <a:p>
            <a:pPr algn="ctr"/>
            <a:r>
              <a:rPr sz="1250" b="1" dirty="0">
                <a:solidFill>
                  <a:srgbClr val="172033"/>
                </a:solidFill>
                <a:latin typeface="Aptos"/>
              </a:rPr>
              <a:t>Quantum RF Sensing</a:t>
            </a:r>
          </a:p>
        </p:txBody>
      </p:sp>
      <p:sp>
        <p:nvSpPr>
          <p:cNvPr id="14" name="TextBox 13">
            <a:extLst>
              <a:ext uri="{FF2B5EF4-FFF2-40B4-BE49-F238E27FC236}">
                <a16:creationId xmlns:a16="http://schemas.microsoft.com/office/drawing/2014/main" id="{53F46B7F-F7A6-482A-14ED-718C279F960E}"/>
              </a:ext>
            </a:extLst>
          </p:cNvPr>
          <p:cNvSpPr txBox="1"/>
          <p:nvPr/>
        </p:nvSpPr>
        <p:spPr>
          <a:xfrm>
            <a:off x="8204375" y="4941260"/>
            <a:ext cx="2976109" cy="221599"/>
          </a:xfrm>
          <a:prstGeom prst="rect">
            <a:avLst/>
          </a:prstGeom>
          <a:noFill/>
        </p:spPr>
        <p:txBody>
          <a:bodyPr wrap="square" lIns="36576" tIns="36576" rIns="36576" bIns="36576" anchor="t">
            <a:spAutoFit/>
          </a:bodyPr>
          <a:lstStyle/>
          <a:p>
            <a:pPr algn="ctr"/>
            <a:r>
              <a:rPr sz="960" b="0" dirty="0">
                <a:solidFill>
                  <a:srgbClr val="56657C"/>
                </a:solidFill>
                <a:latin typeface="Aptos"/>
              </a:rPr>
              <a:t>Thesis notes • group projects • deployment concepts</a:t>
            </a: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8">
    <p:bg>
      <p:bgPr>
        <a:solidFill>
          <a:srgbClr val="111827"/>
        </a:solidFill>
        <a:effectLst/>
      </p:bgPr>
    </p:bg>
    <p:spTree>
      <p:nvGrpSpPr>
        <p:cNvPr id="1" name=""/>
        <p:cNvGrpSpPr/>
        <p:nvPr/>
      </p:nvGrpSpPr>
      <p:grpSpPr>
        <a:xfrm>
          <a:off x="0" y="0"/>
          <a:ext cx="0" cy="0"/>
          <a:chOff x="0" y="0"/>
          <a:chExt cx="0" cy="0"/>
        </a:xfrm>
      </p:grpSpPr>
      <p:sp>
        <p:nvSpPr>
          <p:cNvPr id="3" name="Rectangle 2"/>
          <p:cNvSpPr/>
          <p:nvPr/>
        </p:nvSpPr>
        <p:spPr>
          <a:xfrm>
            <a:off x="0" y="0"/>
            <a:ext cx="12192000" cy="6858000"/>
          </a:xfrm>
          <a:prstGeom prst="rect">
            <a:avLst/>
          </a:prstGeom>
          <a:solidFill>
            <a:srgbClr val="13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31520" y="2743200"/>
            <a:ext cx="6400800" cy="640080"/>
          </a:xfrm>
          <a:prstGeom prst="rect">
            <a:avLst/>
          </a:prstGeom>
          <a:noFill/>
          <a:ln/>
        </p:spPr>
        <p:txBody>
          <a:bodyPr wrap="square" lIns="0" tIns="0" rIns="0" bIns="0" rtlCol="0" anchor="ctr"/>
          <a:lstStyle/>
          <a:p>
            <a:pPr marL="0" indent="0">
              <a:buNone/>
            </a:pPr>
            <a:r>
              <a:rPr lang="en-US" sz="3800" b="1" dirty="0">
                <a:solidFill>
                  <a:srgbClr val="FFFFFF"/>
                </a:solidFill>
                <a:latin typeface="Aptos Display"/>
              </a:rPr>
              <a:t>Appendix</a:t>
            </a:r>
            <a:endParaRPr lang="en-US" sz="7200" dirty="0"/>
          </a:p>
        </p:txBody>
      </p:sp>
      <p:sp>
        <p:nvSpPr>
          <p:cNvPr id="4" name="Rectangle 3"/>
          <p:cNvSpPr/>
          <p:nvPr/>
        </p:nvSpPr>
        <p:spPr>
          <a:xfrm>
            <a:off x="731520" y="3703320"/>
            <a:ext cx="3840480" cy="32004"/>
          </a:xfrm>
          <a:prstGeom prst="rect">
            <a:avLst/>
          </a:prstGeom>
          <a:solidFill>
            <a:srgbClr val="0099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62" name="Rectangle 61"/>
          <p:cNvSpPr/>
          <p:nvPr/>
        </p:nvSpPr>
        <p:spPr>
          <a:xfrm>
            <a:off x="0" y="0"/>
            <a:ext cx="12192000" cy="6858000"/>
          </a:xfrm>
          <a:prstGeom prst="rect">
            <a:avLst/>
          </a:prstGeom>
          <a:solidFill>
            <a:srgbClr val="F8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Shape 3"/>
          <p:cNvSpPr/>
          <p:nvPr/>
        </p:nvSpPr>
        <p:spPr>
          <a:xfrm>
            <a:off x="460668" y="6382512"/>
            <a:ext cx="11247120" cy="0"/>
          </a:xfrm>
          <a:prstGeom prst="line">
            <a:avLst/>
          </a:prstGeom>
          <a:noFill/>
          <a:ln w="7620">
            <a:solidFill>
              <a:srgbClr val="E5E7EB"/>
            </a:solidFill>
            <a:prstDash val="solid"/>
          </a:ln>
        </p:spPr>
        <p:txBody>
          <a:bodyPr/>
          <a:lstStyle/>
          <a:p>
            <a:endParaRPr lang="en-AU"/>
          </a:p>
        </p:txBody>
      </p:sp>
      <p:sp>
        <p:nvSpPr>
          <p:cNvPr id="6" name="Text 4"/>
          <p:cNvSpPr/>
          <p:nvPr/>
        </p:nvSpPr>
        <p:spPr>
          <a:xfrm>
            <a:off x="502920" y="6583680"/>
            <a:ext cx="5943600" cy="164592"/>
          </a:xfrm>
          <a:prstGeom prst="rect">
            <a:avLst/>
          </a:prstGeom>
          <a:noFill/>
          <a:ln/>
        </p:spPr>
        <p:txBody>
          <a:bodyPr wrap="square" lIns="0" tIns="0" rIns="0" bIns="0" rtlCol="0" anchor="ctr"/>
          <a:lstStyle/>
          <a:p>
            <a:pPr marL="0" indent="0">
              <a:buNone/>
            </a:pPr>
            <a:r>
              <a:rPr lang="en-US" sz="660" dirty="0">
                <a:solidFill>
                  <a:srgbClr val="64748B"/>
                </a:solidFill>
                <a:latin typeface="Aptos" pitchFamily="34" charset="0"/>
                <a:ea typeface="Aptos" pitchFamily="34" charset="-122"/>
                <a:cs typeface="Aptos" pitchFamily="34" charset="-120"/>
              </a:rPr>
              <a:t>Rydberg sensing | SET HDR Conference</a:t>
            </a:r>
            <a:endParaRPr lang="en-US" sz="660" dirty="0"/>
          </a:p>
        </p:txBody>
      </p:sp>
      <p:sp>
        <p:nvSpPr>
          <p:cNvPr id="7" name="Text 5"/>
          <p:cNvSpPr/>
          <p:nvPr/>
        </p:nvSpPr>
        <p:spPr>
          <a:xfrm>
            <a:off x="11292840" y="6583680"/>
            <a:ext cx="457200" cy="164592"/>
          </a:xfrm>
          <a:prstGeom prst="rect">
            <a:avLst/>
          </a:prstGeom>
          <a:noFill/>
          <a:ln/>
        </p:spPr>
        <p:txBody>
          <a:bodyPr wrap="square" lIns="0" tIns="0" rIns="0" bIns="0" rtlCol="0" anchor="ctr"/>
          <a:lstStyle/>
          <a:p>
            <a:pPr marL="0" indent="0" algn="r">
              <a:buNone/>
            </a:pPr>
            <a:r>
              <a:rPr lang="en-US" sz="660" dirty="0">
                <a:solidFill>
                  <a:srgbClr val="64748B"/>
                </a:solidFill>
                <a:latin typeface="Aptos" pitchFamily="34" charset="0"/>
              </a:rPr>
              <a:t>5</a:t>
            </a:r>
            <a:endParaRPr lang="en-US" sz="660" dirty="0"/>
          </a:p>
        </p:txBody>
      </p:sp>
      <p:sp>
        <p:nvSpPr>
          <p:cNvPr id="8" name="Text 0">
            <a:extLst>
              <a:ext uri="{FF2B5EF4-FFF2-40B4-BE49-F238E27FC236}">
                <a16:creationId xmlns:a16="http://schemas.microsoft.com/office/drawing/2014/main" id="{8C529687-D6A9-3EFE-1EF7-15395BEED226}"/>
              </a:ext>
            </a:extLst>
          </p:cNvPr>
          <p:cNvSpPr/>
          <p:nvPr/>
        </p:nvSpPr>
        <p:spPr>
          <a:xfrm>
            <a:off x="440436" y="256032"/>
            <a:ext cx="6400800" cy="411480"/>
          </a:xfrm>
          <a:prstGeom prst="rect">
            <a:avLst/>
          </a:prstGeom>
          <a:noFill/>
          <a:ln/>
        </p:spPr>
        <p:txBody>
          <a:bodyPr wrap="square" lIns="0" tIns="0" rIns="0" bIns="0" rtlCol="0" anchor="t">
            <a:normAutofit lnSpcReduction="100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sz="2800" b="1">
                <a:solidFill>
                  <a:srgbClr val="111827"/>
                </a:solidFill>
                <a:latin typeface="Aptos Display"/>
              </a:rPr>
              <a:t>Why magnetic biasing matters</a:t>
            </a:r>
            <a:endParaRPr lang="en-US" sz="2800" dirty="0"/>
          </a:p>
        </p:txBody>
      </p:sp>
      <p:sp>
        <p:nvSpPr>
          <p:cNvPr id="10" name="Text 1">
            <a:extLst>
              <a:ext uri="{FF2B5EF4-FFF2-40B4-BE49-F238E27FC236}">
                <a16:creationId xmlns:a16="http://schemas.microsoft.com/office/drawing/2014/main" id="{3994801D-898C-9E45-7043-105DD8EFD60F}"/>
              </a:ext>
            </a:extLst>
          </p:cNvPr>
          <p:cNvSpPr/>
          <p:nvPr/>
        </p:nvSpPr>
        <p:spPr>
          <a:xfrm>
            <a:off x="458724" y="694944"/>
            <a:ext cx="7589520" cy="219456"/>
          </a:xfrm>
          <a:prstGeom prst="rect">
            <a:avLst/>
          </a:prstGeom>
          <a:noFill/>
          <a:ln/>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400">
                <a:solidFill>
                  <a:srgbClr val="131C2C"/>
                </a:solidFill>
                <a:latin typeface="Aptos"/>
              </a:rPr>
              <a:t>A DC bias can define a quantisation axis for circular-handedness sensitivity</a:t>
            </a:r>
            <a:endParaRPr lang="en-US" sz="1300" dirty="0"/>
          </a:p>
        </p:txBody>
      </p:sp>
      <p:sp>
        <p:nvSpPr>
          <p:cNvPr id="11" name="Shape 2">
            <a:extLst>
              <a:ext uri="{FF2B5EF4-FFF2-40B4-BE49-F238E27FC236}">
                <a16:creationId xmlns:a16="http://schemas.microsoft.com/office/drawing/2014/main" id="{4C4AD3DE-8967-552D-BA87-255969E0F6D2}"/>
              </a:ext>
            </a:extLst>
          </p:cNvPr>
          <p:cNvSpPr/>
          <p:nvPr/>
        </p:nvSpPr>
        <p:spPr>
          <a:xfrm>
            <a:off x="458724" y="1005840"/>
            <a:ext cx="3520440" cy="32004"/>
          </a:xfrm>
          <a:prstGeom prst="rect">
            <a:avLst/>
          </a:prstGeom>
          <a:solidFill>
            <a:srgbClr val="0097A7"/>
          </a:solidFill>
          <a:ln w="12700">
            <a:solidFill>
              <a:srgbClr val="0097A7"/>
            </a:solidFill>
            <a:prstDash val="solid"/>
          </a:ln>
        </p:spPr>
        <p:txBody>
          <a:bodyPr/>
          <a:lstStyle/>
          <a:p>
            <a:endParaRPr lang="en-AU"/>
          </a:p>
        </p:txBody>
      </p:sp>
      <p:sp>
        <p:nvSpPr>
          <p:cNvPr id="12" name="Shape 3">
            <a:extLst>
              <a:ext uri="{FF2B5EF4-FFF2-40B4-BE49-F238E27FC236}">
                <a16:creationId xmlns:a16="http://schemas.microsoft.com/office/drawing/2014/main" id="{7100089E-B21B-3E32-A291-66430A940AFA}"/>
              </a:ext>
            </a:extLst>
          </p:cNvPr>
          <p:cNvSpPr/>
          <p:nvPr/>
        </p:nvSpPr>
        <p:spPr>
          <a:xfrm>
            <a:off x="458724" y="1243584"/>
            <a:ext cx="3703320" cy="4160520"/>
          </a:xfrm>
          <a:prstGeom prst="roundRect">
            <a:avLst>
              <a:gd name="adj" fmla="val 1481"/>
            </a:avLst>
          </a:prstGeom>
          <a:solidFill>
            <a:srgbClr val="FFFFFF"/>
          </a:solidFill>
          <a:ln w="12700">
            <a:solidFill>
              <a:srgbClr val="D7DEE8"/>
            </a:solidFill>
            <a:prstDash val="solid"/>
          </a:ln>
        </p:spPr>
        <p:txBody>
          <a:bodyPr/>
          <a:lstStyle/>
          <a:p>
            <a:endParaRPr lang="en-AU"/>
          </a:p>
        </p:txBody>
      </p:sp>
      <p:sp>
        <p:nvSpPr>
          <p:cNvPr id="13" name="Shape 4">
            <a:extLst>
              <a:ext uri="{FF2B5EF4-FFF2-40B4-BE49-F238E27FC236}">
                <a16:creationId xmlns:a16="http://schemas.microsoft.com/office/drawing/2014/main" id="{96DD8B36-DAC6-BAB7-0E4F-2AE3D154D17F}"/>
              </a:ext>
            </a:extLst>
          </p:cNvPr>
          <p:cNvSpPr/>
          <p:nvPr/>
        </p:nvSpPr>
        <p:spPr>
          <a:xfrm>
            <a:off x="650748" y="1417320"/>
            <a:ext cx="256032" cy="256032"/>
          </a:xfrm>
          <a:prstGeom prst="ellipse">
            <a:avLst/>
          </a:prstGeom>
          <a:solidFill>
            <a:srgbClr val="0097A7"/>
          </a:solidFill>
          <a:ln w="12700">
            <a:solidFill>
              <a:srgbClr val="0097A7"/>
            </a:solidFill>
            <a:prstDash val="solid"/>
          </a:ln>
        </p:spPr>
        <p:txBody>
          <a:bodyPr/>
          <a:lstStyle/>
          <a:p>
            <a:endParaRPr lang="en-AU"/>
          </a:p>
        </p:txBody>
      </p:sp>
      <p:sp>
        <p:nvSpPr>
          <p:cNvPr id="14" name="Text 5">
            <a:extLst>
              <a:ext uri="{FF2B5EF4-FFF2-40B4-BE49-F238E27FC236}">
                <a16:creationId xmlns:a16="http://schemas.microsoft.com/office/drawing/2014/main" id="{57FC2EF1-1D3F-5463-93FD-1B0F09D22DF3}"/>
              </a:ext>
            </a:extLst>
          </p:cNvPr>
          <p:cNvSpPr/>
          <p:nvPr/>
        </p:nvSpPr>
        <p:spPr>
          <a:xfrm>
            <a:off x="728472" y="1510792"/>
            <a:ext cx="91440" cy="109728"/>
          </a:xfrm>
          <a:prstGeom prst="rect">
            <a:avLst/>
          </a:prstGeom>
          <a:noFill/>
          <a:ln/>
        </p:spPr>
        <p:txBody>
          <a:bodyPr wrap="square" lIns="0" tIns="0" rIns="0" bIns="0" rtlCol="0" anchor="t">
            <a:normAutofit fontScale="77500" lnSpcReduction="200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b="1" dirty="0">
                <a:solidFill>
                  <a:srgbClr val="FFFFFF"/>
                </a:solidFill>
                <a:latin typeface="Aptos" pitchFamily="34" charset="0"/>
                <a:ea typeface="Aptos" pitchFamily="34" charset="-122"/>
                <a:cs typeface="Aptos" pitchFamily="34" charset="-120"/>
              </a:rPr>
              <a:t>1</a:t>
            </a:r>
            <a:endParaRPr lang="en-US" sz="1000" dirty="0"/>
          </a:p>
        </p:txBody>
      </p:sp>
      <p:sp>
        <p:nvSpPr>
          <p:cNvPr id="20" name="Text 6">
            <a:extLst>
              <a:ext uri="{FF2B5EF4-FFF2-40B4-BE49-F238E27FC236}">
                <a16:creationId xmlns:a16="http://schemas.microsoft.com/office/drawing/2014/main" id="{71975892-B9AD-240F-545F-CD0E774E20DC}"/>
              </a:ext>
            </a:extLst>
          </p:cNvPr>
          <p:cNvSpPr/>
          <p:nvPr/>
        </p:nvSpPr>
        <p:spPr>
          <a:xfrm>
            <a:off x="961644" y="1371600"/>
            <a:ext cx="1463040" cy="274320"/>
          </a:xfrm>
          <a:prstGeom prst="rect">
            <a:avLst/>
          </a:prstGeom>
          <a:noFill/>
          <a:ln/>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1600" b="1" dirty="0">
                <a:solidFill>
                  <a:srgbClr val="111827"/>
                </a:solidFill>
                <a:latin typeface="Aptos" pitchFamily="34" charset="0"/>
                <a:ea typeface="Aptos" pitchFamily="34" charset="-122"/>
                <a:cs typeface="Aptos" pitchFamily="34" charset="-120"/>
              </a:rPr>
              <a:t>Physical idea</a:t>
            </a:r>
            <a:endParaRPr lang="en-US" sz="1600" dirty="0"/>
          </a:p>
        </p:txBody>
      </p:sp>
      <p:sp>
        <p:nvSpPr>
          <p:cNvPr id="21" name="Text 7">
            <a:extLst>
              <a:ext uri="{FF2B5EF4-FFF2-40B4-BE49-F238E27FC236}">
                <a16:creationId xmlns:a16="http://schemas.microsoft.com/office/drawing/2014/main" id="{E3C71171-2DE7-2F15-0B6B-C4E05AC0A110}"/>
              </a:ext>
            </a:extLst>
          </p:cNvPr>
          <p:cNvSpPr/>
          <p:nvPr/>
        </p:nvSpPr>
        <p:spPr>
          <a:xfrm>
            <a:off x="760476" y="1773936"/>
            <a:ext cx="2651760" cy="228600"/>
          </a:xfrm>
          <a:prstGeom prst="rect">
            <a:avLst/>
          </a:prstGeom>
          <a:noFill/>
          <a:ln/>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1100" dirty="0">
                <a:solidFill>
                  <a:srgbClr val="52647A"/>
                </a:solidFill>
                <a:latin typeface="Aptos" pitchFamily="34" charset="0"/>
                <a:ea typeface="Aptos" pitchFamily="34" charset="-122"/>
                <a:cs typeface="Aptos" pitchFamily="34" charset="-120"/>
              </a:rPr>
              <a:t>Bias defines a quantisation axis</a:t>
            </a:r>
            <a:endParaRPr lang="en-US" sz="1100" dirty="0"/>
          </a:p>
        </p:txBody>
      </p:sp>
      <p:sp>
        <p:nvSpPr>
          <p:cNvPr id="22" name="Text 8">
            <a:extLst>
              <a:ext uri="{FF2B5EF4-FFF2-40B4-BE49-F238E27FC236}">
                <a16:creationId xmlns:a16="http://schemas.microsoft.com/office/drawing/2014/main" id="{DDB008AC-891D-1BFD-8341-C6FC306F8DBB}"/>
              </a:ext>
            </a:extLst>
          </p:cNvPr>
          <p:cNvSpPr/>
          <p:nvPr/>
        </p:nvSpPr>
        <p:spPr>
          <a:xfrm>
            <a:off x="723900" y="2221992"/>
            <a:ext cx="914400" cy="502920"/>
          </a:xfrm>
          <a:prstGeom prst="rect">
            <a:avLst/>
          </a:prstGeom>
          <a:noFill/>
          <a:ln/>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dirty="0">
                <a:solidFill>
                  <a:srgbClr val="111827"/>
                </a:solidFill>
                <a:latin typeface="Aptos" pitchFamily="34" charset="0"/>
                <a:ea typeface="Aptos" pitchFamily="34" charset="-122"/>
                <a:cs typeface="Aptos" pitchFamily="34" charset="-120"/>
              </a:rPr>
              <a:t>incident</a:t>
            </a:r>
            <a:endParaRPr lang="en-US" sz="1000" dirty="0"/>
          </a:p>
          <a:p>
            <a:pPr marL="0" indent="0" algn="ctr">
              <a:buNone/>
            </a:pPr>
            <a:r>
              <a:rPr lang="en-US" sz="1000" dirty="0">
                <a:solidFill>
                  <a:srgbClr val="111827"/>
                </a:solidFill>
                <a:latin typeface="Aptos" pitchFamily="34" charset="0"/>
                <a:ea typeface="Aptos" pitchFamily="34" charset="-122"/>
                <a:cs typeface="Aptos" pitchFamily="34" charset="-120"/>
              </a:rPr>
              <a:t>microwave</a:t>
            </a:r>
            <a:endParaRPr lang="en-US" sz="1000" dirty="0"/>
          </a:p>
          <a:p>
            <a:pPr marL="0" indent="0" algn="ctr">
              <a:buNone/>
            </a:pPr>
            <a:r>
              <a:rPr lang="en-US" sz="1000" dirty="0">
                <a:solidFill>
                  <a:srgbClr val="111827"/>
                </a:solidFill>
                <a:latin typeface="Aptos" pitchFamily="34" charset="0"/>
                <a:ea typeface="Aptos" pitchFamily="34" charset="-122"/>
                <a:cs typeface="Aptos" pitchFamily="34" charset="-120"/>
              </a:rPr>
              <a:t>polarisation</a:t>
            </a:r>
            <a:endParaRPr lang="en-US" sz="1000" dirty="0"/>
          </a:p>
        </p:txBody>
      </p:sp>
      <p:sp>
        <p:nvSpPr>
          <p:cNvPr id="23" name="Text 9">
            <a:extLst>
              <a:ext uri="{FF2B5EF4-FFF2-40B4-BE49-F238E27FC236}">
                <a16:creationId xmlns:a16="http://schemas.microsoft.com/office/drawing/2014/main" id="{D8160271-96D6-3B3A-6A84-B0C8CA3AB4A6}"/>
              </a:ext>
            </a:extLst>
          </p:cNvPr>
          <p:cNvSpPr/>
          <p:nvPr/>
        </p:nvSpPr>
        <p:spPr>
          <a:xfrm>
            <a:off x="943356" y="2816352"/>
            <a:ext cx="365760" cy="182880"/>
          </a:xfrm>
          <a:prstGeom prst="rect">
            <a:avLst/>
          </a:prstGeom>
          <a:noFill/>
          <a:ln/>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C21875"/>
                </a:solidFill>
                <a:latin typeface="Aptos" pitchFamily="34" charset="0"/>
                <a:ea typeface="Aptos" pitchFamily="34" charset="-122"/>
                <a:cs typeface="Aptos" pitchFamily="34" charset="-120"/>
              </a:rPr>
              <a:t>R/L</a:t>
            </a:r>
            <a:endParaRPr lang="en-US" sz="1100" dirty="0"/>
          </a:p>
        </p:txBody>
      </p:sp>
      <p:sp>
        <p:nvSpPr>
          <p:cNvPr id="24" name="Shape 10">
            <a:extLst>
              <a:ext uri="{FF2B5EF4-FFF2-40B4-BE49-F238E27FC236}">
                <a16:creationId xmlns:a16="http://schemas.microsoft.com/office/drawing/2014/main" id="{E042C9AE-1408-0034-9994-B8857A6585DB}"/>
              </a:ext>
            </a:extLst>
          </p:cNvPr>
          <p:cNvSpPr/>
          <p:nvPr/>
        </p:nvSpPr>
        <p:spPr>
          <a:xfrm>
            <a:off x="1583436" y="2770632"/>
            <a:ext cx="384048" cy="0"/>
          </a:xfrm>
          <a:prstGeom prst="line">
            <a:avLst/>
          </a:prstGeom>
          <a:noFill/>
          <a:ln w="25400">
            <a:solidFill>
              <a:srgbClr val="9CA3AF"/>
            </a:solidFill>
            <a:prstDash val="solid"/>
            <a:headEnd type="none"/>
            <a:tailEnd type="triangle"/>
          </a:ln>
        </p:spPr>
        <p:txBody>
          <a:bodyPr/>
          <a:lstStyle/>
          <a:p>
            <a:endParaRPr lang="en-AU"/>
          </a:p>
        </p:txBody>
      </p:sp>
      <p:sp>
        <p:nvSpPr>
          <p:cNvPr id="25" name="Shape 11">
            <a:extLst>
              <a:ext uri="{FF2B5EF4-FFF2-40B4-BE49-F238E27FC236}">
                <a16:creationId xmlns:a16="http://schemas.microsoft.com/office/drawing/2014/main" id="{7D122920-D7D0-3768-6EF1-72BF4FFBBEF1}"/>
              </a:ext>
            </a:extLst>
          </p:cNvPr>
          <p:cNvSpPr/>
          <p:nvPr/>
        </p:nvSpPr>
        <p:spPr>
          <a:xfrm>
            <a:off x="2086356" y="2066544"/>
            <a:ext cx="777240" cy="1508760"/>
          </a:xfrm>
          <a:prstGeom prst="can">
            <a:avLst/>
          </a:prstGeom>
          <a:solidFill>
            <a:srgbClr val="E8F8FB"/>
          </a:solidFill>
          <a:ln w="15240">
            <a:solidFill>
              <a:srgbClr val="111827"/>
            </a:solidFill>
            <a:prstDash val="solid"/>
          </a:ln>
        </p:spPr>
        <p:txBody>
          <a:bodyPr/>
          <a:lstStyle/>
          <a:p>
            <a:endParaRPr lang="en-AU"/>
          </a:p>
        </p:txBody>
      </p:sp>
      <p:sp>
        <p:nvSpPr>
          <p:cNvPr id="26" name="Text 12">
            <a:extLst>
              <a:ext uri="{FF2B5EF4-FFF2-40B4-BE49-F238E27FC236}">
                <a16:creationId xmlns:a16="http://schemas.microsoft.com/office/drawing/2014/main" id="{BF85F2F8-95AB-D8B6-B906-C77D9C248A06}"/>
              </a:ext>
            </a:extLst>
          </p:cNvPr>
          <p:cNvSpPr/>
          <p:nvPr/>
        </p:nvSpPr>
        <p:spPr>
          <a:xfrm>
            <a:off x="2241804" y="2404872"/>
            <a:ext cx="457200" cy="320040"/>
          </a:xfrm>
          <a:prstGeom prst="rect">
            <a:avLst/>
          </a:prstGeom>
          <a:noFill/>
          <a:ln/>
        </p:spPr>
        <p:txBody>
          <a:bodyPr wrap="square" lIns="0" tIns="0" rIns="0" bIns="0" rtlCol="0" anchor="t">
            <a:normAutofit lnSpcReduction="100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111827"/>
                </a:solidFill>
                <a:latin typeface="Aptos" pitchFamily="34" charset="0"/>
                <a:ea typeface="Aptos" pitchFamily="34" charset="-122"/>
                <a:cs typeface="Aptos" pitchFamily="34" charset="-120"/>
              </a:rPr>
              <a:t>⁸⁷Rb</a:t>
            </a:r>
            <a:endParaRPr lang="en-US" sz="1100" dirty="0"/>
          </a:p>
          <a:p>
            <a:pPr marL="0" indent="0" algn="ctr">
              <a:buNone/>
            </a:pPr>
            <a:r>
              <a:rPr lang="en-US" sz="1100" b="1" dirty="0">
                <a:solidFill>
                  <a:srgbClr val="111827"/>
                </a:solidFill>
                <a:latin typeface="Aptos" pitchFamily="34" charset="0"/>
                <a:ea typeface="Aptos" pitchFamily="34" charset="-122"/>
                <a:cs typeface="Aptos" pitchFamily="34" charset="-120"/>
              </a:rPr>
              <a:t>cell</a:t>
            </a:r>
            <a:endParaRPr lang="en-US" sz="1100" dirty="0"/>
          </a:p>
        </p:txBody>
      </p:sp>
      <p:sp>
        <p:nvSpPr>
          <p:cNvPr id="27" name="Shape 13">
            <a:extLst>
              <a:ext uri="{FF2B5EF4-FFF2-40B4-BE49-F238E27FC236}">
                <a16:creationId xmlns:a16="http://schemas.microsoft.com/office/drawing/2014/main" id="{E470BE30-F5BD-E467-8468-B9CCF5477839}"/>
              </a:ext>
            </a:extLst>
          </p:cNvPr>
          <p:cNvSpPr/>
          <p:nvPr/>
        </p:nvSpPr>
        <p:spPr>
          <a:xfrm rot="5400000">
            <a:off x="2360676" y="3099816"/>
            <a:ext cx="228600" cy="566928"/>
          </a:xfrm>
          <a:prstGeom prst="upArrow">
            <a:avLst/>
          </a:prstGeom>
          <a:solidFill>
            <a:srgbClr val="0097A7"/>
          </a:solidFill>
          <a:ln w="12700">
            <a:solidFill>
              <a:srgbClr val="0097A7"/>
            </a:solidFill>
            <a:prstDash val="solid"/>
          </a:ln>
        </p:spPr>
        <p:txBody>
          <a:bodyPr/>
          <a:lstStyle/>
          <a:p>
            <a:endParaRPr lang="en-AU"/>
          </a:p>
        </p:txBody>
      </p:sp>
      <p:sp>
        <p:nvSpPr>
          <p:cNvPr id="28" name="Text 14">
            <a:extLst>
              <a:ext uri="{FF2B5EF4-FFF2-40B4-BE49-F238E27FC236}">
                <a16:creationId xmlns:a16="http://schemas.microsoft.com/office/drawing/2014/main" id="{9DE8355B-C3B3-4C61-019E-8399174FD56F}"/>
              </a:ext>
            </a:extLst>
          </p:cNvPr>
          <p:cNvSpPr/>
          <p:nvPr/>
        </p:nvSpPr>
        <p:spPr>
          <a:xfrm>
            <a:off x="2186940" y="3602736"/>
            <a:ext cx="594360" cy="182880"/>
          </a:xfrm>
          <a:prstGeom prst="rect">
            <a:avLst/>
          </a:prstGeom>
          <a:noFill/>
          <a:ln/>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0097A7"/>
                </a:solidFill>
                <a:latin typeface="Aptos" pitchFamily="34" charset="0"/>
                <a:ea typeface="Aptos" pitchFamily="34" charset="-122"/>
                <a:cs typeface="Aptos" pitchFamily="34" charset="-120"/>
              </a:rPr>
              <a:t>B₀ ∥ k</a:t>
            </a:r>
            <a:endParaRPr lang="en-US" sz="1100" dirty="0"/>
          </a:p>
        </p:txBody>
      </p:sp>
      <p:sp>
        <p:nvSpPr>
          <p:cNvPr id="29" name="Shape 15">
            <a:extLst>
              <a:ext uri="{FF2B5EF4-FFF2-40B4-BE49-F238E27FC236}">
                <a16:creationId xmlns:a16="http://schemas.microsoft.com/office/drawing/2014/main" id="{8D7C329F-0CD6-64D6-6435-967B77AE25C5}"/>
              </a:ext>
            </a:extLst>
          </p:cNvPr>
          <p:cNvSpPr/>
          <p:nvPr/>
        </p:nvSpPr>
        <p:spPr>
          <a:xfrm>
            <a:off x="2955036" y="2770632"/>
            <a:ext cx="384048" cy="0"/>
          </a:xfrm>
          <a:prstGeom prst="line">
            <a:avLst/>
          </a:prstGeom>
          <a:noFill/>
          <a:ln w="25400">
            <a:solidFill>
              <a:srgbClr val="9CA3AF"/>
            </a:solidFill>
            <a:prstDash val="solid"/>
            <a:headEnd type="none"/>
            <a:tailEnd type="triangle"/>
          </a:ln>
        </p:spPr>
        <p:txBody>
          <a:bodyPr/>
          <a:lstStyle/>
          <a:p>
            <a:endParaRPr lang="en-AU"/>
          </a:p>
        </p:txBody>
      </p:sp>
      <p:sp>
        <p:nvSpPr>
          <p:cNvPr id="30" name="Text 16">
            <a:extLst>
              <a:ext uri="{FF2B5EF4-FFF2-40B4-BE49-F238E27FC236}">
                <a16:creationId xmlns:a16="http://schemas.microsoft.com/office/drawing/2014/main" id="{94A7FEF6-D852-9CAD-3BD3-D164CCE4CC39}"/>
              </a:ext>
            </a:extLst>
          </p:cNvPr>
          <p:cNvSpPr/>
          <p:nvPr/>
        </p:nvSpPr>
        <p:spPr>
          <a:xfrm>
            <a:off x="3389376" y="2048256"/>
            <a:ext cx="438912" cy="182880"/>
          </a:xfrm>
          <a:prstGeom prst="rect">
            <a:avLst/>
          </a:prstGeom>
          <a:noFill/>
          <a:ln/>
        </p:spPr>
        <p:txBody>
          <a:bodyPr wrap="square" lIns="0" tIns="0" rIns="0" bIns="0" rtlCol="0" anchor="t">
            <a:normAutofit fontScale="92500" lnSpcReduction="200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500" b="1" dirty="0">
                <a:solidFill>
                  <a:srgbClr val="00A6C8"/>
                </a:solidFill>
                <a:latin typeface="Aptos" pitchFamily="34" charset="0"/>
                <a:ea typeface="Aptos" pitchFamily="34" charset="-122"/>
                <a:cs typeface="Aptos" pitchFamily="34" charset="-120"/>
              </a:rPr>
              <a:t>σ⁺</a:t>
            </a:r>
            <a:endParaRPr lang="en-US" sz="1500" dirty="0"/>
          </a:p>
        </p:txBody>
      </p:sp>
      <p:sp>
        <p:nvSpPr>
          <p:cNvPr id="31" name="Text 17">
            <a:extLst>
              <a:ext uri="{FF2B5EF4-FFF2-40B4-BE49-F238E27FC236}">
                <a16:creationId xmlns:a16="http://schemas.microsoft.com/office/drawing/2014/main" id="{259E8B79-BF44-A2A1-1DFE-5962AEA85C63}"/>
              </a:ext>
            </a:extLst>
          </p:cNvPr>
          <p:cNvSpPr/>
          <p:nvPr/>
        </p:nvSpPr>
        <p:spPr>
          <a:xfrm>
            <a:off x="3316224" y="2249424"/>
            <a:ext cx="594360" cy="146304"/>
          </a:xfrm>
          <a:prstGeom prst="rect">
            <a:avLst/>
          </a:prstGeom>
          <a:noFill/>
          <a:ln/>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00" dirty="0">
                <a:solidFill>
                  <a:srgbClr val="111827"/>
                </a:solidFill>
                <a:latin typeface="Aptos" pitchFamily="34" charset="0"/>
                <a:ea typeface="Aptos" pitchFamily="34" charset="-122"/>
                <a:cs typeface="Aptos" pitchFamily="34" charset="-120"/>
              </a:rPr>
              <a:t>Δm = +1</a:t>
            </a:r>
            <a:endParaRPr lang="en-US" sz="800" dirty="0"/>
          </a:p>
        </p:txBody>
      </p:sp>
      <p:sp>
        <p:nvSpPr>
          <p:cNvPr id="32" name="Text 18">
            <a:extLst>
              <a:ext uri="{FF2B5EF4-FFF2-40B4-BE49-F238E27FC236}">
                <a16:creationId xmlns:a16="http://schemas.microsoft.com/office/drawing/2014/main" id="{157D7D4B-21D4-E962-8CA7-56914CA3A8C1}"/>
              </a:ext>
            </a:extLst>
          </p:cNvPr>
          <p:cNvSpPr/>
          <p:nvPr/>
        </p:nvSpPr>
        <p:spPr>
          <a:xfrm>
            <a:off x="3389376" y="2596896"/>
            <a:ext cx="438912" cy="182880"/>
          </a:xfrm>
          <a:prstGeom prst="rect">
            <a:avLst/>
          </a:prstGeom>
          <a:noFill/>
          <a:ln/>
        </p:spPr>
        <p:txBody>
          <a:bodyPr wrap="square" lIns="0" tIns="0" rIns="0" bIns="0" rtlCol="0" anchor="t">
            <a:normAutofit fontScale="92500" lnSpcReduction="200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500" b="1" dirty="0">
                <a:solidFill>
                  <a:srgbClr val="00897B"/>
                </a:solidFill>
                <a:latin typeface="Aptos" pitchFamily="34" charset="0"/>
                <a:ea typeface="Aptos" pitchFamily="34" charset="-122"/>
                <a:cs typeface="Aptos" pitchFamily="34" charset="-120"/>
              </a:rPr>
              <a:t>π</a:t>
            </a:r>
            <a:endParaRPr lang="en-US" sz="1500" dirty="0"/>
          </a:p>
        </p:txBody>
      </p:sp>
      <p:sp>
        <p:nvSpPr>
          <p:cNvPr id="33" name="Text 19">
            <a:extLst>
              <a:ext uri="{FF2B5EF4-FFF2-40B4-BE49-F238E27FC236}">
                <a16:creationId xmlns:a16="http://schemas.microsoft.com/office/drawing/2014/main" id="{D1330166-DA1E-B1FD-9CDB-519514209838}"/>
              </a:ext>
            </a:extLst>
          </p:cNvPr>
          <p:cNvSpPr/>
          <p:nvPr/>
        </p:nvSpPr>
        <p:spPr>
          <a:xfrm>
            <a:off x="3316224" y="2798064"/>
            <a:ext cx="594360" cy="146304"/>
          </a:xfrm>
          <a:prstGeom prst="rect">
            <a:avLst/>
          </a:prstGeom>
          <a:noFill/>
          <a:ln/>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00" dirty="0">
                <a:solidFill>
                  <a:srgbClr val="111827"/>
                </a:solidFill>
                <a:latin typeface="Aptos" pitchFamily="34" charset="0"/>
                <a:ea typeface="Aptos" pitchFamily="34" charset="-122"/>
                <a:cs typeface="Aptos" pitchFamily="34" charset="-120"/>
              </a:rPr>
              <a:t>Δm = 0</a:t>
            </a:r>
            <a:endParaRPr lang="en-US" sz="800" dirty="0"/>
          </a:p>
        </p:txBody>
      </p:sp>
      <p:sp>
        <p:nvSpPr>
          <p:cNvPr id="34" name="Text 20">
            <a:extLst>
              <a:ext uri="{FF2B5EF4-FFF2-40B4-BE49-F238E27FC236}">
                <a16:creationId xmlns:a16="http://schemas.microsoft.com/office/drawing/2014/main" id="{57C2E9E9-F068-E72D-8845-7D03A038D22A}"/>
              </a:ext>
            </a:extLst>
          </p:cNvPr>
          <p:cNvSpPr/>
          <p:nvPr/>
        </p:nvSpPr>
        <p:spPr>
          <a:xfrm>
            <a:off x="3389376" y="3145536"/>
            <a:ext cx="438912" cy="182880"/>
          </a:xfrm>
          <a:prstGeom prst="rect">
            <a:avLst/>
          </a:prstGeom>
          <a:noFill/>
          <a:ln/>
        </p:spPr>
        <p:txBody>
          <a:bodyPr wrap="square" lIns="0" tIns="0" rIns="0" bIns="0" rtlCol="0" anchor="t">
            <a:normAutofit fontScale="92500" lnSpcReduction="200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500" b="1" dirty="0">
                <a:solidFill>
                  <a:srgbClr val="C21875"/>
                </a:solidFill>
                <a:latin typeface="Aptos" pitchFamily="34" charset="0"/>
                <a:ea typeface="Aptos" pitchFamily="34" charset="-122"/>
                <a:cs typeface="Aptos" pitchFamily="34" charset="-120"/>
              </a:rPr>
              <a:t>σ⁻</a:t>
            </a:r>
            <a:endParaRPr lang="en-US" sz="1500" dirty="0"/>
          </a:p>
        </p:txBody>
      </p:sp>
      <p:sp>
        <p:nvSpPr>
          <p:cNvPr id="35" name="Text 21">
            <a:extLst>
              <a:ext uri="{FF2B5EF4-FFF2-40B4-BE49-F238E27FC236}">
                <a16:creationId xmlns:a16="http://schemas.microsoft.com/office/drawing/2014/main" id="{51F76460-0229-90DB-76A4-1E8050F548AD}"/>
              </a:ext>
            </a:extLst>
          </p:cNvPr>
          <p:cNvSpPr/>
          <p:nvPr/>
        </p:nvSpPr>
        <p:spPr>
          <a:xfrm>
            <a:off x="3316224" y="3346704"/>
            <a:ext cx="594360" cy="146304"/>
          </a:xfrm>
          <a:prstGeom prst="rect">
            <a:avLst/>
          </a:prstGeom>
          <a:noFill/>
          <a:ln/>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00" dirty="0">
                <a:solidFill>
                  <a:srgbClr val="111827"/>
                </a:solidFill>
                <a:latin typeface="Aptos" pitchFamily="34" charset="0"/>
                <a:ea typeface="Aptos" pitchFamily="34" charset="-122"/>
                <a:cs typeface="Aptos" pitchFamily="34" charset="-120"/>
              </a:rPr>
              <a:t>Δm = −1</a:t>
            </a:r>
            <a:endParaRPr lang="en-US" sz="800" dirty="0"/>
          </a:p>
        </p:txBody>
      </p:sp>
      <p:sp>
        <p:nvSpPr>
          <p:cNvPr id="36" name="Shape 22">
            <a:extLst>
              <a:ext uri="{FF2B5EF4-FFF2-40B4-BE49-F238E27FC236}">
                <a16:creationId xmlns:a16="http://schemas.microsoft.com/office/drawing/2014/main" id="{2EFA548A-1C88-7D28-A556-51EF68BDD579}"/>
              </a:ext>
            </a:extLst>
          </p:cNvPr>
          <p:cNvSpPr/>
          <p:nvPr/>
        </p:nvSpPr>
        <p:spPr>
          <a:xfrm>
            <a:off x="669036" y="4233672"/>
            <a:ext cx="3273552" cy="841248"/>
          </a:xfrm>
          <a:prstGeom prst="roundRect">
            <a:avLst>
              <a:gd name="adj" fmla="val 6522"/>
            </a:avLst>
          </a:prstGeom>
          <a:solidFill>
            <a:srgbClr val="F0FAFB"/>
          </a:solidFill>
          <a:ln w="12700">
            <a:solidFill>
              <a:srgbClr val="D7DEE8"/>
            </a:solidFill>
            <a:prstDash val="solid"/>
          </a:ln>
        </p:spPr>
        <p:txBody>
          <a:bodyPr/>
          <a:lstStyle/>
          <a:p>
            <a:endParaRPr lang="en-AU"/>
          </a:p>
        </p:txBody>
      </p:sp>
      <p:sp>
        <p:nvSpPr>
          <p:cNvPr id="37" name="Text 23">
            <a:extLst>
              <a:ext uri="{FF2B5EF4-FFF2-40B4-BE49-F238E27FC236}">
                <a16:creationId xmlns:a16="http://schemas.microsoft.com/office/drawing/2014/main" id="{21E025B5-D5F5-2B6A-9703-BE1B583DA169}"/>
              </a:ext>
            </a:extLst>
          </p:cNvPr>
          <p:cNvSpPr/>
          <p:nvPr/>
        </p:nvSpPr>
        <p:spPr>
          <a:xfrm>
            <a:off x="870204" y="4416552"/>
            <a:ext cx="2852928" cy="438912"/>
          </a:xfrm>
          <a:prstGeom prst="rect">
            <a:avLst/>
          </a:prstGeom>
          <a:noFill/>
          <a:ln/>
        </p:spPr>
        <p:txBody>
          <a:bodyPr wrap="square" lIns="0" tIns="0" rIns="0" bIns="0" rtlCol="0" anchor="t">
            <a:normAutofit fontScale="92500" lnSpcReduction="200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sz="1200">
                <a:solidFill>
                  <a:srgbClr val="111827"/>
                </a:solidFill>
                <a:latin typeface="Aptos"/>
              </a:rPr>
              <a:t>With no bias, circular components can overlap. With stable bias, σ⁺ and σ⁻ can move to different atomic resonances.</a:t>
            </a:r>
            <a:endParaRPr lang="en-US" sz="1200" dirty="0"/>
          </a:p>
        </p:txBody>
      </p:sp>
      <p:sp>
        <p:nvSpPr>
          <p:cNvPr id="38" name="Shape 24">
            <a:extLst>
              <a:ext uri="{FF2B5EF4-FFF2-40B4-BE49-F238E27FC236}">
                <a16:creationId xmlns:a16="http://schemas.microsoft.com/office/drawing/2014/main" id="{2F682DC8-3A01-D651-1EC5-CED30F687287}"/>
              </a:ext>
            </a:extLst>
          </p:cNvPr>
          <p:cNvSpPr/>
          <p:nvPr/>
        </p:nvSpPr>
        <p:spPr>
          <a:xfrm>
            <a:off x="4344924" y="1243584"/>
            <a:ext cx="4242816" cy="2176272"/>
          </a:xfrm>
          <a:prstGeom prst="roundRect">
            <a:avLst>
              <a:gd name="adj" fmla="val 2521"/>
            </a:avLst>
          </a:prstGeom>
          <a:solidFill>
            <a:srgbClr val="FFFFFF"/>
          </a:solidFill>
          <a:ln w="12700">
            <a:solidFill>
              <a:srgbClr val="D7DEE8"/>
            </a:solidFill>
            <a:prstDash val="solid"/>
          </a:ln>
        </p:spPr>
        <p:txBody>
          <a:bodyPr/>
          <a:lstStyle/>
          <a:p>
            <a:endParaRPr lang="en-AU"/>
          </a:p>
        </p:txBody>
      </p:sp>
      <p:pic>
        <p:nvPicPr>
          <p:cNvPr id="39" name="Image 0">
            <a:extLst>
              <a:ext uri="{FF2B5EF4-FFF2-40B4-BE49-F238E27FC236}">
                <a16:creationId xmlns:a16="http://schemas.microsoft.com/office/drawing/2014/main" id="{52ABA861-EA3B-E0F2-A3D7-79AD021D0715}"/>
              </a:ext>
            </a:extLst>
          </p:cNvPr>
          <p:cNvPicPr>
            <a:picLocks noChangeAspect="1"/>
          </p:cNvPicPr>
          <p:nvPr/>
        </p:nvPicPr>
        <p:blipFill>
          <a:blip r:embed="rId3"/>
          <a:stretch>
            <a:fillRect/>
          </a:stretch>
        </p:blipFill>
        <p:spPr>
          <a:xfrm>
            <a:off x="4472940" y="1380744"/>
            <a:ext cx="3977640" cy="1901952"/>
          </a:xfrm>
          <a:prstGeom prst="rect">
            <a:avLst/>
          </a:prstGeom>
        </p:spPr>
      </p:pic>
      <p:sp>
        <p:nvSpPr>
          <p:cNvPr id="40" name="Shape 25">
            <a:extLst>
              <a:ext uri="{FF2B5EF4-FFF2-40B4-BE49-F238E27FC236}">
                <a16:creationId xmlns:a16="http://schemas.microsoft.com/office/drawing/2014/main" id="{B105DCC1-5E96-DBA7-3354-A9F347F86A43}"/>
              </a:ext>
            </a:extLst>
          </p:cNvPr>
          <p:cNvSpPr/>
          <p:nvPr/>
        </p:nvSpPr>
        <p:spPr>
          <a:xfrm>
            <a:off x="4344924" y="3547872"/>
            <a:ext cx="4242816" cy="2084832"/>
          </a:xfrm>
          <a:prstGeom prst="roundRect">
            <a:avLst>
              <a:gd name="adj" fmla="val 2632"/>
            </a:avLst>
          </a:prstGeom>
          <a:solidFill>
            <a:srgbClr val="FFFFFF"/>
          </a:solidFill>
          <a:ln w="12700">
            <a:solidFill>
              <a:srgbClr val="D7DEE8"/>
            </a:solidFill>
            <a:prstDash val="solid"/>
          </a:ln>
        </p:spPr>
        <p:txBody>
          <a:bodyPr/>
          <a:lstStyle/>
          <a:p>
            <a:endParaRPr lang="en-AU"/>
          </a:p>
        </p:txBody>
      </p:sp>
      <p:pic>
        <p:nvPicPr>
          <p:cNvPr id="41" name="Image 1">
            <a:extLst>
              <a:ext uri="{FF2B5EF4-FFF2-40B4-BE49-F238E27FC236}">
                <a16:creationId xmlns:a16="http://schemas.microsoft.com/office/drawing/2014/main" id="{7007F936-F38E-D06F-653F-DC02A0215B51}"/>
              </a:ext>
            </a:extLst>
          </p:cNvPr>
          <p:cNvPicPr>
            <a:picLocks noChangeAspect="1"/>
          </p:cNvPicPr>
          <p:nvPr/>
        </p:nvPicPr>
        <p:blipFill>
          <a:blip r:embed="rId4"/>
          <a:stretch>
            <a:fillRect/>
          </a:stretch>
        </p:blipFill>
        <p:spPr>
          <a:xfrm>
            <a:off x="4463796" y="3675888"/>
            <a:ext cx="3995928" cy="1828800"/>
          </a:xfrm>
          <a:prstGeom prst="rect">
            <a:avLst/>
          </a:prstGeom>
        </p:spPr>
      </p:pic>
      <p:sp>
        <p:nvSpPr>
          <p:cNvPr id="43" name="Shape 27">
            <a:extLst>
              <a:ext uri="{FF2B5EF4-FFF2-40B4-BE49-F238E27FC236}">
                <a16:creationId xmlns:a16="http://schemas.microsoft.com/office/drawing/2014/main" id="{FEF954F8-9A28-E83A-AFFC-2CF684D6F0DD}"/>
              </a:ext>
            </a:extLst>
          </p:cNvPr>
          <p:cNvSpPr/>
          <p:nvPr/>
        </p:nvSpPr>
        <p:spPr>
          <a:xfrm>
            <a:off x="8871204" y="1243584"/>
            <a:ext cx="2862072" cy="4389120"/>
          </a:xfrm>
          <a:prstGeom prst="roundRect">
            <a:avLst>
              <a:gd name="adj" fmla="val 1917"/>
            </a:avLst>
          </a:prstGeom>
          <a:solidFill>
            <a:srgbClr val="FFFFFF"/>
          </a:solidFill>
          <a:ln w="12700">
            <a:solidFill>
              <a:srgbClr val="D7DEE8"/>
            </a:solidFill>
            <a:prstDash val="solid"/>
          </a:ln>
        </p:spPr>
        <p:txBody>
          <a:bodyPr/>
          <a:lstStyle/>
          <a:p>
            <a:endParaRPr lang="en-AU"/>
          </a:p>
        </p:txBody>
      </p:sp>
      <p:sp>
        <p:nvSpPr>
          <p:cNvPr id="44" name="Text 28">
            <a:extLst>
              <a:ext uri="{FF2B5EF4-FFF2-40B4-BE49-F238E27FC236}">
                <a16:creationId xmlns:a16="http://schemas.microsoft.com/office/drawing/2014/main" id="{6ABB029D-73BB-B398-25B8-CBA810380725}"/>
              </a:ext>
            </a:extLst>
          </p:cNvPr>
          <p:cNvSpPr/>
          <p:nvPr/>
        </p:nvSpPr>
        <p:spPr>
          <a:xfrm>
            <a:off x="9154668" y="1536192"/>
            <a:ext cx="2194560" cy="256032"/>
          </a:xfrm>
          <a:prstGeom prst="rect">
            <a:avLst/>
          </a:prstGeom>
          <a:noFill/>
          <a:ln/>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1600" b="1" dirty="0">
                <a:solidFill>
                  <a:srgbClr val="111827"/>
                </a:solidFill>
                <a:latin typeface="Aptos" pitchFamily="34" charset="0"/>
                <a:ea typeface="Aptos" pitchFamily="34" charset="-122"/>
                <a:cs typeface="Aptos" pitchFamily="34" charset="-120"/>
              </a:rPr>
              <a:t>What the bias enables</a:t>
            </a:r>
            <a:endParaRPr lang="en-US" sz="1600" dirty="0"/>
          </a:p>
        </p:txBody>
      </p:sp>
      <p:sp>
        <p:nvSpPr>
          <p:cNvPr id="45" name="Shape 29">
            <a:extLst>
              <a:ext uri="{FF2B5EF4-FFF2-40B4-BE49-F238E27FC236}">
                <a16:creationId xmlns:a16="http://schemas.microsoft.com/office/drawing/2014/main" id="{B8C04BA5-527E-BB49-8C48-7463C4415364}"/>
              </a:ext>
            </a:extLst>
          </p:cNvPr>
          <p:cNvSpPr/>
          <p:nvPr/>
        </p:nvSpPr>
        <p:spPr>
          <a:xfrm>
            <a:off x="9154668" y="1883664"/>
            <a:ext cx="1965960" cy="32004"/>
          </a:xfrm>
          <a:prstGeom prst="rect">
            <a:avLst/>
          </a:prstGeom>
          <a:solidFill>
            <a:srgbClr val="C21875"/>
          </a:solidFill>
          <a:ln w="12700">
            <a:solidFill>
              <a:srgbClr val="C21875"/>
            </a:solidFill>
            <a:prstDash val="solid"/>
          </a:ln>
        </p:spPr>
        <p:txBody>
          <a:bodyPr/>
          <a:lstStyle/>
          <a:p>
            <a:endParaRPr lang="en-AU"/>
          </a:p>
        </p:txBody>
      </p:sp>
      <p:sp>
        <p:nvSpPr>
          <p:cNvPr id="46" name="Shape 30">
            <a:extLst>
              <a:ext uri="{FF2B5EF4-FFF2-40B4-BE49-F238E27FC236}">
                <a16:creationId xmlns:a16="http://schemas.microsoft.com/office/drawing/2014/main" id="{E89FF3D0-AFDC-4F01-B32C-051E22B9B15A}"/>
              </a:ext>
            </a:extLst>
          </p:cNvPr>
          <p:cNvSpPr/>
          <p:nvPr/>
        </p:nvSpPr>
        <p:spPr>
          <a:xfrm>
            <a:off x="9145524" y="2221992"/>
            <a:ext cx="310896" cy="310896"/>
          </a:xfrm>
          <a:prstGeom prst="ellipse">
            <a:avLst/>
          </a:prstGeom>
          <a:solidFill>
            <a:srgbClr val="C21875"/>
          </a:solidFill>
          <a:ln w="12700">
            <a:solidFill>
              <a:srgbClr val="C21875"/>
            </a:solidFill>
            <a:prstDash val="solid"/>
          </a:ln>
        </p:spPr>
        <p:txBody>
          <a:bodyPr/>
          <a:lstStyle/>
          <a:p>
            <a:endParaRPr lang="en-AU"/>
          </a:p>
        </p:txBody>
      </p:sp>
      <p:sp>
        <p:nvSpPr>
          <p:cNvPr id="47" name="Text 31">
            <a:extLst>
              <a:ext uri="{FF2B5EF4-FFF2-40B4-BE49-F238E27FC236}">
                <a16:creationId xmlns:a16="http://schemas.microsoft.com/office/drawing/2014/main" id="{44918484-CF15-F6CA-C1FA-5CAD840798F6}"/>
              </a:ext>
            </a:extLst>
          </p:cNvPr>
          <p:cNvSpPr/>
          <p:nvPr/>
        </p:nvSpPr>
        <p:spPr>
          <a:xfrm>
            <a:off x="9246108" y="2350008"/>
            <a:ext cx="109728" cy="109728"/>
          </a:xfrm>
          <a:prstGeom prst="rect">
            <a:avLst/>
          </a:prstGeom>
          <a:noFill/>
          <a:ln/>
        </p:spPr>
        <p:txBody>
          <a:bodyPr wrap="square" lIns="0" tIns="0" rIns="0" bIns="0" rtlCol="0" anchor="t">
            <a:normAutofit fontScale="70000" lnSpcReduction="200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48" name="Text 32">
            <a:extLst>
              <a:ext uri="{FF2B5EF4-FFF2-40B4-BE49-F238E27FC236}">
                <a16:creationId xmlns:a16="http://schemas.microsoft.com/office/drawing/2014/main" id="{CDAA25D9-BF22-5C1C-6B94-5B658A2758CD}"/>
              </a:ext>
            </a:extLst>
          </p:cNvPr>
          <p:cNvSpPr/>
          <p:nvPr/>
        </p:nvSpPr>
        <p:spPr>
          <a:xfrm>
            <a:off x="9557004" y="2203704"/>
            <a:ext cx="1847088" cy="658368"/>
          </a:xfrm>
          <a:prstGeom prst="rect">
            <a:avLst/>
          </a:prstGeom>
          <a:noFill/>
          <a:ln/>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1300" dirty="0">
                <a:solidFill>
                  <a:srgbClr val="111827"/>
                </a:solidFill>
                <a:latin typeface="Aptos" pitchFamily="34" charset="0"/>
                <a:ea typeface="Aptos" pitchFamily="34" charset="-122"/>
                <a:cs typeface="Aptos" pitchFamily="34" charset="-120"/>
              </a:rPr>
              <a:t>Defines a quantisation</a:t>
            </a:r>
            <a:endParaRPr lang="en-US" sz="1300" dirty="0"/>
          </a:p>
          <a:p>
            <a:pPr marL="0" indent="0" algn="l">
              <a:buNone/>
            </a:pPr>
            <a:r>
              <a:rPr lang="en-US" sz="1300" dirty="0">
                <a:solidFill>
                  <a:srgbClr val="111827"/>
                </a:solidFill>
                <a:latin typeface="Aptos" pitchFamily="34" charset="0"/>
                <a:ea typeface="Aptos" pitchFamily="34" charset="-122"/>
                <a:cs typeface="Aptos" pitchFamily="34" charset="-120"/>
              </a:rPr>
              <a:t>axis for the Rydberg</a:t>
            </a:r>
            <a:endParaRPr lang="en-US" sz="1300" dirty="0"/>
          </a:p>
          <a:p>
            <a:pPr marL="0" indent="0" algn="l">
              <a:buNone/>
            </a:pPr>
            <a:r>
              <a:rPr lang="en-US" sz="1300" dirty="0">
                <a:solidFill>
                  <a:srgbClr val="111827"/>
                </a:solidFill>
                <a:latin typeface="Aptos" pitchFamily="34" charset="0"/>
                <a:ea typeface="Aptos" pitchFamily="34" charset="-122"/>
                <a:cs typeface="Aptos" pitchFamily="34" charset="-120"/>
              </a:rPr>
              <a:t>transition</a:t>
            </a:r>
            <a:endParaRPr lang="en-US" sz="1300" dirty="0"/>
          </a:p>
        </p:txBody>
      </p:sp>
      <p:sp>
        <p:nvSpPr>
          <p:cNvPr id="49" name="Shape 33">
            <a:extLst>
              <a:ext uri="{FF2B5EF4-FFF2-40B4-BE49-F238E27FC236}">
                <a16:creationId xmlns:a16="http://schemas.microsoft.com/office/drawing/2014/main" id="{940A0151-323C-1D6B-17DB-934B45FC7320}"/>
              </a:ext>
            </a:extLst>
          </p:cNvPr>
          <p:cNvSpPr/>
          <p:nvPr/>
        </p:nvSpPr>
        <p:spPr>
          <a:xfrm>
            <a:off x="9127236" y="3026664"/>
            <a:ext cx="2286000" cy="0"/>
          </a:xfrm>
          <a:prstGeom prst="line">
            <a:avLst/>
          </a:prstGeom>
          <a:noFill/>
          <a:ln w="12700">
            <a:solidFill>
              <a:srgbClr val="D7DEE8"/>
            </a:solidFill>
            <a:prstDash val="solid"/>
          </a:ln>
        </p:spPr>
        <p:txBody>
          <a:bodyPr/>
          <a:lstStyle/>
          <a:p>
            <a:endParaRPr lang="en-AU"/>
          </a:p>
        </p:txBody>
      </p:sp>
      <p:sp>
        <p:nvSpPr>
          <p:cNvPr id="50" name="Shape 34">
            <a:extLst>
              <a:ext uri="{FF2B5EF4-FFF2-40B4-BE49-F238E27FC236}">
                <a16:creationId xmlns:a16="http://schemas.microsoft.com/office/drawing/2014/main" id="{0438C56E-C515-1FDE-CB82-56B38B800F5F}"/>
              </a:ext>
            </a:extLst>
          </p:cNvPr>
          <p:cNvSpPr/>
          <p:nvPr/>
        </p:nvSpPr>
        <p:spPr>
          <a:xfrm>
            <a:off x="9145524" y="3465576"/>
            <a:ext cx="310896" cy="310896"/>
          </a:xfrm>
          <a:prstGeom prst="ellipse">
            <a:avLst/>
          </a:prstGeom>
          <a:solidFill>
            <a:srgbClr val="C21875"/>
          </a:solidFill>
          <a:ln w="12700">
            <a:solidFill>
              <a:srgbClr val="C21875"/>
            </a:solidFill>
            <a:prstDash val="solid"/>
          </a:ln>
        </p:spPr>
        <p:txBody>
          <a:bodyPr/>
          <a:lstStyle/>
          <a:p>
            <a:endParaRPr lang="en-AU"/>
          </a:p>
        </p:txBody>
      </p:sp>
      <p:sp>
        <p:nvSpPr>
          <p:cNvPr id="51" name="Text 35">
            <a:extLst>
              <a:ext uri="{FF2B5EF4-FFF2-40B4-BE49-F238E27FC236}">
                <a16:creationId xmlns:a16="http://schemas.microsoft.com/office/drawing/2014/main" id="{40208F67-BE33-5933-88F4-4AE98B2E15DA}"/>
              </a:ext>
            </a:extLst>
          </p:cNvPr>
          <p:cNvSpPr/>
          <p:nvPr/>
        </p:nvSpPr>
        <p:spPr>
          <a:xfrm>
            <a:off x="9246108" y="3593592"/>
            <a:ext cx="109728" cy="109728"/>
          </a:xfrm>
          <a:prstGeom prst="rect">
            <a:avLst/>
          </a:prstGeom>
          <a:noFill/>
          <a:ln/>
        </p:spPr>
        <p:txBody>
          <a:bodyPr wrap="square" lIns="0" tIns="0" rIns="0" bIns="0" rtlCol="0" anchor="t">
            <a:normAutofit fontScale="70000" lnSpcReduction="200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52" name="Text 36">
            <a:extLst>
              <a:ext uri="{FF2B5EF4-FFF2-40B4-BE49-F238E27FC236}">
                <a16:creationId xmlns:a16="http://schemas.microsoft.com/office/drawing/2014/main" id="{9F3C5B8A-67FC-FF34-D16D-DD614210203E}"/>
              </a:ext>
            </a:extLst>
          </p:cNvPr>
          <p:cNvSpPr/>
          <p:nvPr/>
        </p:nvSpPr>
        <p:spPr>
          <a:xfrm>
            <a:off x="9557004" y="3447288"/>
            <a:ext cx="1847088" cy="658368"/>
          </a:xfrm>
          <a:prstGeom prst="rect">
            <a:avLst/>
          </a:prstGeom>
          <a:noFill/>
          <a:ln/>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sz="1300">
                <a:solidFill>
                  <a:srgbClr val="111827"/>
                </a:solidFill>
                <a:latin typeface="Aptos"/>
              </a:rPr>
              <a:t>Can separate σ⁺/σ⁻</a:t>
            </a:r>
            <a:endParaRPr lang="en-US" sz="1300" dirty="0"/>
          </a:p>
          <a:p>
            <a:pPr algn="l"/>
            <a:r>
              <a:rPr sz="1300">
                <a:solidFill>
                  <a:srgbClr val="111827"/>
                </a:solidFill>
                <a:latin typeface="Aptos"/>
              </a:rPr>
              <a:t>channels so R and L</a:t>
            </a:r>
          </a:p>
          <a:p>
            <a:pPr algn="l"/>
            <a:r>
              <a:rPr sz="1300">
                <a:solidFill>
                  <a:srgbClr val="111827"/>
                </a:solidFill>
                <a:latin typeface="Aptos"/>
              </a:rPr>
              <a:t>map to different spectra</a:t>
            </a:r>
          </a:p>
        </p:txBody>
      </p:sp>
      <p:sp>
        <p:nvSpPr>
          <p:cNvPr id="53" name="Shape 37">
            <a:extLst>
              <a:ext uri="{FF2B5EF4-FFF2-40B4-BE49-F238E27FC236}">
                <a16:creationId xmlns:a16="http://schemas.microsoft.com/office/drawing/2014/main" id="{D85157B4-D44D-C1AC-6DB2-39175B818E11}"/>
              </a:ext>
            </a:extLst>
          </p:cNvPr>
          <p:cNvSpPr/>
          <p:nvPr/>
        </p:nvSpPr>
        <p:spPr>
          <a:xfrm>
            <a:off x="9127236" y="4270248"/>
            <a:ext cx="2286000" cy="0"/>
          </a:xfrm>
          <a:prstGeom prst="line">
            <a:avLst/>
          </a:prstGeom>
          <a:noFill/>
          <a:ln w="12700">
            <a:solidFill>
              <a:srgbClr val="D7DEE8"/>
            </a:solidFill>
            <a:prstDash val="solid"/>
          </a:ln>
        </p:spPr>
        <p:txBody>
          <a:bodyPr/>
          <a:lstStyle/>
          <a:p>
            <a:endParaRPr lang="en-AU"/>
          </a:p>
        </p:txBody>
      </p:sp>
      <p:sp>
        <p:nvSpPr>
          <p:cNvPr id="54" name="Shape 38">
            <a:extLst>
              <a:ext uri="{FF2B5EF4-FFF2-40B4-BE49-F238E27FC236}">
                <a16:creationId xmlns:a16="http://schemas.microsoft.com/office/drawing/2014/main" id="{A2BD2911-5A31-B43C-A521-5A3957507E26}"/>
              </a:ext>
            </a:extLst>
          </p:cNvPr>
          <p:cNvSpPr/>
          <p:nvPr/>
        </p:nvSpPr>
        <p:spPr>
          <a:xfrm>
            <a:off x="9145524" y="4709160"/>
            <a:ext cx="310896" cy="310896"/>
          </a:xfrm>
          <a:prstGeom prst="ellipse">
            <a:avLst/>
          </a:prstGeom>
          <a:solidFill>
            <a:srgbClr val="C21875"/>
          </a:solidFill>
          <a:ln w="12700">
            <a:solidFill>
              <a:srgbClr val="C21875"/>
            </a:solidFill>
            <a:prstDash val="solid"/>
          </a:ln>
        </p:spPr>
        <p:txBody>
          <a:bodyPr/>
          <a:lstStyle/>
          <a:p>
            <a:endParaRPr lang="en-AU"/>
          </a:p>
        </p:txBody>
      </p:sp>
      <p:sp>
        <p:nvSpPr>
          <p:cNvPr id="55" name="Text 39">
            <a:extLst>
              <a:ext uri="{FF2B5EF4-FFF2-40B4-BE49-F238E27FC236}">
                <a16:creationId xmlns:a16="http://schemas.microsoft.com/office/drawing/2014/main" id="{103777ED-7E82-B882-1C92-7359AAF88A74}"/>
              </a:ext>
            </a:extLst>
          </p:cNvPr>
          <p:cNvSpPr/>
          <p:nvPr/>
        </p:nvSpPr>
        <p:spPr>
          <a:xfrm>
            <a:off x="9246108" y="4831081"/>
            <a:ext cx="109728" cy="109728"/>
          </a:xfrm>
          <a:prstGeom prst="rect">
            <a:avLst/>
          </a:prstGeom>
          <a:noFill/>
          <a:ln/>
        </p:spPr>
        <p:txBody>
          <a:bodyPr wrap="square" lIns="0" tIns="0" rIns="0" bIns="0" rtlCol="0" anchor="t">
            <a:normAutofit fontScale="70000" lnSpcReduction="200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mc:AlternateContent xmlns:mc="http://schemas.openxmlformats.org/markup-compatibility/2006" xmlns:a14="http://schemas.microsoft.com/office/drawing/2010/main">
        <mc:Choice Requires="a14">
          <p:sp>
            <p:nvSpPr>
              <p:cNvPr id="56" name="Text 40">
                <a:extLst>
                  <a:ext uri="{FF2B5EF4-FFF2-40B4-BE49-F238E27FC236}">
                    <a16:creationId xmlns:a16="http://schemas.microsoft.com/office/drawing/2014/main" id="{8D6CA0B5-46E8-EBE4-9A01-777DB5120A2D}"/>
                  </a:ext>
                </a:extLst>
              </p:cNvPr>
              <p:cNvSpPr/>
              <p:nvPr/>
            </p:nvSpPr>
            <p:spPr>
              <a:xfrm>
                <a:off x="9557004" y="4690872"/>
                <a:ext cx="1847088" cy="658368"/>
              </a:xfrm>
              <a:prstGeom prst="rect">
                <a:avLst/>
              </a:prstGeom>
              <a:noFill/>
              <a:ln/>
            </p:spPr>
            <p:txBody>
              <a:bodyPr wrap="square" lIns="0" tIns="0" rIns="0" bIns="0" rtlCol="0" anchor="t">
                <a:normAutofit fontScale="925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1400" dirty="0"/>
                  <a:t>Creates an </a:t>
                </a:r>
                <a14:m>
                  <m:oMath xmlns:m="http://schemas.openxmlformats.org/officeDocument/2006/math">
                    <m:sSub>
                      <m:sSubPr>
                        <m:ctrlPr>
                          <a:rPr lang="en-AU" i="1">
                            <a:latin typeface="Cambria Math" panose="02040503050406030204" pitchFamily="18" charset="0"/>
                          </a:rPr>
                        </m:ctrlPr>
                      </m:sSubPr>
                      <m:e>
                        <m:r>
                          <a:rPr lang="en-AU" i="1">
                            <a:latin typeface="Cambria Math" panose="02040503050406030204" pitchFamily="18" charset="0"/>
                          </a:rPr>
                          <m:t>𝑆</m:t>
                        </m:r>
                      </m:e>
                      <m:sub>
                        <m:r>
                          <a:rPr lang="en-AU">
                            <a:latin typeface="Cambria Math" panose="02040503050406030204" pitchFamily="18" charset="0"/>
                          </a:rPr>
                          <m:t>3</m:t>
                        </m:r>
                      </m:sub>
                    </m:sSub>
                  </m:oMath>
                </a14:m>
                <a:r>
                  <a:rPr lang="en-AU" sz="1400" dirty="0"/>
                  <a:t>-sensitive route for distinguishing R/L handedness</a:t>
                </a:r>
                <a:endParaRPr lang="en-US" sz="1300" dirty="0"/>
              </a:p>
            </p:txBody>
          </p:sp>
        </mc:Choice>
        <mc:Fallback xmlns="">
          <p:sp>
            <p:nvSpPr>
              <p:cNvPr id="56" name="Text 40">
                <a:extLst>
                  <a:ext uri="{FF2B5EF4-FFF2-40B4-BE49-F238E27FC236}">
                    <a16:creationId xmlns:a16="http://schemas.microsoft.com/office/drawing/2014/main" id="{8D6CA0B5-46E8-EBE4-9A01-777DB5120A2D}"/>
                  </a:ext>
                </a:extLst>
              </p:cNvPr>
              <p:cNvSpPr>
                <a:spLocks noRot="1" noChangeAspect="1" noMove="1" noResize="1" noEditPoints="1" noAdjustHandles="1" noChangeArrowheads="1" noChangeShapeType="1" noTextEdit="1"/>
              </p:cNvSpPr>
              <p:nvPr/>
            </p:nvSpPr>
            <p:spPr>
              <a:xfrm>
                <a:off x="9557004" y="4690872"/>
                <a:ext cx="1847088" cy="658368"/>
              </a:xfrm>
              <a:prstGeom prst="rect">
                <a:avLst/>
              </a:prstGeom>
              <a:blipFill>
                <a:blip r:embed="rId5"/>
                <a:stretch>
                  <a:fillRect l="-5611" b="-13889"/>
                </a:stretch>
              </a:blipFill>
              <a:ln/>
            </p:spPr>
            <p:txBody>
              <a:bodyPr/>
              <a:lstStyle/>
              <a:p>
                <a:r>
                  <a:rPr lang="en-AU">
                    <a:noFill/>
                  </a:rPr>
                  <a:t> </a:t>
                </a:r>
              </a:p>
            </p:txBody>
          </p:sp>
        </mc:Fallback>
      </mc:AlternateContent>
      <p:sp>
        <p:nvSpPr>
          <p:cNvPr id="57" name="Shape 41">
            <a:extLst>
              <a:ext uri="{FF2B5EF4-FFF2-40B4-BE49-F238E27FC236}">
                <a16:creationId xmlns:a16="http://schemas.microsoft.com/office/drawing/2014/main" id="{D384023A-BC89-9138-80D3-915CC0EF44B1}"/>
              </a:ext>
            </a:extLst>
          </p:cNvPr>
          <p:cNvSpPr/>
          <p:nvPr/>
        </p:nvSpPr>
        <p:spPr>
          <a:xfrm>
            <a:off x="462192" y="5870448"/>
            <a:ext cx="11292840" cy="566928"/>
          </a:xfrm>
          <a:prstGeom prst="roundRect">
            <a:avLst>
              <a:gd name="adj" fmla="val 9677"/>
            </a:avLst>
          </a:prstGeom>
          <a:solidFill>
            <a:srgbClr val="EEF9FB"/>
          </a:solidFill>
          <a:ln w="12700">
            <a:solidFill>
              <a:srgbClr val="BBDDE5"/>
            </a:solidFill>
            <a:prstDash val="solid"/>
          </a:ln>
        </p:spPr>
        <p:txBody>
          <a:bodyPr/>
          <a:lstStyle/>
          <a:p>
            <a:endParaRPr lang="en-AU"/>
          </a:p>
        </p:txBody>
      </p:sp>
      <p:sp>
        <p:nvSpPr>
          <p:cNvPr id="58" name="Shape 42">
            <a:extLst>
              <a:ext uri="{FF2B5EF4-FFF2-40B4-BE49-F238E27FC236}">
                <a16:creationId xmlns:a16="http://schemas.microsoft.com/office/drawing/2014/main" id="{769CC3C7-3F27-BA0E-0BF2-9B4B5DF2314E}"/>
              </a:ext>
            </a:extLst>
          </p:cNvPr>
          <p:cNvSpPr/>
          <p:nvPr/>
        </p:nvSpPr>
        <p:spPr>
          <a:xfrm>
            <a:off x="672504" y="5980176"/>
            <a:ext cx="310896" cy="310896"/>
          </a:xfrm>
          <a:prstGeom prst="ellipse">
            <a:avLst/>
          </a:prstGeom>
          <a:solidFill>
            <a:srgbClr val="0097A7"/>
          </a:solidFill>
          <a:ln w="12700">
            <a:solidFill>
              <a:srgbClr val="0097A7"/>
            </a:solidFill>
            <a:prstDash val="solid"/>
          </a:ln>
        </p:spPr>
        <p:txBody>
          <a:bodyPr/>
          <a:lstStyle/>
          <a:p>
            <a:endParaRPr lang="en-AU"/>
          </a:p>
        </p:txBody>
      </p:sp>
      <p:sp>
        <p:nvSpPr>
          <p:cNvPr id="59" name="Text 43">
            <a:extLst>
              <a:ext uri="{FF2B5EF4-FFF2-40B4-BE49-F238E27FC236}">
                <a16:creationId xmlns:a16="http://schemas.microsoft.com/office/drawing/2014/main" id="{1D382BE1-26FC-7973-4176-D6A25BD8328F}"/>
              </a:ext>
            </a:extLst>
          </p:cNvPr>
          <p:cNvSpPr/>
          <p:nvPr/>
        </p:nvSpPr>
        <p:spPr>
          <a:xfrm>
            <a:off x="681648" y="6046481"/>
            <a:ext cx="301752" cy="242309"/>
          </a:xfrm>
          <a:prstGeom prst="rect">
            <a:avLst/>
          </a:prstGeom>
          <a:noFill/>
          <a:ln/>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FFFFFF"/>
                </a:solidFill>
                <a:latin typeface="Aptos" pitchFamily="34" charset="0"/>
                <a:ea typeface="Aptos" pitchFamily="34" charset="-122"/>
                <a:cs typeface="Aptos" pitchFamily="34" charset="-120"/>
              </a:rPr>
              <a:t>!</a:t>
            </a:r>
            <a:endParaRPr lang="en-US" sz="1400" dirty="0"/>
          </a:p>
        </p:txBody>
      </p:sp>
      <p:sp>
        <p:nvSpPr>
          <p:cNvPr id="60" name="Text 44">
            <a:extLst>
              <a:ext uri="{FF2B5EF4-FFF2-40B4-BE49-F238E27FC236}">
                <a16:creationId xmlns:a16="http://schemas.microsoft.com/office/drawing/2014/main" id="{4EA6AC59-5A3D-3EC6-8565-0555A79185D4}"/>
              </a:ext>
            </a:extLst>
          </p:cNvPr>
          <p:cNvSpPr/>
          <p:nvPr/>
        </p:nvSpPr>
        <p:spPr>
          <a:xfrm>
            <a:off x="1083984" y="6076187"/>
            <a:ext cx="658368" cy="137160"/>
          </a:xfrm>
          <a:prstGeom prst="rect">
            <a:avLst/>
          </a:prstGeom>
          <a:noFill/>
          <a:ln/>
        </p:spPr>
        <p:txBody>
          <a:bodyPr wrap="square" lIns="0" tIns="0" rIns="0" bIns="0" rtlCol="0" anchor="t">
            <a:normAutofit fontScale="92500" lnSpcReduction="200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1100" b="1" dirty="0">
                <a:solidFill>
                  <a:srgbClr val="0097A7"/>
                </a:solidFill>
                <a:latin typeface="Aptos" pitchFamily="34" charset="0"/>
                <a:ea typeface="Aptos" pitchFamily="34" charset="-122"/>
                <a:cs typeface="Aptos" pitchFamily="34" charset="-120"/>
              </a:rPr>
              <a:t>Message:</a:t>
            </a:r>
            <a:endParaRPr lang="en-US" sz="1100" dirty="0"/>
          </a:p>
        </p:txBody>
      </p:sp>
      <p:sp>
        <p:nvSpPr>
          <p:cNvPr id="61" name="Text 45">
            <a:extLst>
              <a:ext uri="{FF2B5EF4-FFF2-40B4-BE49-F238E27FC236}">
                <a16:creationId xmlns:a16="http://schemas.microsoft.com/office/drawing/2014/main" id="{E9C5D71F-CDEB-475E-4798-ABEF81546910}"/>
              </a:ext>
            </a:extLst>
          </p:cNvPr>
          <p:cNvSpPr/>
          <p:nvPr/>
        </p:nvSpPr>
        <p:spPr>
          <a:xfrm>
            <a:off x="1788072" y="6076187"/>
            <a:ext cx="9418320" cy="146304"/>
          </a:xfrm>
          <a:prstGeom prst="rect">
            <a:avLst/>
          </a:prstGeom>
          <a:noFill/>
          <a:ln/>
        </p:spPr>
        <p:txBody>
          <a:bodyPr wrap="square" lIns="0" tIns="0" rIns="0" bIns="0" rtlCol="0" anchor="t">
            <a:normAutofit fontScale="85000" lnSpcReduction="200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sz="1300" b="1">
                <a:solidFill>
                  <a:srgbClr val="111827"/>
                </a:solidFill>
                <a:latin typeface="Aptos"/>
              </a:rPr>
              <a:t>magnetic biasing can turn circular microwave polarisation into measurable atomic spectral contrast when stability and calibration are sufficient.</a:t>
            </a:r>
            <a:endParaRPr lang="en-US" sz="1300" dirty="0"/>
          </a:p>
        </p:txBody>
      </p:sp>
      <p:sp>
        <p:nvSpPr>
          <p:cNvPr id="63" name="Rounded Rectangle 62"/>
          <p:cNvSpPr/>
          <p:nvPr/>
        </p:nvSpPr>
        <p:spPr>
          <a:xfrm>
            <a:off x="5532120" y="1280160"/>
            <a:ext cx="2487168" cy="310896"/>
          </a:xfrm>
          <a:prstGeom prst="roundRect">
            <a:avLst/>
          </a:prstGeom>
          <a:solidFill>
            <a:srgbClr val="FFF6E4"/>
          </a:solidFill>
          <a:ln w="11430">
            <a:solidFill>
              <a:srgbClr val="F0D79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5632704" y="1371600"/>
            <a:ext cx="2267712" cy="109728"/>
          </a:xfrm>
          <a:prstGeom prst="rect">
            <a:avLst/>
          </a:prstGeom>
          <a:noFill/>
        </p:spPr>
        <p:txBody>
          <a:bodyPr wrap="none" lIns="54864" tIns="27432" rIns="54864" bIns="27432">
            <a:spAutoFit/>
          </a:bodyPr>
          <a:lstStyle/>
          <a:p>
            <a:pPr algn="l">
              <a:lnSpc>
                <a:spcPct val="100000"/>
              </a:lnSpc>
              <a:defRPr sz="869" b="1">
                <a:solidFill>
                  <a:srgbClr val="172033"/>
                </a:solidFill>
                <a:latin typeface="Aptos"/>
              </a:defRPr>
            </a:pPr>
            <a:r>
              <a:t>Modelled mechanism — not experimental proof</a:t>
            </a: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F30A0-C375-913B-D6FD-F3F5CB9437D4}"/>
            </a:ext>
          </a:extLst>
        </p:cNvPr>
        <p:cNvGrpSpPr/>
        <p:nvPr/>
      </p:nvGrpSpPr>
      <p:grpSpPr>
        <a:xfrm>
          <a:off x="0" y="0"/>
          <a:ext cx="0" cy="0"/>
          <a:chOff x="0" y="0"/>
          <a:chExt cx="0" cy="0"/>
        </a:xfrm>
      </p:grpSpPr>
      <p:sp>
        <p:nvSpPr>
          <p:cNvPr id="12" name="Rectangle 11"/>
          <p:cNvSpPr/>
          <p:nvPr/>
        </p:nvSpPr>
        <p:spPr>
          <a:xfrm>
            <a:off x="0" y="0"/>
            <a:ext cx="12192000" cy="6858000"/>
          </a:xfrm>
          <a:prstGeom prst="rect">
            <a:avLst/>
          </a:prstGeom>
          <a:solidFill>
            <a:srgbClr val="F8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a:extLst>
              <a:ext uri="{FF2B5EF4-FFF2-40B4-BE49-F238E27FC236}">
                <a16:creationId xmlns:a16="http://schemas.microsoft.com/office/drawing/2014/main" id="{423BCD6E-2282-0878-282D-F5AD18D32311}"/>
              </a:ext>
            </a:extLst>
          </p:cNvPr>
          <p:cNvSpPr/>
          <p:nvPr/>
        </p:nvSpPr>
        <p:spPr>
          <a:xfrm>
            <a:off x="502920" y="256032"/>
            <a:ext cx="8046720" cy="347472"/>
          </a:xfrm>
          <a:prstGeom prst="rect">
            <a:avLst/>
          </a:prstGeom>
          <a:noFill/>
          <a:ln/>
        </p:spPr>
        <p:txBody>
          <a:bodyPr wrap="square" lIns="0" tIns="0" rIns="0" bIns="0" rtlCol="0" anchor="ctr"/>
          <a:lstStyle/>
          <a:p>
            <a:pPr marL="0" indent="0">
              <a:buNone/>
            </a:pPr>
            <a:r>
              <a:rPr lang="en-US" sz="2000" b="1" dirty="0">
                <a:solidFill>
                  <a:srgbClr val="111827"/>
                </a:solidFill>
                <a:latin typeface="Aptos Display" pitchFamily="34" charset="0"/>
                <a:ea typeface="Aptos Display" pitchFamily="34" charset="-122"/>
                <a:cs typeface="Aptos Display" pitchFamily="34" charset="-120"/>
              </a:rPr>
              <a:t>Backup: raw optical traces</a:t>
            </a:r>
            <a:endParaRPr lang="en-US" sz="2000" dirty="0"/>
          </a:p>
        </p:txBody>
      </p:sp>
      <p:sp>
        <p:nvSpPr>
          <p:cNvPr id="4" name="Shape 2">
            <a:extLst>
              <a:ext uri="{FF2B5EF4-FFF2-40B4-BE49-F238E27FC236}">
                <a16:creationId xmlns:a16="http://schemas.microsoft.com/office/drawing/2014/main" id="{AC140121-A479-9794-2258-1788CAB1D973}"/>
              </a:ext>
            </a:extLst>
          </p:cNvPr>
          <p:cNvSpPr/>
          <p:nvPr/>
        </p:nvSpPr>
        <p:spPr>
          <a:xfrm>
            <a:off x="502920" y="987552"/>
            <a:ext cx="2926080" cy="0"/>
          </a:xfrm>
          <a:prstGeom prst="line">
            <a:avLst/>
          </a:prstGeom>
          <a:noFill/>
          <a:ln w="25400">
            <a:solidFill>
              <a:srgbClr val="0EA5B7"/>
            </a:solidFill>
            <a:prstDash val="solid"/>
          </a:ln>
        </p:spPr>
        <p:txBody>
          <a:bodyPr/>
          <a:lstStyle/>
          <a:p>
            <a:endParaRPr lang="en-AU"/>
          </a:p>
        </p:txBody>
      </p:sp>
      <p:sp>
        <p:nvSpPr>
          <p:cNvPr id="5" name="Shape 3">
            <a:extLst>
              <a:ext uri="{FF2B5EF4-FFF2-40B4-BE49-F238E27FC236}">
                <a16:creationId xmlns:a16="http://schemas.microsoft.com/office/drawing/2014/main" id="{94C092AA-4475-D258-C649-400D40E26297}"/>
              </a:ext>
            </a:extLst>
          </p:cNvPr>
          <p:cNvSpPr/>
          <p:nvPr/>
        </p:nvSpPr>
        <p:spPr>
          <a:xfrm>
            <a:off x="457200" y="6547104"/>
            <a:ext cx="11247120" cy="0"/>
          </a:xfrm>
          <a:prstGeom prst="line">
            <a:avLst/>
          </a:prstGeom>
          <a:noFill/>
          <a:ln w="7620">
            <a:solidFill>
              <a:srgbClr val="E5E7EB"/>
            </a:solidFill>
            <a:prstDash val="solid"/>
          </a:ln>
        </p:spPr>
        <p:txBody>
          <a:bodyPr/>
          <a:lstStyle/>
          <a:p>
            <a:endParaRPr lang="en-AU"/>
          </a:p>
        </p:txBody>
      </p:sp>
      <p:sp>
        <p:nvSpPr>
          <p:cNvPr id="6" name="Text 4">
            <a:extLst>
              <a:ext uri="{FF2B5EF4-FFF2-40B4-BE49-F238E27FC236}">
                <a16:creationId xmlns:a16="http://schemas.microsoft.com/office/drawing/2014/main" id="{6327687B-32B4-0286-8C69-04A55E1AF4BC}"/>
              </a:ext>
            </a:extLst>
          </p:cNvPr>
          <p:cNvSpPr/>
          <p:nvPr/>
        </p:nvSpPr>
        <p:spPr>
          <a:xfrm>
            <a:off x="502920" y="6583680"/>
            <a:ext cx="5943600" cy="164592"/>
          </a:xfrm>
          <a:prstGeom prst="rect">
            <a:avLst/>
          </a:prstGeom>
          <a:noFill/>
          <a:ln/>
        </p:spPr>
        <p:txBody>
          <a:bodyPr wrap="square" lIns="0" tIns="0" rIns="0" bIns="0" rtlCol="0" anchor="ctr"/>
          <a:lstStyle/>
          <a:p>
            <a:pPr marL="0" indent="0">
              <a:buNone/>
            </a:pPr>
            <a:r>
              <a:rPr lang="en-US" sz="660" dirty="0">
                <a:solidFill>
                  <a:srgbClr val="64748B"/>
                </a:solidFill>
                <a:latin typeface="Aptos" pitchFamily="34" charset="0"/>
                <a:ea typeface="Aptos" pitchFamily="34" charset="-122"/>
                <a:cs typeface="Aptos" pitchFamily="34" charset="-120"/>
              </a:rPr>
              <a:t>Rydberg sensing | SET HDR Conference</a:t>
            </a:r>
            <a:endParaRPr lang="en-US" sz="660" dirty="0"/>
          </a:p>
        </p:txBody>
      </p:sp>
      <p:sp>
        <p:nvSpPr>
          <p:cNvPr id="7" name="Text 5">
            <a:extLst>
              <a:ext uri="{FF2B5EF4-FFF2-40B4-BE49-F238E27FC236}">
                <a16:creationId xmlns:a16="http://schemas.microsoft.com/office/drawing/2014/main" id="{89C333A5-E5FE-8FF9-690A-1E2CCDDE52F6}"/>
              </a:ext>
            </a:extLst>
          </p:cNvPr>
          <p:cNvSpPr/>
          <p:nvPr/>
        </p:nvSpPr>
        <p:spPr>
          <a:xfrm>
            <a:off x="11292840" y="6583680"/>
            <a:ext cx="457200" cy="164592"/>
          </a:xfrm>
          <a:prstGeom prst="rect">
            <a:avLst/>
          </a:prstGeom>
          <a:noFill/>
          <a:ln/>
        </p:spPr>
        <p:txBody>
          <a:bodyPr wrap="square" lIns="0" tIns="0" rIns="0" bIns="0" rtlCol="0" anchor="ctr"/>
          <a:lstStyle/>
          <a:p>
            <a:pPr marL="0" indent="0" algn="r">
              <a:buNone/>
            </a:pPr>
            <a:r>
              <a:rPr lang="en-US" sz="660" dirty="0">
                <a:solidFill>
                  <a:srgbClr val="64748B"/>
                </a:solidFill>
                <a:latin typeface="Aptos" pitchFamily="34" charset="0"/>
                <a:ea typeface="Aptos" pitchFamily="34" charset="-122"/>
                <a:cs typeface="Aptos" pitchFamily="34" charset="-120"/>
              </a:rPr>
              <a:t>A1</a:t>
            </a:r>
            <a:endParaRPr lang="en-US" sz="660" dirty="0"/>
          </a:p>
        </p:txBody>
      </p:sp>
      <p:pic>
        <p:nvPicPr>
          <p:cNvPr id="11" name="Picture 10">
            <a:extLst>
              <a:ext uri="{FF2B5EF4-FFF2-40B4-BE49-F238E27FC236}">
                <a16:creationId xmlns:a16="http://schemas.microsoft.com/office/drawing/2014/main" id="{C8B14895-6994-904A-AA05-6AA64F5F4EC6}"/>
              </a:ext>
            </a:extLst>
          </p:cNvPr>
          <p:cNvPicPr>
            <a:picLocks noChangeAspect="1"/>
          </p:cNvPicPr>
          <p:nvPr/>
        </p:nvPicPr>
        <p:blipFill>
          <a:blip r:embed="rId3"/>
          <a:stretch>
            <a:fillRect/>
          </a:stretch>
        </p:blipFill>
        <p:spPr>
          <a:xfrm>
            <a:off x="2717449" y="1605455"/>
            <a:ext cx="6726621" cy="3647090"/>
          </a:xfrm>
          <a:prstGeom prst="rect">
            <a:avLst/>
          </a:prstGeom>
        </p:spPr>
      </p:pic>
    </p:spTree>
    <p:extLst>
      <p:ext uri="{BB962C8B-B14F-4D97-AF65-F5344CB8AC3E}">
        <p14:creationId xmlns:p14="http://schemas.microsoft.com/office/powerpoint/2010/main" val="2183044920"/>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10" name="Rectangle 9"/>
          <p:cNvSpPr/>
          <p:nvPr/>
        </p:nvSpPr>
        <p:spPr>
          <a:xfrm>
            <a:off x="0" y="0"/>
            <a:ext cx="12192000" cy="6858000"/>
          </a:xfrm>
          <a:prstGeom prst="rect">
            <a:avLst/>
          </a:prstGeom>
          <a:solidFill>
            <a:srgbClr val="F8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502920" y="256032"/>
            <a:ext cx="8046720" cy="347472"/>
          </a:xfrm>
          <a:prstGeom prst="rect">
            <a:avLst/>
          </a:prstGeom>
          <a:noFill/>
          <a:ln/>
        </p:spPr>
        <p:txBody>
          <a:bodyPr wrap="square" lIns="0" tIns="0" rIns="0" bIns="0" rtlCol="0" anchor="ctr"/>
          <a:lstStyle/>
          <a:p>
            <a:pPr marL="0" indent="0">
              <a:buNone/>
            </a:pPr>
            <a:r>
              <a:rPr lang="en-US" sz="2000" b="1" dirty="0">
                <a:solidFill>
                  <a:srgbClr val="111827"/>
                </a:solidFill>
                <a:latin typeface="Aptos Display" pitchFamily="34" charset="0"/>
                <a:ea typeface="Aptos Display" pitchFamily="34" charset="-122"/>
                <a:cs typeface="Aptos Display" pitchFamily="34" charset="-120"/>
              </a:rPr>
              <a:t>Backup: raw optical traces</a:t>
            </a:r>
            <a:endParaRPr lang="en-US" sz="2000" dirty="0"/>
          </a:p>
        </p:txBody>
      </p:sp>
      <p:sp>
        <p:nvSpPr>
          <p:cNvPr id="4" name="Shape 2"/>
          <p:cNvSpPr/>
          <p:nvPr/>
        </p:nvSpPr>
        <p:spPr>
          <a:xfrm>
            <a:off x="502920" y="987552"/>
            <a:ext cx="2926080" cy="0"/>
          </a:xfrm>
          <a:prstGeom prst="line">
            <a:avLst/>
          </a:prstGeom>
          <a:noFill/>
          <a:ln w="25400">
            <a:solidFill>
              <a:srgbClr val="0EA5B7"/>
            </a:solidFill>
            <a:prstDash val="solid"/>
          </a:ln>
        </p:spPr>
        <p:txBody>
          <a:bodyPr/>
          <a:lstStyle/>
          <a:p>
            <a:endParaRPr lang="en-AU"/>
          </a:p>
        </p:txBody>
      </p:sp>
      <p:sp>
        <p:nvSpPr>
          <p:cNvPr id="5" name="Shape 3"/>
          <p:cNvSpPr/>
          <p:nvPr/>
        </p:nvSpPr>
        <p:spPr>
          <a:xfrm>
            <a:off x="457200" y="6547104"/>
            <a:ext cx="11247120" cy="0"/>
          </a:xfrm>
          <a:prstGeom prst="line">
            <a:avLst/>
          </a:prstGeom>
          <a:noFill/>
          <a:ln w="7620">
            <a:solidFill>
              <a:srgbClr val="E5E7EB"/>
            </a:solidFill>
            <a:prstDash val="solid"/>
          </a:ln>
        </p:spPr>
        <p:txBody>
          <a:bodyPr/>
          <a:lstStyle/>
          <a:p>
            <a:endParaRPr lang="en-AU"/>
          </a:p>
        </p:txBody>
      </p:sp>
      <p:sp>
        <p:nvSpPr>
          <p:cNvPr id="6" name="Text 4"/>
          <p:cNvSpPr/>
          <p:nvPr/>
        </p:nvSpPr>
        <p:spPr>
          <a:xfrm>
            <a:off x="502920" y="6583680"/>
            <a:ext cx="5943600" cy="164592"/>
          </a:xfrm>
          <a:prstGeom prst="rect">
            <a:avLst/>
          </a:prstGeom>
          <a:noFill/>
          <a:ln/>
        </p:spPr>
        <p:txBody>
          <a:bodyPr wrap="square" lIns="0" tIns="0" rIns="0" bIns="0" rtlCol="0" anchor="ctr"/>
          <a:lstStyle/>
          <a:p>
            <a:pPr marL="0" indent="0">
              <a:buNone/>
            </a:pPr>
            <a:r>
              <a:rPr lang="en-US" sz="660" dirty="0">
                <a:solidFill>
                  <a:srgbClr val="64748B"/>
                </a:solidFill>
                <a:latin typeface="Aptos" pitchFamily="34" charset="0"/>
                <a:ea typeface="Aptos" pitchFamily="34" charset="-122"/>
                <a:cs typeface="Aptos" pitchFamily="34" charset="-120"/>
              </a:rPr>
              <a:t>Rydberg sensing | SET HDR Conference</a:t>
            </a:r>
            <a:endParaRPr lang="en-US" sz="660" dirty="0"/>
          </a:p>
        </p:txBody>
      </p:sp>
      <p:sp>
        <p:nvSpPr>
          <p:cNvPr id="7" name="Text 5"/>
          <p:cNvSpPr/>
          <p:nvPr/>
        </p:nvSpPr>
        <p:spPr>
          <a:xfrm>
            <a:off x="11292840" y="6583680"/>
            <a:ext cx="457200" cy="164592"/>
          </a:xfrm>
          <a:prstGeom prst="rect">
            <a:avLst/>
          </a:prstGeom>
          <a:noFill/>
          <a:ln/>
        </p:spPr>
        <p:txBody>
          <a:bodyPr wrap="square" lIns="0" tIns="0" rIns="0" bIns="0" rtlCol="0" anchor="ctr"/>
          <a:lstStyle/>
          <a:p>
            <a:pPr marL="0" indent="0" algn="r">
              <a:buNone/>
            </a:pPr>
            <a:r>
              <a:rPr lang="en-US" sz="660" dirty="0">
                <a:solidFill>
                  <a:srgbClr val="64748B"/>
                </a:solidFill>
                <a:latin typeface="Aptos" pitchFamily="34" charset="0"/>
                <a:ea typeface="Aptos" pitchFamily="34" charset="-122"/>
                <a:cs typeface="Aptos" pitchFamily="34" charset="-120"/>
              </a:rPr>
              <a:t>A1</a:t>
            </a:r>
            <a:endParaRPr lang="en-US" sz="660" dirty="0"/>
          </a:p>
        </p:txBody>
      </p:sp>
      <p:pic>
        <p:nvPicPr>
          <p:cNvPr id="8" name="Image 0" descr="/mnt/data/Rydberg_Figures_Verified_v3/PREVIEW_Fig2_EIT_theory_v3.png"/>
          <p:cNvPicPr>
            <a:picLocks noChangeAspect="1"/>
          </p:cNvPicPr>
          <p:nvPr/>
        </p:nvPicPr>
        <p:blipFill>
          <a:blip r:embed="rId3"/>
          <a:stretch>
            <a:fillRect/>
          </a:stretch>
        </p:blipFill>
        <p:spPr>
          <a:xfrm>
            <a:off x="594360" y="1249198"/>
            <a:ext cx="5257800" cy="3079444"/>
          </a:xfrm>
          <a:prstGeom prst="rect">
            <a:avLst/>
          </a:prstGeom>
        </p:spPr>
      </p:pic>
      <p:pic>
        <p:nvPicPr>
          <p:cNvPr id="9" name="Image 1" descr="/mnt/data/eit_stills_contact.png"/>
          <p:cNvPicPr>
            <a:picLocks noChangeAspect="1"/>
          </p:cNvPicPr>
          <p:nvPr/>
        </p:nvPicPr>
        <p:blipFill>
          <a:blip r:embed="rId4"/>
          <a:stretch>
            <a:fillRect/>
          </a:stretch>
        </p:blipFill>
        <p:spPr>
          <a:xfrm>
            <a:off x="6890825" y="1188720"/>
            <a:ext cx="3774831" cy="3200400"/>
          </a:xfrm>
          <a:prstGeom prst="rect">
            <a:avLst/>
          </a:prstGeom>
        </p:spPr>
      </p:pic>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15" name="Rectangle 14"/>
          <p:cNvSpPr/>
          <p:nvPr/>
        </p:nvSpPr>
        <p:spPr>
          <a:xfrm>
            <a:off x="0" y="0"/>
            <a:ext cx="12192000" cy="6858000"/>
          </a:xfrm>
          <a:prstGeom prst="rect">
            <a:avLst/>
          </a:prstGeom>
          <a:solidFill>
            <a:srgbClr val="F8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502920" y="256032"/>
            <a:ext cx="8046720" cy="347472"/>
          </a:xfrm>
          <a:prstGeom prst="rect">
            <a:avLst/>
          </a:prstGeom>
          <a:noFill/>
          <a:ln/>
        </p:spPr>
        <p:txBody>
          <a:bodyPr wrap="square" lIns="0" tIns="0" rIns="0" bIns="0" rtlCol="0" anchor="ctr"/>
          <a:lstStyle/>
          <a:p>
            <a:pPr marL="0" indent="0">
              <a:buNone/>
            </a:pPr>
            <a:r>
              <a:rPr lang="en-US" sz="2000" b="1" dirty="0">
                <a:solidFill>
                  <a:srgbClr val="111827"/>
                </a:solidFill>
                <a:latin typeface="Aptos Display" pitchFamily="34" charset="0"/>
                <a:ea typeface="Aptos Display" pitchFamily="34" charset="-122"/>
                <a:cs typeface="Aptos Display" pitchFamily="34" charset="-120"/>
              </a:rPr>
              <a:t>Backup: field-level calibration</a:t>
            </a:r>
            <a:endParaRPr lang="en-US" sz="2000" dirty="0"/>
          </a:p>
        </p:txBody>
      </p:sp>
      <p:sp>
        <p:nvSpPr>
          <p:cNvPr id="3" name="Text 1"/>
          <p:cNvSpPr/>
          <p:nvPr/>
        </p:nvSpPr>
        <p:spPr>
          <a:xfrm>
            <a:off x="512064" y="658368"/>
            <a:ext cx="8046720" cy="219456"/>
          </a:xfrm>
          <a:prstGeom prst="rect">
            <a:avLst/>
          </a:prstGeom>
          <a:noFill/>
          <a:ln/>
        </p:spPr>
        <p:txBody>
          <a:bodyPr wrap="square" lIns="0" tIns="0" rIns="0" bIns="0" rtlCol="0" anchor="ctr"/>
          <a:lstStyle/>
          <a:p>
            <a:pPr marL="0" indent="0">
              <a:buNone/>
            </a:pPr>
            <a:r>
              <a:rPr lang="en-US" sz="880" dirty="0">
                <a:solidFill>
                  <a:srgbClr val="64748B"/>
                </a:solidFill>
                <a:latin typeface="Aptos" pitchFamily="34" charset="0"/>
                <a:ea typeface="Aptos" pitchFamily="34" charset="-122"/>
                <a:cs typeface="Aptos" pitchFamily="34" charset="-120"/>
              </a:rPr>
              <a:t>Why source power is not the same as RF field at the atom</a:t>
            </a:r>
            <a:endParaRPr lang="en-US" sz="880" dirty="0"/>
          </a:p>
        </p:txBody>
      </p:sp>
      <p:sp>
        <p:nvSpPr>
          <p:cNvPr id="4" name="Shape 2"/>
          <p:cNvSpPr/>
          <p:nvPr/>
        </p:nvSpPr>
        <p:spPr>
          <a:xfrm>
            <a:off x="502920" y="987552"/>
            <a:ext cx="2926080" cy="0"/>
          </a:xfrm>
          <a:prstGeom prst="line">
            <a:avLst/>
          </a:prstGeom>
          <a:noFill/>
          <a:ln w="25400">
            <a:solidFill>
              <a:srgbClr val="0EA5B7"/>
            </a:solidFill>
            <a:prstDash val="solid"/>
          </a:ln>
        </p:spPr>
        <p:txBody>
          <a:bodyPr/>
          <a:lstStyle/>
          <a:p>
            <a:endParaRPr lang="en-AU"/>
          </a:p>
        </p:txBody>
      </p:sp>
      <p:sp>
        <p:nvSpPr>
          <p:cNvPr id="5" name="Shape 3"/>
          <p:cNvSpPr/>
          <p:nvPr/>
        </p:nvSpPr>
        <p:spPr>
          <a:xfrm>
            <a:off x="457200" y="6547104"/>
            <a:ext cx="11247120" cy="0"/>
          </a:xfrm>
          <a:prstGeom prst="line">
            <a:avLst/>
          </a:prstGeom>
          <a:noFill/>
          <a:ln w="7620">
            <a:solidFill>
              <a:srgbClr val="E5E7EB"/>
            </a:solidFill>
            <a:prstDash val="solid"/>
          </a:ln>
        </p:spPr>
        <p:txBody>
          <a:bodyPr/>
          <a:lstStyle/>
          <a:p>
            <a:endParaRPr lang="en-AU"/>
          </a:p>
        </p:txBody>
      </p:sp>
      <p:sp>
        <p:nvSpPr>
          <p:cNvPr id="6" name="Text 4"/>
          <p:cNvSpPr/>
          <p:nvPr/>
        </p:nvSpPr>
        <p:spPr>
          <a:xfrm>
            <a:off x="502920" y="6583680"/>
            <a:ext cx="5943600" cy="164592"/>
          </a:xfrm>
          <a:prstGeom prst="rect">
            <a:avLst/>
          </a:prstGeom>
          <a:noFill/>
          <a:ln/>
        </p:spPr>
        <p:txBody>
          <a:bodyPr wrap="square" lIns="0" tIns="0" rIns="0" bIns="0" rtlCol="0" anchor="ctr"/>
          <a:lstStyle/>
          <a:p>
            <a:pPr marL="0" indent="0">
              <a:buNone/>
            </a:pPr>
            <a:r>
              <a:rPr lang="en-US" sz="660" dirty="0">
                <a:solidFill>
                  <a:srgbClr val="64748B"/>
                </a:solidFill>
                <a:latin typeface="Aptos" pitchFamily="34" charset="0"/>
                <a:ea typeface="Aptos" pitchFamily="34" charset="-122"/>
                <a:cs typeface="Aptos" pitchFamily="34" charset="-120"/>
              </a:rPr>
              <a:t>Rydberg sensing | SET HDR Conference</a:t>
            </a:r>
            <a:endParaRPr lang="en-US" sz="660" dirty="0"/>
          </a:p>
        </p:txBody>
      </p:sp>
      <p:sp>
        <p:nvSpPr>
          <p:cNvPr id="7" name="Text 5"/>
          <p:cNvSpPr/>
          <p:nvPr/>
        </p:nvSpPr>
        <p:spPr>
          <a:xfrm>
            <a:off x="11292840" y="6583680"/>
            <a:ext cx="457200" cy="164592"/>
          </a:xfrm>
          <a:prstGeom prst="rect">
            <a:avLst/>
          </a:prstGeom>
          <a:noFill/>
          <a:ln/>
        </p:spPr>
        <p:txBody>
          <a:bodyPr wrap="square" lIns="0" tIns="0" rIns="0" bIns="0" rtlCol="0" anchor="ctr"/>
          <a:lstStyle/>
          <a:p>
            <a:pPr marL="0" indent="0" algn="r">
              <a:buNone/>
            </a:pPr>
            <a:r>
              <a:rPr lang="en-US" sz="660" dirty="0">
                <a:solidFill>
                  <a:srgbClr val="64748B"/>
                </a:solidFill>
                <a:latin typeface="Aptos" pitchFamily="34" charset="0"/>
                <a:ea typeface="Aptos" pitchFamily="34" charset="-122"/>
                <a:cs typeface="Aptos" pitchFamily="34" charset="-120"/>
              </a:rPr>
              <a:t>A2</a:t>
            </a:r>
            <a:endParaRPr lang="en-US" sz="660" dirty="0"/>
          </a:p>
        </p:txBody>
      </p:sp>
      <p:sp>
        <p:nvSpPr>
          <p:cNvPr id="8" name="Text 6"/>
          <p:cNvSpPr/>
          <p:nvPr/>
        </p:nvSpPr>
        <p:spPr>
          <a:xfrm>
            <a:off x="868680" y="1234440"/>
            <a:ext cx="3657600" cy="274320"/>
          </a:xfrm>
          <a:prstGeom prst="rect">
            <a:avLst/>
          </a:prstGeom>
          <a:noFill/>
          <a:ln/>
        </p:spPr>
        <p:txBody>
          <a:bodyPr wrap="square" lIns="0" tIns="0" rIns="0" bIns="0" rtlCol="0" anchor="ctr"/>
          <a:lstStyle/>
          <a:p>
            <a:pPr marL="0" indent="0">
              <a:buNone/>
            </a:pPr>
            <a:r>
              <a:rPr lang="en-US" sz="1600" b="1" dirty="0">
                <a:solidFill>
                  <a:srgbClr val="111827"/>
                </a:solidFill>
                <a:latin typeface="Aptos"/>
              </a:rPr>
              <a:t>What determines AT splitting?</a:t>
            </a:r>
            <a:endParaRPr lang="en-US" sz="1600" dirty="0"/>
          </a:p>
        </p:txBody>
      </p:sp>
      <p:sp>
        <p:nvSpPr>
          <p:cNvPr id="9" name="Text 7"/>
          <p:cNvSpPr/>
          <p:nvPr/>
        </p:nvSpPr>
        <p:spPr>
          <a:xfrm>
            <a:off x="960120" y="1828800"/>
            <a:ext cx="4114800" cy="411480"/>
          </a:xfrm>
          <a:prstGeom prst="rect">
            <a:avLst/>
          </a:prstGeom>
          <a:noFill/>
          <a:ln/>
        </p:spPr>
        <p:txBody>
          <a:bodyPr wrap="square" lIns="0" tIns="0" rIns="0" bIns="0" rtlCol="0" anchor="ctr"/>
          <a:lstStyle/>
          <a:p>
            <a:pPr marL="0" indent="0">
              <a:buNone/>
            </a:pPr>
            <a:r>
              <a:rPr lang="en-US" sz="2200" b="1" dirty="0">
                <a:solidFill>
                  <a:srgbClr val="C21873"/>
                </a:solidFill>
                <a:latin typeface="Aptos"/>
              </a:rPr>
              <a:t>ΔAT ∝ ΩRF = d·E / ℏ</a:t>
            </a:r>
            <a:endParaRPr lang="en-US" sz="2200" dirty="0"/>
          </a:p>
        </p:txBody>
      </p:sp>
      <p:sp>
        <p:nvSpPr>
          <p:cNvPr id="10" name="Text 8"/>
          <p:cNvSpPr/>
          <p:nvPr/>
        </p:nvSpPr>
        <p:spPr>
          <a:xfrm>
            <a:off x="5669280" y="1234440"/>
            <a:ext cx="3657600" cy="274320"/>
          </a:xfrm>
          <a:prstGeom prst="rect">
            <a:avLst/>
          </a:prstGeom>
          <a:noFill/>
          <a:ln/>
        </p:spPr>
        <p:txBody>
          <a:bodyPr wrap="square" lIns="0" tIns="0" rIns="0" bIns="0" rtlCol="0" anchor="ctr"/>
          <a:lstStyle/>
          <a:p>
            <a:pPr marL="0" indent="0">
              <a:buNone/>
            </a:pPr>
            <a:r>
              <a:rPr lang="en-US" sz="1600" b="1" dirty="0">
                <a:solidFill>
                  <a:srgbClr val="111827"/>
                </a:solidFill>
                <a:latin typeface="Aptos"/>
              </a:rPr>
              <a:t>Needed for exact prediction</a:t>
            </a:r>
            <a:endParaRPr lang="en-US" sz="1600" dirty="0"/>
          </a:p>
        </p:txBody>
      </p:sp>
      <p:sp>
        <p:nvSpPr>
          <p:cNvPr id="11" name="Text 9"/>
          <p:cNvSpPr/>
          <p:nvPr/>
        </p:nvSpPr>
        <p:spPr>
          <a:xfrm>
            <a:off x="5715000" y="1691640"/>
            <a:ext cx="5029200" cy="1691640"/>
          </a:xfrm>
          <a:prstGeom prst="rect">
            <a:avLst/>
          </a:prstGeom>
          <a:noFill/>
          <a:ln/>
        </p:spPr>
        <p:txBody>
          <a:bodyPr wrap="square" lIns="254" tIns="254" rIns="254" bIns="254" rtlCol="0" anchor="ctr">
            <a:normAutofit/>
          </a:bodyPr>
          <a:lstStyle/>
          <a:p>
            <a:r>
              <a:rPr lang="en-US" sz="1000" dirty="0">
                <a:solidFill>
                  <a:srgbClr val="0F172A"/>
                </a:solidFill>
                <a:latin typeface="Aptos"/>
              </a:rPr>
              <a:t>local electric field at cell, not generator display only</a:t>
            </a:r>
            <a:endParaRPr lang="en-US" sz="1000" dirty="0"/>
          </a:p>
          <a:p>
            <a:r>
              <a:rPr lang="en-US" sz="1000" dirty="0">
                <a:solidFill>
                  <a:srgbClr val="0F172A"/>
                </a:solidFill>
                <a:latin typeface="Aptos"/>
              </a:rPr>
              <a:t>antenna gain/losses and polariser insertion loss</a:t>
            </a:r>
            <a:endParaRPr lang="en-US" sz="1000" dirty="0"/>
          </a:p>
          <a:p>
            <a:r>
              <a:rPr lang="en-US" sz="1000" dirty="0">
                <a:solidFill>
                  <a:srgbClr val="0F172A"/>
                </a:solidFill>
                <a:latin typeface="Aptos"/>
              </a:rPr>
              <a:t>transition dipole matrix element</a:t>
            </a:r>
            <a:endParaRPr lang="en-US" sz="1000" dirty="0"/>
          </a:p>
          <a:p>
            <a:r>
              <a:rPr lang="en-US" sz="1000" dirty="0">
                <a:solidFill>
                  <a:srgbClr val="0F172A"/>
                </a:solidFill>
                <a:latin typeface="Aptos"/>
              </a:rPr>
              <a:t>beam waist and optical Rabi frequencies</a:t>
            </a:r>
            <a:endParaRPr lang="en-US" sz="1000" dirty="0"/>
          </a:p>
          <a:p>
            <a:r>
              <a:rPr lang="en-US" sz="1000" dirty="0">
                <a:solidFill>
                  <a:srgbClr val="0F172A"/>
                </a:solidFill>
                <a:latin typeface="Aptos"/>
              </a:rPr>
              <a:t>linewidth, Doppler and cell reflections</a:t>
            </a:r>
            <a:endParaRPr lang="en-US" sz="1000" dirty="0"/>
          </a:p>
        </p:txBody>
      </p:sp>
      <p:sp>
        <p:nvSpPr>
          <p:cNvPr id="12" name="Shape 10"/>
          <p:cNvSpPr/>
          <p:nvPr/>
        </p:nvSpPr>
        <p:spPr>
          <a:xfrm>
            <a:off x="960120" y="3794760"/>
            <a:ext cx="9692640" cy="713232"/>
          </a:xfrm>
          <a:prstGeom prst="rect">
            <a:avLst/>
          </a:prstGeom>
          <a:solidFill>
            <a:srgbClr val="FFFFFF"/>
          </a:solidFill>
          <a:ln w="17780">
            <a:solidFill>
              <a:srgbClr val="078B7E"/>
            </a:solidFill>
            <a:prstDash val="solid"/>
          </a:ln>
        </p:spPr>
        <p:txBody>
          <a:bodyPr/>
          <a:lstStyle/>
          <a:p>
            <a:endParaRPr lang="en-AU"/>
          </a:p>
        </p:txBody>
      </p:sp>
      <p:sp>
        <p:nvSpPr>
          <p:cNvPr id="13" name="Text 11"/>
          <p:cNvSpPr/>
          <p:nvPr/>
        </p:nvSpPr>
        <p:spPr>
          <a:xfrm>
            <a:off x="1106424" y="3922776"/>
            <a:ext cx="9400032" cy="256032"/>
          </a:xfrm>
          <a:prstGeom prst="rect">
            <a:avLst/>
          </a:prstGeom>
          <a:noFill/>
          <a:ln/>
        </p:spPr>
        <p:txBody>
          <a:bodyPr wrap="square" lIns="0" tIns="0" rIns="0" bIns="0" rtlCol="0" anchor="ctr"/>
          <a:lstStyle/>
          <a:p>
            <a:pPr marL="0" indent="0">
              <a:buNone/>
            </a:pPr>
            <a:r>
              <a:rPr lang="en-US" sz="900" b="1" dirty="0">
                <a:solidFill>
                  <a:srgbClr val="078B7E"/>
                </a:solidFill>
                <a:latin typeface="Aptos"/>
              </a:rPr>
              <a:t>Safe statement</a:t>
            </a:r>
            <a:endParaRPr lang="en-US" sz="900" dirty="0"/>
          </a:p>
        </p:txBody>
      </p:sp>
      <p:sp>
        <p:nvSpPr>
          <p:cNvPr id="14" name="Text 12"/>
          <p:cNvSpPr/>
          <p:nvPr/>
        </p:nvSpPr>
        <p:spPr>
          <a:xfrm>
            <a:off x="1106424" y="4233672"/>
            <a:ext cx="9400032" cy="182880"/>
          </a:xfrm>
          <a:prstGeom prst="rect">
            <a:avLst/>
          </a:prstGeom>
          <a:noFill/>
          <a:ln/>
        </p:spPr>
        <p:txBody>
          <a:bodyPr wrap="square" lIns="254" tIns="254" rIns="254" bIns="254" rtlCol="0" anchor="ctr">
            <a:normAutofit/>
          </a:bodyPr>
          <a:lstStyle/>
          <a:p>
            <a:pPr marL="0" indent="0">
              <a:buNone/>
            </a:pPr>
            <a:r>
              <a:rPr sz="810">
                <a:solidFill>
                  <a:srgbClr val="0F172A"/>
                </a:solidFill>
                <a:latin typeface="Aptos"/>
              </a:rPr>
              <a:t>Safe approach: simulate as a function of ΩRF, then calibrate ΩRF from measured Autler–Townes splitting rather than generator power alone.</a:t>
            </a:r>
            <a:endParaRPr lang="en-US" sz="810" dirty="0"/>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solidFill>
            <a:srgbClr val="F8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502920" y="256032"/>
            <a:ext cx="8046720" cy="347472"/>
          </a:xfrm>
          <a:prstGeom prst="rect">
            <a:avLst/>
          </a:prstGeom>
          <a:noFill/>
          <a:ln/>
        </p:spPr>
        <p:txBody>
          <a:bodyPr wrap="square" lIns="0" tIns="0" rIns="0" bIns="0" rtlCol="0" anchor="ctr"/>
          <a:lstStyle/>
          <a:p>
            <a:pPr marL="0" indent="0">
              <a:buNone/>
            </a:pPr>
            <a:r>
              <a:rPr lang="en-US" sz="2000" b="1" dirty="0">
                <a:solidFill>
                  <a:srgbClr val="111827"/>
                </a:solidFill>
                <a:latin typeface="Aptos Display" pitchFamily="34" charset="0"/>
                <a:ea typeface="Aptos Display" pitchFamily="34" charset="-122"/>
                <a:cs typeface="Aptos Display" pitchFamily="34" charset="-120"/>
              </a:rPr>
              <a:t>Backup: level/systematic screening</a:t>
            </a:r>
            <a:endParaRPr lang="en-US" sz="2000" dirty="0"/>
          </a:p>
        </p:txBody>
      </p:sp>
      <p:sp>
        <p:nvSpPr>
          <p:cNvPr id="3" name="Text 1"/>
          <p:cNvSpPr/>
          <p:nvPr/>
        </p:nvSpPr>
        <p:spPr>
          <a:xfrm>
            <a:off x="512064" y="658368"/>
            <a:ext cx="8046720" cy="219456"/>
          </a:xfrm>
          <a:prstGeom prst="rect">
            <a:avLst/>
          </a:prstGeom>
          <a:noFill/>
          <a:ln/>
        </p:spPr>
        <p:txBody>
          <a:bodyPr wrap="square" lIns="0" tIns="0" rIns="0" bIns="0" rtlCol="0" anchor="ctr"/>
          <a:lstStyle/>
          <a:p>
            <a:pPr marL="0" indent="0">
              <a:buNone/>
            </a:pPr>
            <a:r>
              <a:rPr lang="en-US" sz="880" dirty="0">
                <a:solidFill>
                  <a:srgbClr val="64748B"/>
                </a:solidFill>
                <a:latin typeface="Aptos" pitchFamily="34" charset="0"/>
                <a:ea typeface="Aptos" pitchFamily="34" charset="-122"/>
                <a:cs typeface="Aptos" pitchFamily="34" charset="-120"/>
              </a:rPr>
              <a:t>Transition choice and environment both matter at high n</a:t>
            </a:r>
            <a:endParaRPr lang="en-US" sz="880" dirty="0"/>
          </a:p>
        </p:txBody>
      </p:sp>
      <p:sp>
        <p:nvSpPr>
          <p:cNvPr id="4" name="Shape 2"/>
          <p:cNvSpPr/>
          <p:nvPr/>
        </p:nvSpPr>
        <p:spPr>
          <a:xfrm>
            <a:off x="502920" y="987552"/>
            <a:ext cx="2926080" cy="0"/>
          </a:xfrm>
          <a:prstGeom prst="line">
            <a:avLst/>
          </a:prstGeom>
          <a:noFill/>
          <a:ln w="25400">
            <a:solidFill>
              <a:srgbClr val="0EA5B7"/>
            </a:solidFill>
            <a:prstDash val="solid"/>
          </a:ln>
        </p:spPr>
        <p:txBody>
          <a:bodyPr/>
          <a:lstStyle/>
          <a:p>
            <a:endParaRPr lang="en-AU"/>
          </a:p>
        </p:txBody>
      </p:sp>
      <p:sp>
        <p:nvSpPr>
          <p:cNvPr id="5" name="Shape 3"/>
          <p:cNvSpPr/>
          <p:nvPr/>
        </p:nvSpPr>
        <p:spPr>
          <a:xfrm>
            <a:off x="457200" y="6547104"/>
            <a:ext cx="11247120" cy="0"/>
          </a:xfrm>
          <a:prstGeom prst="line">
            <a:avLst/>
          </a:prstGeom>
          <a:noFill/>
          <a:ln w="7620">
            <a:solidFill>
              <a:srgbClr val="E5E7EB"/>
            </a:solidFill>
            <a:prstDash val="solid"/>
          </a:ln>
        </p:spPr>
        <p:txBody>
          <a:bodyPr/>
          <a:lstStyle/>
          <a:p>
            <a:endParaRPr lang="en-AU"/>
          </a:p>
        </p:txBody>
      </p:sp>
      <p:sp>
        <p:nvSpPr>
          <p:cNvPr id="6" name="Text 4"/>
          <p:cNvSpPr/>
          <p:nvPr/>
        </p:nvSpPr>
        <p:spPr>
          <a:xfrm>
            <a:off x="502920" y="6583680"/>
            <a:ext cx="5943600" cy="164592"/>
          </a:xfrm>
          <a:prstGeom prst="rect">
            <a:avLst/>
          </a:prstGeom>
          <a:noFill/>
          <a:ln/>
        </p:spPr>
        <p:txBody>
          <a:bodyPr wrap="square" lIns="0" tIns="0" rIns="0" bIns="0" rtlCol="0" anchor="ctr"/>
          <a:lstStyle/>
          <a:p>
            <a:pPr marL="0" indent="0">
              <a:buNone/>
            </a:pPr>
            <a:r>
              <a:rPr lang="en-US" sz="660" dirty="0">
                <a:solidFill>
                  <a:srgbClr val="64748B"/>
                </a:solidFill>
                <a:latin typeface="Aptos" pitchFamily="34" charset="0"/>
                <a:ea typeface="Aptos" pitchFamily="34" charset="-122"/>
                <a:cs typeface="Aptos" pitchFamily="34" charset="-120"/>
              </a:rPr>
              <a:t>Rydberg sensing | SET HDR Conference</a:t>
            </a:r>
            <a:endParaRPr lang="en-US" sz="660" dirty="0"/>
          </a:p>
        </p:txBody>
      </p:sp>
      <p:sp>
        <p:nvSpPr>
          <p:cNvPr id="7" name="Text 5"/>
          <p:cNvSpPr/>
          <p:nvPr/>
        </p:nvSpPr>
        <p:spPr>
          <a:xfrm>
            <a:off x="11292840" y="6583680"/>
            <a:ext cx="457200" cy="164592"/>
          </a:xfrm>
          <a:prstGeom prst="rect">
            <a:avLst/>
          </a:prstGeom>
          <a:noFill/>
          <a:ln/>
        </p:spPr>
        <p:txBody>
          <a:bodyPr wrap="square" lIns="0" tIns="0" rIns="0" bIns="0" rtlCol="0" anchor="ctr"/>
          <a:lstStyle/>
          <a:p>
            <a:pPr marL="0" indent="0" algn="r">
              <a:buNone/>
            </a:pPr>
            <a:r>
              <a:rPr lang="en-US" sz="660" dirty="0">
                <a:solidFill>
                  <a:srgbClr val="64748B"/>
                </a:solidFill>
                <a:latin typeface="Aptos" pitchFamily="34" charset="0"/>
                <a:ea typeface="Aptos" pitchFamily="34" charset="-122"/>
                <a:cs typeface="Aptos" pitchFamily="34" charset="-120"/>
              </a:rPr>
              <a:t>A3</a:t>
            </a:r>
            <a:endParaRPr lang="en-US" sz="660" dirty="0"/>
          </a:p>
        </p:txBody>
      </p:sp>
      <p:pic>
        <p:nvPicPr>
          <p:cNvPr id="8" name="Image 0" descr="/mnt/data/deck_v4_assets/transition_screen_18GHz.png"/>
          <p:cNvPicPr>
            <a:picLocks noChangeAspect="1"/>
          </p:cNvPicPr>
          <p:nvPr/>
        </p:nvPicPr>
        <p:blipFill>
          <a:blip r:embed="rId3"/>
          <a:stretch>
            <a:fillRect/>
          </a:stretch>
        </p:blipFill>
        <p:spPr>
          <a:xfrm>
            <a:off x="594360" y="1240536"/>
            <a:ext cx="5669280" cy="2456688"/>
          </a:xfrm>
          <a:prstGeom prst="rect">
            <a:avLst/>
          </a:prstGeom>
        </p:spPr>
      </p:pic>
      <p:pic>
        <p:nvPicPr>
          <p:cNvPr id="9" name="Image 1" descr="/mnt/data/deck_v4_assets/stark_systematic_check.png"/>
          <p:cNvPicPr>
            <a:picLocks noChangeAspect="1"/>
          </p:cNvPicPr>
          <p:nvPr/>
        </p:nvPicPr>
        <p:blipFill>
          <a:blip r:embed="rId4"/>
          <a:stretch>
            <a:fillRect/>
          </a:stretch>
        </p:blipFill>
        <p:spPr>
          <a:xfrm>
            <a:off x="6807200" y="1143000"/>
            <a:ext cx="4124960" cy="2651760"/>
          </a:xfrm>
          <a:prstGeom prst="rect">
            <a:avLst/>
          </a:prstGeom>
        </p:spPr>
      </p:pic>
      <p:sp>
        <p:nvSpPr>
          <p:cNvPr id="10" name="Shape 6"/>
          <p:cNvSpPr/>
          <p:nvPr/>
        </p:nvSpPr>
        <p:spPr>
          <a:xfrm>
            <a:off x="868680" y="4251960"/>
            <a:ext cx="4846320" cy="749808"/>
          </a:xfrm>
          <a:prstGeom prst="rect">
            <a:avLst/>
          </a:prstGeom>
          <a:solidFill>
            <a:srgbClr val="FFFFFF"/>
          </a:solidFill>
          <a:ln w="17780">
            <a:solidFill>
              <a:srgbClr val="0EA5B7"/>
            </a:solidFill>
            <a:prstDash val="solid"/>
          </a:ln>
        </p:spPr>
        <p:txBody>
          <a:bodyPr/>
          <a:lstStyle/>
          <a:p>
            <a:endParaRPr lang="en-AU"/>
          </a:p>
        </p:txBody>
      </p:sp>
      <p:sp>
        <p:nvSpPr>
          <p:cNvPr id="11" name="Text 7"/>
          <p:cNvSpPr/>
          <p:nvPr/>
        </p:nvSpPr>
        <p:spPr>
          <a:xfrm>
            <a:off x="1014984" y="4379976"/>
            <a:ext cx="4553712" cy="256032"/>
          </a:xfrm>
          <a:prstGeom prst="rect">
            <a:avLst/>
          </a:prstGeom>
          <a:noFill/>
          <a:ln/>
        </p:spPr>
        <p:txBody>
          <a:bodyPr wrap="square" lIns="0" tIns="0" rIns="0" bIns="0" rtlCol="0" anchor="ctr"/>
          <a:lstStyle/>
          <a:p>
            <a:pPr marL="0" indent="0">
              <a:buNone/>
            </a:pPr>
            <a:r>
              <a:rPr lang="en-US" sz="900" b="1" dirty="0">
                <a:solidFill>
                  <a:srgbClr val="0EA5B7"/>
                </a:solidFill>
                <a:latin typeface="Aptos"/>
              </a:rPr>
              <a:t>Transition screen</a:t>
            </a:r>
            <a:endParaRPr lang="en-US" sz="900" dirty="0"/>
          </a:p>
        </p:txBody>
      </p:sp>
      <p:sp>
        <p:nvSpPr>
          <p:cNvPr id="12" name="Text 8"/>
          <p:cNvSpPr/>
          <p:nvPr/>
        </p:nvSpPr>
        <p:spPr>
          <a:xfrm>
            <a:off x="1014984" y="4690872"/>
            <a:ext cx="4553712" cy="219456"/>
          </a:xfrm>
          <a:prstGeom prst="rect">
            <a:avLst/>
          </a:prstGeom>
          <a:noFill/>
          <a:ln/>
        </p:spPr>
        <p:txBody>
          <a:bodyPr wrap="square" lIns="254" tIns="254" rIns="254" bIns="254" rtlCol="0" anchor="ctr">
            <a:normAutofit fontScale="92500"/>
          </a:bodyPr>
          <a:lstStyle/>
          <a:p>
            <a:pPr marL="0" indent="0">
              <a:buNone/>
            </a:pPr>
            <a:r>
              <a:rPr sz="810">
                <a:solidFill>
                  <a:srgbClr val="0F172A"/>
                </a:solidFill>
                <a:latin typeface="Aptos"/>
              </a:rPr>
              <a:t>The 1–2 GHz band points to high-n candidates; final assignment requires wavemeter-verified optical tuning and observed EIT/AT calibration.</a:t>
            </a:r>
            <a:endParaRPr lang="en-US" sz="810" dirty="0"/>
          </a:p>
        </p:txBody>
      </p:sp>
      <p:sp>
        <p:nvSpPr>
          <p:cNvPr id="13" name="Shape 9"/>
          <p:cNvSpPr/>
          <p:nvPr/>
        </p:nvSpPr>
        <p:spPr>
          <a:xfrm>
            <a:off x="6263640" y="4251960"/>
            <a:ext cx="4846320" cy="749808"/>
          </a:xfrm>
          <a:prstGeom prst="rect">
            <a:avLst/>
          </a:prstGeom>
          <a:solidFill>
            <a:srgbClr val="FFFFFF"/>
          </a:solidFill>
          <a:ln w="17780">
            <a:solidFill>
              <a:srgbClr val="C21873"/>
            </a:solidFill>
            <a:prstDash val="solid"/>
          </a:ln>
        </p:spPr>
        <p:txBody>
          <a:bodyPr/>
          <a:lstStyle/>
          <a:p>
            <a:endParaRPr lang="en-AU"/>
          </a:p>
        </p:txBody>
      </p:sp>
      <p:sp>
        <p:nvSpPr>
          <p:cNvPr id="14" name="Text 10"/>
          <p:cNvSpPr/>
          <p:nvPr/>
        </p:nvSpPr>
        <p:spPr>
          <a:xfrm>
            <a:off x="6409944" y="4379976"/>
            <a:ext cx="4553712" cy="256032"/>
          </a:xfrm>
          <a:prstGeom prst="rect">
            <a:avLst/>
          </a:prstGeom>
          <a:noFill/>
          <a:ln/>
        </p:spPr>
        <p:txBody>
          <a:bodyPr wrap="square" lIns="0" tIns="0" rIns="0" bIns="0" rtlCol="0" anchor="ctr"/>
          <a:lstStyle/>
          <a:p>
            <a:pPr marL="0" indent="0">
              <a:buNone/>
            </a:pPr>
            <a:r>
              <a:rPr lang="en-US" sz="900" b="1" dirty="0">
                <a:solidFill>
                  <a:srgbClr val="C21873"/>
                </a:solidFill>
                <a:latin typeface="Aptos"/>
              </a:rPr>
              <a:t>Stark screen</a:t>
            </a:r>
            <a:endParaRPr lang="en-US" sz="900" dirty="0"/>
          </a:p>
        </p:txBody>
      </p:sp>
      <p:sp>
        <p:nvSpPr>
          <p:cNvPr id="15" name="Text 11"/>
          <p:cNvSpPr/>
          <p:nvPr/>
        </p:nvSpPr>
        <p:spPr>
          <a:xfrm>
            <a:off x="6409944" y="4690872"/>
            <a:ext cx="4553712" cy="219456"/>
          </a:xfrm>
          <a:prstGeom prst="rect">
            <a:avLst/>
          </a:prstGeom>
          <a:noFill/>
          <a:ln/>
        </p:spPr>
        <p:txBody>
          <a:bodyPr wrap="square" lIns="254" tIns="254" rIns="254" bIns="254" rtlCol="0" anchor="ctr">
            <a:normAutofit fontScale="92500"/>
          </a:bodyPr>
          <a:lstStyle/>
          <a:p>
            <a:pPr marL="0" indent="0">
              <a:buNone/>
            </a:pPr>
            <a:r>
              <a:rPr sz="810">
                <a:solidFill>
                  <a:srgbClr val="0F172A"/>
                </a:solidFill>
                <a:latin typeface="Aptos"/>
              </a:rPr>
              <a:t>High-n states are sensitive to stray static fields; Stark-map checks are useful for deployment and reflector/metasurface environments but are not the main novelty here.</a:t>
            </a:r>
            <a:endParaRPr lang="en-US" sz="810" dirty="0"/>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12" name="Rectangle 11"/>
          <p:cNvSpPr/>
          <p:nvPr/>
        </p:nvSpPr>
        <p:spPr>
          <a:xfrm>
            <a:off x="0" y="0"/>
            <a:ext cx="12192000" cy="6858000"/>
          </a:xfrm>
          <a:prstGeom prst="rect">
            <a:avLst/>
          </a:prstGeom>
          <a:solidFill>
            <a:srgbClr val="F8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502920" y="256032"/>
            <a:ext cx="8046720" cy="347472"/>
          </a:xfrm>
          <a:prstGeom prst="rect">
            <a:avLst/>
          </a:prstGeom>
          <a:noFill/>
          <a:ln/>
        </p:spPr>
        <p:txBody>
          <a:bodyPr wrap="square" lIns="0" tIns="0" rIns="0" bIns="0" rtlCol="0" anchor="ctr"/>
          <a:lstStyle/>
          <a:p>
            <a:pPr marL="0" indent="0">
              <a:buNone/>
            </a:pPr>
            <a:r>
              <a:rPr sz="2000" b="1">
                <a:solidFill>
                  <a:srgbClr val="111827"/>
                </a:solidFill>
                <a:latin typeface="Aptos Display"/>
              </a:rPr>
              <a:t>Backup: magnetic-bias mechanism</a:t>
            </a:r>
            <a:endParaRPr lang="en-US" sz="2000" dirty="0"/>
          </a:p>
        </p:txBody>
      </p:sp>
      <p:sp>
        <p:nvSpPr>
          <p:cNvPr id="3" name="Text 1"/>
          <p:cNvSpPr/>
          <p:nvPr/>
        </p:nvSpPr>
        <p:spPr>
          <a:xfrm>
            <a:off x="512064" y="658368"/>
            <a:ext cx="8046720" cy="219456"/>
          </a:xfrm>
          <a:prstGeom prst="rect">
            <a:avLst/>
          </a:prstGeom>
          <a:noFill/>
          <a:ln/>
        </p:spPr>
        <p:txBody>
          <a:bodyPr wrap="square" lIns="0" tIns="0" rIns="0" bIns="0" rtlCol="0" anchor="ctr"/>
          <a:lstStyle/>
          <a:p>
            <a:pPr marL="0" indent="0">
              <a:buNone/>
            </a:pPr>
            <a:r>
              <a:rPr sz="880">
                <a:solidFill>
                  <a:srgbClr val="64748B"/>
                </a:solidFill>
                <a:latin typeface="Aptos"/>
              </a:rPr>
              <a:t>Modelled channel separation, not full experimental proof</a:t>
            </a:r>
            <a:endParaRPr lang="en-US" sz="880" dirty="0"/>
          </a:p>
        </p:txBody>
      </p:sp>
      <p:sp>
        <p:nvSpPr>
          <p:cNvPr id="4" name="Shape 2"/>
          <p:cNvSpPr/>
          <p:nvPr/>
        </p:nvSpPr>
        <p:spPr>
          <a:xfrm>
            <a:off x="502920" y="987552"/>
            <a:ext cx="2926080" cy="0"/>
          </a:xfrm>
          <a:prstGeom prst="line">
            <a:avLst/>
          </a:prstGeom>
          <a:noFill/>
          <a:ln w="25400">
            <a:solidFill>
              <a:srgbClr val="0EA5B7"/>
            </a:solidFill>
            <a:prstDash val="solid"/>
          </a:ln>
        </p:spPr>
        <p:txBody>
          <a:bodyPr/>
          <a:lstStyle/>
          <a:p>
            <a:endParaRPr lang="en-AU"/>
          </a:p>
        </p:txBody>
      </p:sp>
      <p:sp>
        <p:nvSpPr>
          <p:cNvPr id="5" name="Shape 3"/>
          <p:cNvSpPr/>
          <p:nvPr/>
        </p:nvSpPr>
        <p:spPr>
          <a:xfrm>
            <a:off x="457200" y="6547104"/>
            <a:ext cx="11247120" cy="0"/>
          </a:xfrm>
          <a:prstGeom prst="line">
            <a:avLst/>
          </a:prstGeom>
          <a:noFill/>
          <a:ln w="7620">
            <a:solidFill>
              <a:srgbClr val="E5E7EB"/>
            </a:solidFill>
            <a:prstDash val="solid"/>
          </a:ln>
        </p:spPr>
        <p:txBody>
          <a:bodyPr/>
          <a:lstStyle/>
          <a:p>
            <a:endParaRPr lang="en-AU"/>
          </a:p>
        </p:txBody>
      </p:sp>
      <p:sp>
        <p:nvSpPr>
          <p:cNvPr id="6" name="Text 4"/>
          <p:cNvSpPr/>
          <p:nvPr/>
        </p:nvSpPr>
        <p:spPr>
          <a:xfrm>
            <a:off x="502920" y="6583680"/>
            <a:ext cx="5943600" cy="164592"/>
          </a:xfrm>
          <a:prstGeom prst="rect">
            <a:avLst/>
          </a:prstGeom>
          <a:noFill/>
          <a:ln/>
        </p:spPr>
        <p:txBody>
          <a:bodyPr wrap="square" lIns="0" tIns="0" rIns="0" bIns="0" rtlCol="0" anchor="ctr"/>
          <a:lstStyle/>
          <a:p>
            <a:pPr marL="0" indent="0">
              <a:buNone/>
            </a:pPr>
            <a:r>
              <a:rPr lang="en-US" sz="660" dirty="0">
                <a:solidFill>
                  <a:srgbClr val="64748B"/>
                </a:solidFill>
                <a:latin typeface="Aptos" pitchFamily="34" charset="0"/>
                <a:ea typeface="Aptos" pitchFamily="34" charset="-122"/>
                <a:cs typeface="Aptos" pitchFamily="34" charset="-120"/>
              </a:rPr>
              <a:t>Rydberg sensing | SET HDR Conference</a:t>
            </a:r>
            <a:endParaRPr lang="en-US" sz="660" dirty="0"/>
          </a:p>
        </p:txBody>
      </p:sp>
      <p:sp>
        <p:nvSpPr>
          <p:cNvPr id="7" name="Text 5"/>
          <p:cNvSpPr/>
          <p:nvPr/>
        </p:nvSpPr>
        <p:spPr>
          <a:xfrm>
            <a:off x="11292840" y="6583680"/>
            <a:ext cx="457200" cy="164592"/>
          </a:xfrm>
          <a:prstGeom prst="rect">
            <a:avLst/>
          </a:prstGeom>
          <a:noFill/>
          <a:ln/>
        </p:spPr>
        <p:txBody>
          <a:bodyPr wrap="square" lIns="0" tIns="0" rIns="0" bIns="0" rtlCol="0" anchor="ctr"/>
          <a:lstStyle/>
          <a:p>
            <a:pPr marL="0" indent="0" algn="r">
              <a:buNone/>
            </a:pPr>
            <a:r>
              <a:rPr lang="en-US" sz="660" dirty="0">
                <a:solidFill>
                  <a:srgbClr val="64748B"/>
                </a:solidFill>
                <a:latin typeface="Aptos" pitchFamily="34" charset="0"/>
                <a:ea typeface="Aptos" pitchFamily="34" charset="-122"/>
                <a:cs typeface="Aptos" pitchFamily="34" charset="-120"/>
              </a:rPr>
              <a:t>A4</a:t>
            </a:r>
            <a:endParaRPr lang="en-US" sz="660" dirty="0"/>
          </a:p>
        </p:txBody>
      </p:sp>
      <p:pic>
        <p:nvPicPr>
          <p:cNvPr id="8" name="Image 0" descr="/mnt/data/deck_v4_assets/zeeman_channel_shifts.png"/>
          <p:cNvPicPr>
            <a:picLocks noChangeAspect="1"/>
          </p:cNvPicPr>
          <p:nvPr/>
        </p:nvPicPr>
        <p:blipFill>
          <a:blip r:embed="rId3"/>
          <a:stretch>
            <a:fillRect/>
          </a:stretch>
        </p:blipFill>
        <p:spPr>
          <a:xfrm>
            <a:off x="1218304" y="1143000"/>
            <a:ext cx="5335793" cy="2926080"/>
          </a:xfrm>
          <a:prstGeom prst="rect">
            <a:avLst/>
          </a:prstGeom>
        </p:spPr>
      </p:pic>
      <p:sp>
        <p:nvSpPr>
          <p:cNvPr id="9" name="Shape 6"/>
          <p:cNvSpPr/>
          <p:nvPr/>
        </p:nvSpPr>
        <p:spPr>
          <a:xfrm>
            <a:off x="7315200" y="1325880"/>
            <a:ext cx="3840480" cy="777240"/>
          </a:xfrm>
          <a:prstGeom prst="rect">
            <a:avLst/>
          </a:prstGeom>
          <a:solidFill>
            <a:srgbClr val="FFFFFF"/>
          </a:solidFill>
          <a:ln w="17780">
            <a:solidFill>
              <a:srgbClr val="078B7E"/>
            </a:solidFill>
            <a:prstDash val="solid"/>
          </a:ln>
        </p:spPr>
        <p:txBody>
          <a:bodyPr/>
          <a:lstStyle/>
          <a:p>
            <a:endParaRPr lang="en-AU"/>
          </a:p>
        </p:txBody>
      </p:sp>
      <p:sp>
        <p:nvSpPr>
          <p:cNvPr id="10" name="Text 7"/>
          <p:cNvSpPr/>
          <p:nvPr/>
        </p:nvSpPr>
        <p:spPr>
          <a:xfrm>
            <a:off x="7461504" y="1453896"/>
            <a:ext cx="3547872" cy="256032"/>
          </a:xfrm>
          <a:prstGeom prst="rect">
            <a:avLst/>
          </a:prstGeom>
          <a:noFill/>
          <a:ln/>
        </p:spPr>
        <p:txBody>
          <a:bodyPr wrap="square" lIns="0" tIns="0" rIns="0" bIns="0" rtlCol="0" anchor="ctr"/>
          <a:lstStyle/>
          <a:p>
            <a:pPr marL="0" indent="0">
              <a:buNone/>
            </a:pPr>
            <a:r>
              <a:rPr lang="en-US" sz="900" b="1" dirty="0">
                <a:solidFill>
                  <a:srgbClr val="078B7E"/>
                </a:solidFill>
                <a:latin typeface="Aptos"/>
              </a:rPr>
              <a:t>Interpretation</a:t>
            </a:r>
            <a:endParaRPr lang="en-US" sz="900" dirty="0"/>
          </a:p>
        </p:txBody>
      </p:sp>
      <p:sp>
        <p:nvSpPr>
          <p:cNvPr id="11" name="Text 8"/>
          <p:cNvSpPr/>
          <p:nvPr/>
        </p:nvSpPr>
        <p:spPr>
          <a:xfrm>
            <a:off x="7461504" y="1764792"/>
            <a:ext cx="3547872" cy="246888"/>
          </a:xfrm>
          <a:prstGeom prst="rect">
            <a:avLst/>
          </a:prstGeom>
          <a:noFill/>
          <a:ln/>
        </p:spPr>
        <p:txBody>
          <a:bodyPr wrap="square" lIns="254" tIns="254" rIns="254" bIns="254" rtlCol="0" anchor="ctr">
            <a:normAutofit lnSpcReduction="10000"/>
          </a:bodyPr>
          <a:lstStyle/>
          <a:p>
            <a:pPr marL="0" indent="0">
              <a:buNone/>
            </a:pPr>
            <a:r>
              <a:rPr sz="810">
                <a:solidFill>
                  <a:srgbClr val="0F172A"/>
                </a:solidFill>
                <a:latin typeface="Aptos"/>
              </a:rPr>
              <a:t>A calibrated bias can define a quantisation axis and separate σ/π branches in principle; present data should be described conservatively.</a:t>
            </a:r>
            <a:endParaRPr lang="en-US" sz="810" dirty="0"/>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17" name="Rectangle 16"/>
          <p:cNvSpPr/>
          <p:nvPr/>
        </p:nvSpPr>
        <p:spPr>
          <a:xfrm>
            <a:off x="0" y="0"/>
            <a:ext cx="12192000" cy="6858000"/>
          </a:xfrm>
          <a:prstGeom prst="rect">
            <a:avLst/>
          </a:prstGeom>
          <a:solidFill>
            <a:srgbClr val="F8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502920" y="256032"/>
            <a:ext cx="8046720" cy="347472"/>
          </a:xfrm>
          <a:prstGeom prst="rect">
            <a:avLst/>
          </a:prstGeom>
          <a:noFill/>
          <a:ln/>
        </p:spPr>
        <p:txBody>
          <a:bodyPr wrap="square" lIns="0" tIns="0" rIns="0" bIns="0" rtlCol="0" anchor="ctr"/>
          <a:lstStyle/>
          <a:p>
            <a:pPr marL="0" indent="0">
              <a:buNone/>
            </a:pPr>
            <a:r>
              <a:rPr sz="2000" b="1">
                <a:solidFill>
                  <a:srgbClr val="111827"/>
                </a:solidFill>
                <a:latin typeface="Aptos Display"/>
              </a:rPr>
              <a:t>Backup: Stokes inversion convention</a:t>
            </a:r>
            <a:endParaRPr lang="en-US" sz="2000" dirty="0"/>
          </a:p>
        </p:txBody>
      </p:sp>
      <p:sp>
        <p:nvSpPr>
          <p:cNvPr id="3" name="Text 1"/>
          <p:cNvSpPr/>
          <p:nvPr/>
        </p:nvSpPr>
        <p:spPr>
          <a:xfrm>
            <a:off x="512064" y="658368"/>
            <a:ext cx="8046720" cy="219456"/>
          </a:xfrm>
          <a:prstGeom prst="rect">
            <a:avLst/>
          </a:prstGeom>
          <a:noFill/>
          <a:ln/>
        </p:spPr>
        <p:txBody>
          <a:bodyPr wrap="square" lIns="0" tIns="0" rIns="0" bIns="0" rtlCol="0" anchor="ctr"/>
          <a:lstStyle/>
          <a:p>
            <a:pPr marL="0" indent="0">
              <a:buNone/>
            </a:pPr>
            <a:r>
              <a:rPr sz="880">
                <a:solidFill>
                  <a:srgbClr val="64748B"/>
                </a:solidFill>
                <a:latin typeface="Aptos"/>
              </a:rPr>
              <a:t>dBm is converted to linear power before any Stokes calculation</a:t>
            </a:r>
            <a:endParaRPr lang="en-US" sz="880" dirty="0"/>
          </a:p>
        </p:txBody>
      </p:sp>
      <p:sp>
        <p:nvSpPr>
          <p:cNvPr id="4" name="Shape 2"/>
          <p:cNvSpPr/>
          <p:nvPr/>
        </p:nvSpPr>
        <p:spPr>
          <a:xfrm>
            <a:off x="502920" y="987552"/>
            <a:ext cx="2926080" cy="0"/>
          </a:xfrm>
          <a:prstGeom prst="line">
            <a:avLst/>
          </a:prstGeom>
          <a:noFill/>
          <a:ln w="25400">
            <a:solidFill>
              <a:srgbClr val="0EA5B7"/>
            </a:solidFill>
            <a:prstDash val="solid"/>
          </a:ln>
        </p:spPr>
        <p:txBody>
          <a:bodyPr/>
          <a:lstStyle/>
          <a:p>
            <a:endParaRPr lang="en-AU"/>
          </a:p>
        </p:txBody>
      </p:sp>
      <p:sp>
        <p:nvSpPr>
          <p:cNvPr id="5" name="Shape 3"/>
          <p:cNvSpPr/>
          <p:nvPr/>
        </p:nvSpPr>
        <p:spPr>
          <a:xfrm>
            <a:off x="457200" y="6547104"/>
            <a:ext cx="11247120" cy="0"/>
          </a:xfrm>
          <a:prstGeom prst="line">
            <a:avLst/>
          </a:prstGeom>
          <a:noFill/>
          <a:ln w="7620">
            <a:solidFill>
              <a:srgbClr val="E5E7EB"/>
            </a:solidFill>
            <a:prstDash val="solid"/>
          </a:ln>
        </p:spPr>
        <p:txBody>
          <a:bodyPr/>
          <a:lstStyle/>
          <a:p>
            <a:endParaRPr lang="en-AU"/>
          </a:p>
        </p:txBody>
      </p:sp>
      <p:sp>
        <p:nvSpPr>
          <p:cNvPr id="6" name="Text 4"/>
          <p:cNvSpPr/>
          <p:nvPr/>
        </p:nvSpPr>
        <p:spPr>
          <a:xfrm>
            <a:off x="502920" y="6583680"/>
            <a:ext cx="5943600" cy="164592"/>
          </a:xfrm>
          <a:prstGeom prst="rect">
            <a:avLst/>
          </a:prstGeom>
          <a:noFill/>
          <a:ln/>
        </p:spPr>
        <p:txBody>
          <a:bodyPr wrap="square" lIns="0" tIns="0" rIns="0" bIns="0" rtlCol="0" anchor="ctr"/>
          <a:lstStyle/>
          <a:p>
            <a:pPr marL="0" indent="0">
              <a:buNone/>
            </a:pPr>
            <a:r>
              <a:rPr lang="en-US" sz="660" dirty="0">
                <a:solidFill>
                  <a:srgbClr val="64748B"/>
                </a:solidFill>
                <a:latin typeface="Aptos" pitchFamily="34" charset="0"/>
                <a:ea typeface="Aptos" pitchFamily="34" charset="-122"/>
                <a:cs typeface="Aptos" pitchFamily="34" charset="-120"/>
              </a:rPr>
              <a:t>Rydberg sensing | SET HDR Conference</a:t>
            </a:r>
            <a:endParaRPr lang="en-US" sz="660" dirty="0"/>
          </a:p>
        </p:txBody>
      </p:sp>
      <p:sp>
        <p:nvSpPr>
          <p:cNvPr id="7" name="Text 5"/>
          <p:cNvSpPr/>
          <p:nvPr/>
        </p:nvSpPr>
        <p:spPr>
          <a:xfrm>
            <a:off x="11292840" y="6583680"/>
            <a:ext cx="457200" cy="164592"/>
          </a:xfrm>
          <a:prstGeom prst="rect">
            <a:avLst/>
          </a:prstGeom>
          <a:noFill/>
          <a:ln/>
        </p:spPr>
        <p:txBody>
          <a:bodyPr wrap="square" lIns="0" tIns="0" rIns="0" bIns="0" rtlCol="0" anchor="ctr"/>
          <a:lstStyle/>
          <a:p>
            <a:pPr marL="0" indent="0" algn="r">
              <a:buNone/>
            </a:pPr>
            <a:r>
              <a:rPr lang="en-US" sz="660" dirty="0">
                <a:solidFill>
                  <a:srgbClr val="64748B"/>
                </a:solidFill>
                <a:latin typeface="Aptos" pitchFamily="34" charset="0"/>
                <a:ea typeface="Aptos" pitchFamily="34" charset="-122"/>
                <a:cs typeface="Aptos" pitchFamily="34" charset="-120"/>
              </a:rPr>
              <a:t>A5</a:t>
            </a:r>
            <a:endParaRPr lang="en-US" sz="660" dirty="0"/>
          </a:p>
        </p:txBody>
      </p:sp>
      <p:sp>
        <p:nvSpPr>
          <p:cNvPr id="8" name="Text 6"/>
          <p:cNvSpPr/>
          <p:nvPr/>
        </p:nvSpPr>
        <p:spPr>
          <a:xfrm>
            <a:off x="822960" y="1234440"/>
            <a:ext cx="3474720" cy="274320"/>
          </a:xfrm>
          <a:prstGeom prst="rect">
            <a:avLst/>
          </a:prstGeom>
          <a:noFill/>
          <a:ln/>
        </p:spPr>
        <p:txBody>
          <a:bodyPr wrap="square" lIns="0" tIns="0" rIns="0" bIns="0" rtlCol="0" anchor="ctr"/>
          <a:lstStyle/>
          <a:p>
            <a:pPr marL="0" indent="0">
              <a:buNone/>
            </a:pPr>
            <a:r>
              <a:rPr lang="en-US" sz="1600" b="1" dirty="0">
                <a:solidFill>
                  <a:srgbClr val="111827"/>
                </a:solidFill>
                <a:latin typeface="Aptos"/>
              </a:rPr>
              <a:t>Projection equations</a:t>
            </a:r>
            <a:endParaRPr lang="en-US" sz="1600" dirty="0"/>
          </a:p>
        </p:txBody>
      </p:sp>
      <p:sp>
        <p:nvSpPr>
          <p:cNvPr id="9" name="Text 7"/>
          <p:cNvSpPr/>
          <p:nvPr/>
        </p:nvSpPr>
        <p:spPr>
          <a:xfrm>
            <a:off x="960120" y="1737360"/>
            <a:ext cx="5669280" cy="292608"/>
          </a:xfrm>
          <a:prstGeom prst="rect">
            <a:avLst/>
          </a:prstGeom>
          <a:noFill/>
          <a:ln/>
        </p:spPr>
        <p:txBody>
          <a:bodyPr wrap="square" lIns="0" tIns="0" rIns="0" bIns="0" rtlCol="0" anchor="ctr">
            <a:normAutofit/>
          </a:bodyPr>
          <a:lstStyle/>
          <a:p>
            <a:pPr marL="0" indent="0">
              <a:buNone/>
            </a:pPr>
            <a:r>
              <a:rPr lang="en-US" sz="1600" b="1" dirty="0">
                <a:solidFill>
                  <a:srgbClr val="0F172A"/>
                </a:solidFill>
                <a:latin typeface="Aptos"/>
              </a:rPr>
              <a:t>S₀ = P_H + P_V</a:t>
            </a:r>
            <a:endParaRPr lang="en-US" sz="1600" dirty="0"/>
          </a:p>
        </p:txBody>
      </p:sp>
      <p:sp>
        <p:nvSpPr>
          <p:cNvPr id="10" name="Text 8"/>
          <p:cNvSpPr/>
          <p:nvPr/>
        </p:nvSpPr>
        <p:spPr>
          <a:xfrm>
            <a:off x="960120" y="2304288"/>
            <a:ext cx="5669280" cy="292608"/>
          </a:xfrm>
          <a:prstGeom prst="rect">
            <a:avLst/>
          </a:prstGeom>
          <a:noFill/>
          <a:ln/>
        </p:spPr>
        <p:txBody>
          <a:bodyPr wrap="square" lIns="0" tIns="0" rIns="0" bIns="0" rtlCol="0" anchor="ctr">
            <a:normAutofit/>
          </a:bodyPr>
          <a:lstStyle/>
          <a:p>
            <a:pPr marL="0" indent="0">
              <a:buNone/>
            </a:pPr>
            <a:r>
              <a:rPr lang="en-US" sz="1600" b="1" dirty="0">
                <a:solidFill>
                  <a:srgbClr val="0F172A"/>
                </a:solidFill>
                <a:latin typeface="Aptos"/>
              </a:rPr>
              <a:t>S₁ = P_H − P_V</a:t>
            </a:r>
            <a:endParaRPr lang="en-US" sz="1600" dirty="0"/>
          </a:p>
        </p:txBody>
      </p:sp>
      <p:sp>
        <p:nvSpPr>
          <p:cNvPr id="11" name="Text 9"/>
          <p:cNvSpPr/>
          <p:nvPr/>
        </p:nvSpPr>
        <p:spPr>
          <a:xfrm>
            <a:off x="960120" y="2871216"/>
            <a:ext cx="5669280" cy="292608"/>
          </a:xfrm>
          <a:prstGeom prst="rect">
            <a:avLst/>
          </a:prstGeom>
          <a:noFill/>
          <a:ln/>
        </p:spPr>
        <p:txBody>
          <a:bodyPr wrap="square" lIns="0" tIns="0" rIns="0" bIns="0" rtlCol="0" anchor="ctr">
            <a:normAutofit/>
          </a:bodyPr>
          <a:lstStyle/>
          <a:p>
            <a:pPr marL="0" indent="0">
              <a:buNone/>
            </a:pPr>
            <a:r>
              <a:rPr lang="en-US" sz="1600" dirty="0">
                <a:solidFill>
                  <a:srgbClr val="0F172A"/>
                </a:solidFill>
                <a:latin typeface="Aptos"/>
              </a:rPr>
              <a:t>S₂ ≈ 2P_D − S₀   (until A = −45° is measured)</a:t>
            </a:r>
            <a:endParaRPr lang="en-US" sz="1600" dirty="0"/>
          </a:p>
        </p:txBody>
      </p:sp>
      <p:sp>
        <p:nvSpPr>
          <p:cNvPr id="12" name="Text 10"/>
          <p:cNvSpPr/>
          <p:nvPr/>
        </p:nvSpPr>
        <p:spPr>
          <a:xfrm>
            <a:off x="960120" y="3438144"/>
            <a:ext cx="5669280" cy="292608"/>
          </a:xfrm>
          <a:prstGeom prst="rect">
            <a:avLst/>
          </a:prstGeom>
          <a:noFill/>
          <a:ln/>
        </p:spPr>
        <p:txBody>
          <a:bodyPr wrap="square" lIns="0" tIns="0" rIns="0" bIns="0" rtlCol="0" anchor="ctr">
            <a:normAutofit/>
          </a:bodyPr>
          <a:lstStyle/>
          <a:p>
            <a:pPr marL="0" indent="0">
              <a:buNone/>
            </a:pPr>
            <a:r>
              <a:rPr lang="en-US" sz="1600" dirty="0">
                <a:solidFill>
                  <a:srgbClr val="C21873"/>
                </a:solidFill>
                <a:latin typeface="Aptos"/>
              </a:rPr>
              <a:t>S₃ = P_R − P_L   (not yet measured)</a:t>
            </a:r>
            <a:endParaRPr lang="en-US" sz="1600" dirty="0"/>
          </a:p>
        </p:txBody>
      </p:sp>
      <p:pic>
        <p:nvPicPr>
          <p:cNvPr id="13" name="Image 0" descr="/mnt/data/deck_v4_assets/stokes_current_plane.png"/>
          <p:cNvPicPr>
            <a:picLocks noChangeAspect="1"/>
          </p:cNvPicPr>
          <p:nvPr/>
        </p:nvPicPr>
        <p:blipFill>
          <a:blip r:embed="rId3"/>
          <a:stretch>
            <a:fillRect/>
          </a:stretch>
        </p:blipFill>
        <p:spPr>
          <a:xfrm>
            <a:off x="6629400" y="1394460"/>
            <a:ext cx="4846320" cy="2423160"/>
          </a:xfrm>
          <a:prstGeom prst="rect">
            <a:avLst/>
          </a:prstGeom>
        </p:spPr>
      </p:pic>
      <p:sp>
        <p:nvSpPr>
          <p:cNvPr id="14" name="Shape 11"/>
          <p:cNvSpPr/>
          <p:nvPr/>
        </p:nvSpPr>
        <p:spPr>
          <a:xfrm>
            <a:off x="960120" y="4846320"/>
            <a:ext cx="9784080" cy="685800"/>
          </a:xfrm>
          <a:prstGeom prst="rect">
            <a:avLst/>
          </a:prstGeom>
          <a:solidFill>
            <a:srgbClr val="FFFFFF"/>
          </a:solidFill>
          <a:ln w="17780">
            <a:solidFill>
              <a:srgbClr val="078B7E"/>
            </a:solidFill>
            <a:prstDash val="solid"/>
          </a:ln>
        </p:spPr>
        <p:txBody>
          <a:bodyPr/>
          <a:lstStyle/>
          <a:p>
            <a:endParaRPr lang="en-AU"/>
          </a:p>
        </p:txBody>
      </p:sp>
      <p:sp>
        <p:nvSpPr>
          <p:cNvPr id="15" name="Text 12"/>
          <p:cNvSpPr/>
          <p:nvPr/>
        </p:nvSpPr>
        <p:spPr>
          <a:xfrm>
            <a:off x="1106424" y="4974336"/>
            <a:ext cx="9491472" cy="256032"/>
          </a:xfrm>
          <a:prstGeom prst="rect">
            <a:avLst/>
          </a:prstGeom>
          <a:noFill/>
          <a:ln/>
        </p:spPr>
        <p:txBody>
          <a:bodyPr wrap="square" lIns="0" tIns="0" rIns="0" bIns="0" rtlCol="0" anchor="ctr"/>
          <a:lstStyle/>
          <a:p>
            <a:pPr marL="0" indent="0">
              <a:buNone/>
            </a:pPr>
            <a:r>
              <a:rPr lang="en-US" sz="900" b="1" dirty="0">
                <a:solidFill>
                  <a:srgbClr val="078B7E"/>
                </a:solidFill>
                <a:latin typeface="Aptos"/>
              </a:rPr>
              <a:t>Current convention</a:t>
            </a:r>
            <a:endParaRPr lang="en-US" sz="900" dirty="0"/>
          </a:p>
        </p:txBody>
      </p:sp>
      <p:sp>
        <p:nvSpPr>
          <p:cNvPr id="16" name="Text 13"/>
          <p:cNvSpPr/>
          <p:nvPr/>
        </p:nvSpPr>
        <p:spPr>
          <a:xfrm>
            <a:off x="1106424" y="5285232"/>
            <a:ext cx="9491472" cy="155448"/>
          </a:xfrm>
          <a:prstGeom prst="rect">
            <a:avLst/>
          </a:prstGeom>
          <a:noFill/>
          <a:ln/>
        </p:spPr>
        <p:txBody>
          <a:bodyPr wrap="square" lIns="254" tIns="254" rIns="254" bIns="254" rtlCol="0" anchor="ctr">
            <a:normAutofit/>
          </a:bodyPr>
          <a:lstStyle/>
          <a:p>
            <a:pPr marL="0" indent="0">
              <a:buNone/>
            </a:pPr>
            <a:r>
              <a:rPr sz="810">
                <a:solidFill>
                  <a:srgbClr val="0F172A"/>
                </a:solidFill>
                <a:latin typeface="Aptos"/>
              </a:rPr>
              <a:t>s₁ = H−V and s₂ = D−A. The current single-run estimate is one point on the linear equator, not a full-sphere polarisation reconstruction.</a:t>
            </a:r>
            <a:endParaRPr lang="en-US" sz="810" dirty="0"/>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11" name="Rectangle 10"/>
          <p:cNvSpPr/>
          <p:nvPr/>
        </p:nvSpPr>
        <p:spPr>
          <a:xfrm>
            <a:off x="0" y="0"/>
            <a:ext cx="12192000" cy="6858000"/>
          </a:xfrm>
          <a:prstGeom prst="rect">
            <a:avLst/>
          </a:prstGeom>
          <a:solidFill>
            <a:srgbClr val="F8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502920" y="256032"/>
            <a:ext cx="8046720" cy="347472"/>
          </a:xfrm>
          <a:prstGeom prst="rect">
            <a:avLst/>
          </a:prstGeom>
          <a:noFill/>
          <a:ln/>
        </p:spPr>
        <p:txBody>
          <a:bodyPr wrap="square" lIns="0" tIns="0" rIns="0" bIns="0" rtlCol="0" anchor="ctr"/>
          <a:lstStyle/>
          <a:p>
            <a:pPr marL="0" indent="0">
              <a:buNone/>
            </a:pPr>
            <a:r>
              <a:rPr sz="2000" b="1">
                <a:solidFill>
                  <a:srgbClr val="111827"/>
                </a:solidFill>
                <a:latin typeface="Aptos Display"/>
              </a:rPr>
              <a:t>Backup: broader programme evidence</a:t>
            </a:r>
            <a:endParaRPr lang="en-US" sz="2000" dirty="0"/>
          </a:p>
        </p:txBody>
      </p:sp>
      <p:sp>
        <p:nvSpPr>
          <p:cNvPr id="3" name="Text 1"/>
          <p:cNvSpPr/>
          <p:nvPr/>
        </p:nvSpPr>
        <p:spPr>
          <a:xfrm>
            <a:off x="512064" y="658368"/>
            <a:ext cx="8046720" cy="219456"/>
          </a:xfrm>
          <a:prstGeom prst="rect">
            <a:avLst/>
          </a:prstGeom>
          <a:noFill/>
          <a:ln/>
        </p:spPr>
        <p:txBody>
          <a:bodyPr wrap="square" lIns="0" tIns="0" rIns="0" bIns="0" rtlCol="0" anchor="ctr"/>
          <a:lstStyle/>
          <a:p>
            <a:pPr marL="0" indent="0">
              <a:buNone/>
            </a:pPr>
            <a:r>
              <a:rPr sz="880">
                <a:solidFill>
                  <a:srgbClr val="64748B"/>
                </a:solidFill>
                <a:latin typeface="Aptos"/>
              </a:rPr>
              <a:t>Used for context only, not as thesis polarimetry results</a:t>
            </a:r>
            <a:endParaRPr lang="en-US" sz="880" dirty="0"/>
          </a:p>
        </p:txBody>
      </p:sp>
      <p:sp>
        <p:nvSpPr>
          <p:cNvPr id="4" name="Shape 2"/>
          <p:cNvSpPr/>
          <p:nvPr/>
        </p:nvSpPr>
        <p:spPr>
          <a:xfrm>
            <a:off x="502920" y="987552"/>
            <a:ext cx="2926080" cy="0"/>
          </a:xfrm>
          <a:prstGeom prst="line">
            <a:avLst/>
          </a:prstGeom>
          <a:noFill/>
          <a:ln w="25400">
            <a:solidFill>
              <a:srgbClr val="0EA5B7"/>
            </a:solidFill>
            <a:prstDash val="solid"/>
          </a:ln>
        </p:spPr>
        <p:txBody>
          <a:bodyPr/>
          <a:lstStyle/>
          <a:p>
            <a:endParaRPr lang="en-AU"/>
          </a:p>
        </p:txBody>
      </p:sp>
      <p:sp>
        <p:nvSpPr>
          <p:cNvPr id="5" name="Shape 3"/>
          <p:cNvSpPr/>
          <p:nvPr/>
        </p:nvSpPr>
        <p:spPr>
          <a:xfrm>
            <a:off x="457200" y="6547104"/>
            <a:ext cx="11247120" cy="0"/>
          </a:xfrm>
          <a:prstGeom prst="line">
            <a:avLst/>
          </a:prstGeom>
          <a:noFill/>
          <a:ln w="7620">
            <a:solidFill>
              <a:srgbClr val="E5E7EB"/>
            </a:solidFill>
            <a:prstDash val="solid"/>
          </a:ln>
        </p:spPr>
        <p:txBody>
          <a:bodyPr/>
          <a:lstStyle/>
          <a:p>
            <a:endParaRPr lang="en-AU"/>
          </a:p>
        </p:txBody>
      </p:sp>
      <p:sp>
        <p:nvSpPr>
          <p:cNvPr id="6" name="Text 4"/>
          <p:cNvSpPr/>
          <p:nvPr/>
        </p:nvSpPr>
        <p:spPr>
          <a:xfrm>
            <a:off x="502920" y="6583680"/>
            <a:ext cx="5943600" cy="164592"/>
          </a:xfrm>
          <a:prstGeom prst="rect">
            <a:avLst/>
          </a:prstGeom>
          <a:noFill/>
          <a:ln/>
        </p:spPr>
        <p:txBody>
          <a:bodyPr wrap="square" lIns="0" tIns="0" rIns="0" bIns="0" rtlCol="0" anchor="ctr"/>
          <a:lstStyle/>
          <a:p>
            <a:pPr marL="0" indent="0">
              <a:buNone/>
            </a:pPr>
            <a:r>
              <a:rPr lang="en-US" sz="660" dirty="0">
                <a:solidFill>
                  <a:srgbClr val="64748B"/>
                </a:solidFill>
                <a:latin typeface="Aptos" pitchFamily="34" charset="0"/>
                <a:ea typeface="Aptos" pitchFamily="34" charset="-122"/>
                <a:cs typeface="Aptos" pitchFamily="34" charset="-120"/>
              </a:rPr>
              <a:t>Rydberg sensing | SET HDR Conference</a:t>
            </a:r>
            <a:endParaRPr lang="en-US" sz="660" dirty="0"/>
          </a:p>
        </p:txBody>
      </p:sp>
      <p:sp>
        <p:nvSpPr>
          <p:cNvPr id="7" name="Text 5"/>
          <p:cNvSpPr/>
          <p:nvPr/>
        </p:nvSpPr>
        <p:spPr>
          <a:xfrm>
            <a:off x="11292840" y="6583680"/>
            <a:ext cx="457200" cy="164592"/>
          </a:xfrm>
          <a:prstGeom prst="rect">
            <a:avLst/>
          </a:prstGeom>
          <a:noFill/>
          <a:ln/>
        </p:spPr>
        <p:txBody>
          <a:bodyPr wrap="square" lIns="0" tIns="0" rIns="0" bIns="0" rtlCol="0" anchor="ctr"/>
          <a:lstStyle/>
          <a:p>
            <a:pPr marL="0" indent="0" algn="r">
              <a:buNone/>
            </a:pPr>
            <a:r>
              <a:rPr lang="en-US" sz="660" dirty="0">
                <a:solidFill>
                  <a:srgbClr val="64748B"/>
                </a:solidFill>
                <a:latin typeface="Aptos" pitchFamily="34" charset="0"/>
                <a:ea typeface="Aptos" pitchFamily="34" charset="-122"/>
                <a:cs typeface="Aptos" pitchFamily="34" charset="-120"/>
              </a:rPr>
              <a:t>A6</a:t>
            </a:r>
            <a:endParaRPr lang="en-US" sz="660" dirty="0"/>
          </a:p>
        </p:txBody>
      </p:sp>
      <p:pic>
        <p:nvPicPr>
          <p:cNvPr id="8" name="Image 0" descr="/mnt/data/src_media/current/ppt/media/image6.png"/>
          <p:cNvPicPr>
            <a:picLocks noChangeAspect="1"/>
          </p:cNvPicPr>
          <p:nvPr/>
        </p:nvPicPr>
        <p:blipFill>
          <a:blip r:embed="rId3"/>
          <a:stretch>
            <a:fillRect/>
          </a:stretch>
        </p:blipFill>
        <p:spPr>
          <a:xfrm>
            <a:off x="685800" y="1193317"/>
            <a:ext cx="3337560" cy="2231086"/>
          </a:xfrm>
          <a:prstGeom prst="rect">
            <a:avLst/>
          </a:prstGeom>
        </p:spPr>
      </p:pic>
      <p:pic>
        <p:nvPicPr>
          <p:cNvPr id="9" name="Image 1" descr="/mnt/data/src_media/dstg/ppt/media/image26.png"/>
          <p:cNvPicPr>
            <a:picLocks noChangeAspect="1"/>
          </p:cNvPicPr>
          <p:nvPr/>
        </p:nvPicPr>
        <p:blipFill>
          <a:blip r:embed="rId4"/>
          <a:stretch>
            <a:fillRect/>
          </a:stretch>
        </p:blipFill>
        <p:spPr>
          <a:xfrm>
            <a:off x="4407408" y="1267669"/>
            <a:ext cx="3337560" cy="2082382"/>
          </a:xfrm>
          <a:prstGeom prst="rect">
            <a:avLst/>
          </a:prstGeom>
        </p:spPr>
      </p:pic>
      <p:pic>
        <p:nvPicPr>
          <p:cNvPr id="10" name="Image 2" descr="/mnt/data/src_media/dstg/ppt/media/image24.png"/>
          <p:cNvPicPr>
            <a:picLocks noChangeAspect="1"/>
          </p:cNvPicPr>
          <p:nvPr/>
        </p:nvPicPr>
        <p:blipFill>
          <a:blip r:embed="rId5"/>
          <a:stretch>
            <a:fillRect/>
          </a:stretch>
        </p:blipFill>
        <p:spPr>
          <a:xfrm>
            <a:off x="8144834" y="1143000"/>
            <a:ext cx="3287636" cy="2331720"/>
          </a:xfrm>
          <a:prstGeom prst="rect">
            <a:avLst/>
          </a:prstGeom>
        </p:spPr>
      </p:pic>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ACB9B-7A56-0AAD-2CF8-5456D22ADE92}"/>
            </a:ext>
          </a:extLst>
        </p:cNvPr>
        <p:cNvGrpSpPr/>
        <p:nvPr/>
      </p:nvGrpSpPr>
      <p:grpSpPr>
        <a:xfrm>
          <a:off x="0" y="0"/>
          <a:ext cx="0" cy="0"/>
          <a:chOff x="0" y="0"/>
          <a:chExt cx="0" cy="0"/>
        </a:xfrm>
      </p:grpSpPr>
      <p:sp>
        <p:nvSpPr>
          <p:cNvPr id="50" name="Rectangle 49"/>
          <p:cNvSpPr/>
          <p:nvPr/>
        </p:nvSpPr>
        <p:spPr>
          <a:xfrm>
            <a:off x="0" y="0"/>
            <a:ext cx="12192000" cy="6858000"/>
          </a:xfrm>
          <a:prstGeom prst="rect">
            <a:avLst/>
          </a:prstGeom>
          <a:solidFill>
            <a:srgbClr val="F8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Shape 3">
            <a:extLst>
              <a:ext uri="{FF2B5EF4-FFF2-40B4-BE49-F238E27FC236}">
                <a16:creationId xmlns:a16="http://schemas.microsoft.com/office/drawing/2014/main" id="{574FE9E3-289C-EEAF-6FDE-2F51BE813EB0}"/>
              </a:ext>
            </a:extLst>
          </p:cNvPr>
          <p:cNvSpPr/>
          <p:nvPr/>
        </p:nvSpPr>
        <p:spPr>
          <a:xfrm>
            <a:off x="457200" y="6547104"/>
            <a:ext cx="11247120" cy="0"/>
          </a:xfrm>
          <a:prstGeom prst="line">
            <a:avLst/>
          </a:prstGeom>
          <a:noFill/>
          <a:ln w="7620">
            <a:solidFill>
              <a:srgbClr val="E5E7EB"/>
            </a:solidFill>
            <a:prstDash val="solid"/>
          </a:ln>
        </p:spPr>
        <p:txBody>
          <a:bodyPr/>
          <a:lstStyle/>
          <a:p>
            <a:endParaRPr lang="en-AU"/>
          </a:p>
        </p:txBody>
      </p:sp>
      <p:sp>
        <p:nvSpPr>
          <p:cNvPr id="6" name="Text 4">
            <a:extLst>
              <a:ext uri="{FF2B5EF4-FFF2-40B4-BE49-F238E27FC236}">
                <a16:creationId xmlns:a16="http://schemas.microsoft.com/office/drawing/2014/main" id="{3BB1C04B-6276-5A8B-3F82-BF846B353AC7}"/>
              </a:ext>
            </a:extLst>
          </p:cNvPr>
          <p:cNvSpPr/>
          <p:nvPr/>
        </p:nvSpPr>
        <p:spPr>
          <a:xfrm>
            <a:off x="502920" y="6583680"/>
            <a:ext cx="5943600" cy="164592"/>
          </a:xfrm>
          <a:prstGeom prst="rect">
            <a:avLst/>
          </a:prstGeom>
          <a:noFill/>
          <a:ln/>
        </p:spPr>
        <p:txBody>
          <a:bodyPr wrap="square" lIns="0" tIns="0" rIns="0" bIns="0" rtlCol="0" anchor="ctr"/>
          <a:lstStyle/>
          <a:p>
            <a:pPr marL="0" indent="0">
              <a:buNone/>
            </a:pPr>
            <a:r>
              <a:rPr lang="en-US" sz="660" dirty="0">
                <a:solidFill>
                  <a:srgbClr val="64748B"/>
                </a:solidFill>
                <a:latin typeface="Aptos" pitchFamily="34" charset="0"/>
                <a:ea typeface="Aptos" pitchFamily="34" charset="-122"/>
                <a:cs typeface="Aptos" pitchFamily="34" charset="-120"/>
              </a:rPr>
              <a:t>Rydberg sensing | SET HDR Conference</a:t>
            </a:r>
            <a:endParaRPr lang="en-US" sz="660" dirty="0"/>
          </a:p>
        </p:txBody>
      </p:sp>
      <p:sp>
        <p:nvSpPr>
          <p:cNvPr id="7" name="Text 5">
            <a:extLst>
              <a:ext uri="{FF2B5EF4-FFF2-40B4-BE49-F238E27FC236}">
                <a16:creationId xmlns:a16="http://schemas.microsoft.com/office/drawing/2014/main" id="{91877EAD-91AF-551F-07C7-B1F67902AA36}"/>
              </a:ext>
            </a:extLst>
          </p:cNvPr>
          <p:cNvSpPr/>
          <p:nvPr/>
        </p:nvSpPr>
        <p:spPr>
          <a:xfrm>
            <a:off x="11292840" y="6583680"/>
            <a:ext cx="457200" cy="164592"/>
          </a:xfrm>
          <a:prstGeom prst="rect">
            <a:avLst/>
          </a:prstGeom>
          <a:noFill/>
          <a:ln/>
        </p:spPr>
        <p:txBody>
          <a:bodyPr wrap="square" lIns="0" tIns="0" rIns="0" bIns="0" rtlCol="0" anchor="ctr"/>
          <a:lstStyle/>
          <a:p>
            <a:pPr marL="0" indent="0" algn="r">
              <a:buNone/>
            </a:pPr>
            <a:r>
              <a:rPr lang="en-US" sz="660" dirty="0">
                <a:solidFill>
                  <a:srgbClr val="64748B"/>
                </a:solidFill>
                <a:latin typeface="Aptos" pitchFamily="34" charset="0"/>
                <a:ea typeface="Aptos" pitchFamily="34" charset="-122"/>
                <a:cs typeface="Aptos" pitchFamily="34" charset="-120"/>
              </a:rPr>
              <a:t>A7</a:t>
            </a:r>
            <a:endParaRPr lang="en-US" sz="660" dirty="0"/>
          </a:p>
        </p:txBody>
      </p:sp>
      <p:sp>
        <p:nvSpPr>
          <p:cNvPr id="14" name="Text 0">
            <a:extLst>
              <a:ext uri="{FF2B5EF4-FFF2-40B4-BE49-F238E27FC236}">
                <a16:creationId xmlns:a16="http://schemas.microsoft.com/office/drawing/2014/main" id="{3B57BBCE-656C-6F80-991B-C9CB532A031E}"/>
              </a:ext>
            </a:extLst>
          </p:cNvPr>
          <p:cNvSpPr/>
          <p:nvPr/>
        </p:nvSpPr>
        <p:spPr>
          <a:xfrm>
            <a:off x="609600" y="630936"/>
            <a:ext cx="3200400" cy="20116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b="1" dirty="0">
                <a:solidFill>
                  <a:srgbClr val="0F766E"/>
                </a:solidFill>
                <a:latin typeface="Aptos"/>
              </a:rPr>
              <a:t>RESEARCH GAP</a:t>
            </a:r>
            <a:endParaRPr lang="en-US" sz="1050" dirty="0"/>
          </a:p>
        </p:txBody>
      </p:sp>
      <p:sp>
        <p:nvSpPr>
          <p:cNvPr id="15" name="Text 1">
            <a:extLst>
              <a:ext uri="{FF2B5EF4-FFF2-40B4-BE49-F238E27FC236}">
                <a16:creationId xmlns:a16="http://schemas.microsoft.com/office/drawing/2014/main" id="{9D8FB9DC-F4D3-ECC3-A5EA-08BE84763CD8}"/>
              </a:ext>
            </a:extLst>
          </p:cNvPr>
          <p:cNvSpPr/>
          <p:nvPr/>
        </p:nvSpPr>
        <p:spPr>
          <a:xfrm>
            <a:off x="609600" y="777240"/>
            <a:ext cx="8138160" cy="4114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sz="2400" b="1">
                <a:solidFill>
                  <a:srgbClr val="0F172A"/>
                </a:solidFill>
                <a:latin typeface="Aptos Display"/>
              </a:rPr>
              <a:t>Research gap and open questions</a:t>
            </a:r>
            <a:endParaRPr lang="en-US" sz="2400" dirty="0"/>
          </a:p>
        </p:txBody>
      </p:sp>
      <p:sp>
        <p:nvSpPr>
          <p:cNvPr id="16" name="Shape 2">
            <a:extLst>
              <a:ext uri="{FF2B5EF4-FFF2-40B4-BE49-F238E27FC236}">
                <a16:creationId xmlns:a16="http://schemas.microsoft.com/office/drawing/2014/main" id="{12B719F6-6636-9A88-43DB-ADDC0BE8402B}"/>
              </a:ext>
            </a:extLst>
          </p:cNvPr>
          <p:cNvSpPr/>
          <p:nvPr/>
        </p:nvSpPr>
        <p:spPr>
          <a:xfrm>
            <a:off x="701040" y="1335024"/>
            <a:ext cx="6400800" cy="4892040"/>
          </a:xfrm>
          <a:prstGeom prst="roundRect">
            <a:avLst>
              <a:gd name="adj" fmla="val 1495"/>
            </a:avLst>
          </a:prstGeom>
          <a:solidFill>
            <a:srgbClr val="FFFFFF"/>
          </a:solidFill>
          <a:ln w="12700">
            <a:solidFill>
              <a:srgbClr val="D6DEE8"/>
            </a:solidFill>
            <a:prstDash val="solid"/>
          </a:ln>
          <a:effectLst>
            <a:outerShdw blurRad="19050" dist="12700" dir="2700000" algn="bl" rotWithShape="0">
              <a:srgbClr val="000000">
                <a:alpha val="12000"/>
              </a:srgbClr>
            </a:outerShdw>
          </a:effectLst>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dirty="0"/>
          </a:p>
        </p:txBody>
      </p:sp>
      <p:sp>
        <p:nvSpPr>
          <p:cNvPr id="17" name="Shape 3">
            <a:extLst>
              <a:ext uri="{FF2B5EF4-FFF2-40B4-BE49-F238E27FC236}">
                <a16:creationId xmlns:a16="http://schemas.microsoft.com/office/drawing/2014/main" id="{91A8F739-3FEA-3661-A715-3B6D4BE17AEA}"/>
              </a:ext>
            </a:extLst>
          </p:cNvPr>
          <p:cNvSpPr/>
          <p:nvPr/>
        </p:nvSpPr>
        <p:spPr>
          <a:xfrm>
            <a:off x="7330440" y="1298448"/>
            <a:ext cx="4251960" cy="4892040"/>
          </a:xfrm>
          <a:prstGeom prst="roundRect">
            <a:avLst>
              <a:gd name="adj" fmla="val 1720"/>
            </a:avLst>
          </a:prstGeom>
          <a:solidFill>
            <a:srgbClr val="FFF7ED"/>
          </a:solidFill>
          <a:ln w="12700">
            <a:solidFill>
              <a:srgbClr val="F5D0A9"/>
            </a:solidFill>
            <a:prstDash val="solid"/>
          </a:ln>
          <a:effectLst>
            <a:outerShdw blurRad="19050" dist="12700" dir="2700000" algn="bl" rotWithShape="0">
              <a:srgbClr val="000000">
                <a:alpha val="12000"/>
              </a:srgbClr>
            </a:outerShdw>
          </a:effectLst>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18" name="Text 4">
            <a:extLst>
              <a:ext uri="{FF2B5EF4-FFF2-40B4-BE49-F238E27FC236}">
                <a16:creationId xmlns:a16="http://schemas.microsoft.com/office/drawing/2014/main" id="{162B2708-0C46-539D-6DE5-CDEBCAE9487C}"/>
              </a:ext>
            </a:extLst>
          </p:cNvPr>
          <p:cNvSpPr/>
          <p:nvPr/>
        </p:nvSpPr>
        <p:spPr>
          <a:xfrm>
            <a:off x="7604760" y="2298661"/>
            <a:ext cx="2926080" cy="21945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b="1" dirty="0">
                <a:solidFill>
                  <a:srgbClr val="9A3412"/>
                </a:solidFill>
                <a:latin typeface="Aptos"/>
              </a:rPr>
              <a:t>What the field now shows</a:t>
            </a:r>
            <a:endParaRPr lang="en-US" sz="1600" dirty="0"/>
          </a:p>
        </p:txBody>
      </p:sp>
      <p:sp>
        <p:nvSpPr>
          <p:cNvPr id="19" name="Shape 5">
            <a:extLst>
              <a:ext uri="{FF2B5EF4-FFF2-40B4-BE49-F238E27FC236}">
                <a16:creationId xmlns:a16="http://schemas.microsoft.com/office/drawing/2014/main" id="{5DCBDDB1-C987-BAA0-2231-38DCE4A4177D}"/>
              </a:ext>
            </a:extLst>
          </p:cNvPr>
          <p:cNvSpPr/>
          <p:nvPr/>
        </p:nvSpPr>
        <p:spPr>
          <a:xfrm>
            <a:off x="7577328" y="2670962"/>
            <a:ext cx="100584" cy="100584"/>
          </a:xfrm>
          <a:prstGeom prst="ellipse">
            <a:avLst/>
          </a:prstGeom>
          <a:solidFill>
            <a:srgbClr val="B45309"/>
          </a:solidFill>
          <a:ln w="12700">
            <a:solidFill>
              <a:srgbClr val="B45309"/>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0" name="Text 6">
            <a:extLst>
              <a:ext uri="{FF2B5EF4-FFF2-40B4-BE49-F238E27FC236}">
                <a16:creationId xmlns:a16="http://schemas.microsoft.com/office/drawing/2014/main" id="{76EB6CA7-0048-694B-3BDE-AEA8153978E6}"/>
              </a:ext>
            </a:extLst>
          </p:cNvPr>
          <p:cNvSpPr/>
          <p:nvPr/>
        </p:nvSpPr>
        <p:spPr>
          <a:xfrm>
            <a:off x="7741920" y="2698536"/>
            <a:ext cx="3493008" cy="62179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sz="1270">
                <a:solidFill>
                  <a:srgbClr val="7C2D12"/>
                </a:solidFill>
                <a:latin typeface="Aptos"/>
              </a:rPr>
              <a:t>Polarisation-sensitive RF measurement with Rydberg atoms is feasible, but many demonstrations rely on mixer, heterodyne or more complex receiver architectures.</a:t>
            </a:r>
            <a:endParaRPr lang="en-US" sz="1270" dirty="0"/>
          </a:p>
        </p:txBody>
      </p:sp>
      <p:sp>
        <p:nvSpPr>
          <p:cNvPr id="21" name="Shape 7">
            <a:extLst>
              <a:ext uri="{FF2B5EF4-FFF2-40B4-BE49-F238E27FC236}">
                <a16:creationId xmlns:a16="http://schemas.microsoft.com/office/drawing/2014/main" id="{1A68CEAC-CF9C-B31C-0713-2AD1D13587AD}"/>
              </a:ext>
            </a:extLst>
          </p:cNvPr>
          <p:cNvSpPr/>
          <p:nvPr/>
        </p:nvSpPr>
        <p:spPr>
          <a:xfrm>
            <a:off x="7571466" y="3484860"/>
            <a:ext cx="100584" cy="100584"/>
          </a:xfrm>
          <a:prstGeom prst="ellipse">
            <a:avLst/>
          </a:prstGeom>
          <a:solidFill>
            <a:srgbClr val="B45309"/>
          </a:solidFill>
          <a:ln w="12700">
            <a:solidFill>
              <a:srgbClr val="B45309"/>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2" name="Text 8">
            <a:extLst>
              <a:ext uri="{FF2B5EF4-FFF2-40B4-BE49-F238E27FC236}">
                <a16:creationId xmlns:a16="http://schemas.microsoft.com/office/drawing/2014/main" id="{F4432388-C96A-2BF9-73F1-875FD36BA50D}"/>
              </a:ext>
            </a:extLst>
          </p:cNvPr>
          <p:cNvSpPr/>
          <p:nvPr/>
        </p:nvSpPr>
        <p:spPr>
          <a:xfrm>
            <a:off x="7741920" y="3519502"/>
            <a:ext cx="3493008" cy="62179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sz="1270">
                <a:solidFill>
                  <a:srgbClr val="7C2D12"/>
                </a:solidFill>
                <a:latin typeface="Aptos"/>
              </a:rPr>
              <a:t>Magnetic bias can improve observability by revealing polarisation-dependent spectral structure, but it also increases calibration and stability requirements.</a:t>
            </a:r>
            <a:endParaRPr lang="en-US" sz="1270" dirty="0"/>
          </a:p>
        </p:txBody>
      </p:sp>
      <p:sp>
        <p:nvSpPr>
          <p:cNvPr id="23" name="Shape 9">
            <a:extLst>
              <a:ext uri="{FF2B5EF4-FFF2-40B4-BE49-F238E27FC236}">
                <a16:creationId xmlns:a16="http://schemas.microsoft.com/office/drawing/2014/main" id="{D55CCB5E-940B-6E04-86A8-6C66B1C9D82D}"/>
              </a:ext>
            </a:extLst>
          </p:cNvPr>
          <p:cNvSpPr/>
          <p:nvPr/>
        </p:nvSpPr>
        <p:spPr>
          <a:xfrm>
            <a:off x="7571466" y="4284141"/>
            <a:ext cx="100584" cy="100584"/>
          </a:xfrm>
          <a:prstGeom prst="ellipse">
            <a:avLst/>
          </a:prstGeom>
          <a:solidFill>
            <a:srgbClr val="B45309"/>
          </a:solidFill>
          <a:ln w="12700">
            <a:solidFill>
              <a:srgbClr val="B45309"/>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sp>
        <p:nvSpPr>
          <p:cNvPr id="24" name="Text 10">
            <a:extLst>
              <a:ext uri="{FF2B5EF4-FFF2-40B4-BE49-F238E27FC236}">
                <a16:creationId xmlns:a16="http://schemas.microsoft.com/office/drawing/2014/main" id="{EAED84A9-7589-BE97-0D74-DFA766124405}"/>
              </a:ext>
            </a:extLst>
          </p:cNvPr>
          <p:cNvSpPr/>
          <p:nvPr/>
        </p:nvSpPr>
        <p:spPr>
          <a:xfrm>
            <a:off x="7741920" y="4334433"/>
            <a:ext cx="3493008" cy="62179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sz="1270">
                <a:solidFill>
                  <a:srgbClr val="7C2D12"/>
                </a:solidFill>
                <a:latin typeface="Aptos"/>
              </a:rPr>
              <a:t>Recent receiver designs improve GHz-range sensing and practical operation, but experimentally simple polarisation inference remains underdeveloped.</a:t>
            </a:r>
            <a:endParaRPr lang="en-US" sz="1270" dirty="0"/>
          </a:p>
        </p:txBody>
      </p:sp>
      <p:sp>
        <p:nvSpPr>
          <p:cNvPr id="25" name="Text 12">
            <a:extLst>
              <a:ext uri="{FF2B5EF4-FFF2-40B4-BE49-F238E27FC236}">
                <a16:creationId xmlns:a16="http://schemas.microsoft.com/office/drawing/2014/main" id="{D7D1EC53-1AFF-D776-0F82-2A19DC6BA091}"/>
              </a:ext>
            </a:extLst>
          </p:cNvPr>
          <p:cNvSpPr/>
          <p:nvPr/>
        </p:nvSpPr>
        <p:spPr>
          <a:xfrm>
            <a:off x="7604760" y="5055167"/>
            <a:ext cx="3474720" cy="74980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410" dirty="0"/>
          </a:p>
        </p:txBody>
      </p:sp>
      <p:sp>
        <p:nvSpPr>
          <p:cNvPr id="40" name="TextBox 50">
            <a:extLst>
              <a:ext uri="{FF2B5EF4-FFF2-40B4-BE49-F238E27FC236}">
                <a16:creationId xmlns:a16="http://schemas.microsoft.com/office/drawing/2014/main" id="{8DF6C309-7C7C-EDCF-1D66-22A581B626C7}"/>
              </a:ext>
            </a:extLst>
          </p:cNvPr>
          <p:cNvSpPr txBox="1"/>
          <p:nvPr/>
        </p:nvSpPr>
        <p:spPr>
          <a:xfrm>
            <a:off x="1447229" y="5395658"/>
            <a:ext cx="1912004" cy="461665"/>
          </a:xfrm>
          <a:prstGeom prst="rect">
            <a:avLst/>
          </a:prstGeom>
          <a:noFill/>
        </p:spPr>
        <p:txBody>
          <a:bodyPr wrap="square" rtlCol="0">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dirty="0">
                <a:solidFill>
                  <a:schemeClr val="accent1">
                    <a:lumMod val="75000"/>
                  </a:schemeClr>
                </a:solidFill>
                <a:latin typeface="Aptos"/>
              </a:rPr>
              <a:t>What observables best encode RF polarization?</a:t>
            </a:r>
            <a:endParaRPr lang="en-AU" sz="1200" b="1" dirty="0">
              <a:solidFill>
                <a:schemeClr val="accent1">
                  <a:lumMod val="75000"/>
                </a:schemeClr>
              </a:solidFill>
            </a:endParaRPr>
          </a:p>
        </p:txBody>
      </p:sp>
      <p:sp>
        <p:nvSpPr>
          <p:cNvPr id="41" name="TextBox 51">
            <a:extLst>
              <a:ext uri="{FF2B5EF4-FFF2-40B4-BE49-F238E27FC236}">
                <a16:creationId xmlns:a16="http://schemas.microsoft.com/office/drawing/2014/main" id="{5126186F-4B97-81F2-D77B-2CFAEAC3038C}"/>
              </a:ext>
            </a:extLst>
          </p:cNvPr>
          <p:cNvSpPr txBox="1"/>
          <p:nvPr/>
        </p:nvSpPr>
        <p:spPr>
          <a:xfrm>
            <a:off x="4203233" y="5401578"/>
            <a:ext cx="2299557" cy="461665"/>
          </a:xfrm>
          <a:prstGeom prst="rect">
            <a:avLst/>
          </a:prstGeom>
          <a:noFill/>
        </p:spPr>
        <p:txBody>
          <a:bodyPr wrap="square" rtlCol="0">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dirty="0">
                <a:solidFill>
                  <a:schemeClr val="accent1">
                    <a:lumMod val="75000"/>
                  </a:schemeClr>
                </a:solidFill>
                <a:latin typeface="Aptos"/>
              </a:rPr>
              <a:t>What level of architecture complexity is truly necessary?</a:t>
            </a:r>
            <a:endParaRPr lang="en-AU" sz="1200" b="1" dirty="0">
              <a:solidFill>
                <a:schemeClr val="accent1">
                  <a:lumMod val="75000"/>
                </a:schemeClr>
              </a:solidFill>
            </a:endParaRPr>
          </a:p>
        </p:txBody>
      </p:sp>
      <p:sp>
        <p:nvSpPr>
          <p:cNvPr id="42" name="TextBox 52">
            <a:extLst>
              <a:ext uri="{FF2B5EF4-FFF2-40B4-BE49-F238E27FC236}">
                <a16:creationId xmlns:a16="http://schemas.microsoft.com/office/drawing/2014/main" id="{3C14CFF1-B441-E442-3177-3B1D021D3E88}"/>
              </a:ext>
            </a:extLst>
          </p:cNvPr>
          <p:cNvSpPr txBox="1"/>
          <p:nvPr/>
        </p:nvSpPr>
        <p:spPr>
          <a:xfrm>
            <a:off x="8041546" y="5302411"/>
            <a:ext cx="2825145" cy="646331"/>
          </a:xfrm>
          <a:prstGeom prst="rect">
            <a:avLst/>
          </a:prstGeom>
          <a:noFill/>
        </p:spPr>
        <p:txBody>
          <a:bodyPr wrap="square" rtlCol="0">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200" b="1">
                <a:solidFill>
                  <a:srgbClr val="131C2C"/>
                </a:solidFill>
                <a:latin typeface="Aptos"/>
              </a:rPr>
              <a:t>Can calibrated projections enable feasible 1–2 GHz Rydberg polarisation inference?</a:t>
            </a:r>
            <a:endParaRPr lang="en-AU" sz="1200" b="1" dirty="0">
              <a:solidFill>
                <a:schemeClr val="accent1">
                  <a:lumMod val="75000"/>
                </a:schemeClr>
              </a:solidFill>
            </a:endParaRPr>
          </a:p>
        </p:txBody>
      </p:sp>
      <p:sp>
        <p:nvSpPr>
          <p:cNvPr id="48" name="Text 1">
            <a:extLst>
              <a:ext uri="{FF2B5EF4-FFF2-40B4-BE49-F238E27FC236}">
                <a16:creationId xmlns:a16="http://schemas.microsoft.com/office/drawing/2014/main" id="{AF3AA8FB-AB42-49EF-0E90-B1F3D8A824BF}"/>
              </a:ext>
            </a:extLst>
          </p:cNvPr>
          <p:cNvSpPr/>
          <p:nvPr/>
        </p:nvSpPr>
        <p:spPr>
          <a:xfrm>
            <a:off x="860773" y="1713746"/>
            <a:ext cx="8138160" cy="4114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b="1" dirty="0">
                <a:solidFill>
                  <a:schemeClr val="accent5">
                    <a:lumMod val="75000"/>
                  </a:schemeClr>
                </a:solidFill>
                <a:latin typeface="Aptos Display" pitchFamily="34" charset="0"/>
                <a:ea typeface="Aptos Display" pitchFamily="34" charset="-122"/>
                <a:cs typeface="Aptos Display" pitchFamily="34" charset="-120"/>
              </a:rPr>
              <a:t>Literature map</a:t>
            </a:r>
            <a:endParaRPr lang="en-US" sz="2400" dirty="0">
              <a:solidFill>
                <a:schemeClr val="accent5">
                  <a:lumMod val="75000"/>
                </a:schemeClr>
              </a:solidFill>
            </a:endParaRPr>
          </a:p>
        </p:txBody>
      </p:sp>
      <p:pic>
        <p:nvPicPr>
          <p:cNvPr id="49" name="Picture 48">
            <a:extLst>
              <a:ext uri="{FF2B5EF4-FFF2-40B4-BE49-F238E27FC236}">
                <a16:creationId xmlns:a16="http://schemas.microsoft.com/office/drawing/2014/main" id="{84F84D75-2BD8-317C-FDF5-0E7B0E1E4747}"/>
              </a:ext>
            </a:extLst>
          </p:cNvPr>
          <p:cNvPicPr>
            <a:picLocks noChangeAspect="1"/>
          </p:cNvPicPr>
          <p:nvPr/>
        </p:nvPicPr>
        <p:blipFill>
          <a:blip r:embed="rId3"/>
          <a:stretch>
            <a:fillRect/>
          </a:stretch>
        </p:blipFill>
        <p:spPr>
          <a:xfrm>
            <a:off x="860772" y="2271530"/>
            <a:ext cx="6075467" cy="2754387"/>
          </a:xfrm>
          <a:prstGeom prst="rect">
            <a:avLst/>
          </a:prstGeom>
        </p:spPr>
      </p:pic>
    </p:spTree>
    <p:extLst>
      <p:ext uri="{BB962C8B-B14F-4D97-AF65-F5344CB8AC3E}">
        <p14:creationId xmlns:p14="http://schemas.microsoft.com/office/powerpoint/2010/main" val="3632214866"/>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49734-A481-0400-85C3-2C2BE20A709D}"/>
            </a:ext>
          </a:extLst>
        </p:cNvPr>
        <p:cNvGrpSpPr/>
        <p:nvPr/>
      </p:nvGrpSpPr>
      <p:grpSpPr>
        <a:xfrm>
          <a:off x="0" y="0"/>
          <a:ext cx="0" cy="0"/>
          <a:chOff x="0" y="0"/>
          <a:chExt cx="0" cy="0"/>
        </a:xfrm>
      </p:grpSpPr>
      <p:sp>
        <p:nvSpPr>
          <p:cNvPr id="16" name="Rectangle 15"/>
          <p:cNvSpPr/>
          <p:nvPr/>
        </p:nvSpPr>
        <p:spPr>
          <a:xfrm>
            <a:off x="0" y="0"/>
            <a:ext cx="12192000" cy="6858000"/>
          </a:xfrm>
          <a:prstGeom prst="rect">
            <a:avLst/>
          </a:prstGeom>
          <a:solidFill>
            <a:srgbClr val="F8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Shape 3">
            <a:extLst>
              <a:ext uri="{FF2B5EF4-FFF2-40B4-BE49-F238E27FC236}">
                <a16:creationId xmlns:a16="http://schemas.microsoft.com/office/drawing/2014/main" id="{2BD2FC9E-646B-990D-8980-80B8E0F0B3E6}"/>
              </a:ext>
            </a:extLst>
          </p:cNvPr>
          <p:cNvSpPr/>
          <p:nvPr/>
        </p:nvSpPr>
        <p:spPr>
          <a:xfrm>
            <a:off x="457200" y="6547104"/>
            <a:ext cx="11247120" cy="0"/>
          </a:xfrm>
          <a:prstGeom prst="line">
            <a:avLst/>
          </a:prstGeom>
          <a:noFill/>
          <a:ln w="7620">
            <a:solidFill>
              <a:srgbClr val="E5E7EB"/>
            </a:solidFill>
            <a:prstDash val="solid"/>
          </a:ln>
        </p:spPr>
        <p:txBody>
          <a:bodyPr/>
          <a:lstStyle/>
          <a:p>
            <a:endParaRPr lang="en-AU"/>
          </a:p>
        </p:txBody>
      </p:sp>
      <p:sp>
        <p:nvSpPr>
          <p:cNvPr id="6" name="Text 4">
            <a:extLst>
              <a:ext uri="{FF2B5EF4-FFF2-40B4-BE49-F238E27FC236}">
                <a16:creationId xmlns:a16="http://schemas.microsoft.com/office/drawing/2014/main" id="{A8C3BE78-0236-341E-6C8C-FD9F879F49A5}"/>
              </a:ext>
            </a:extLst>
          </p:cNvPr>
          <p:cNvSpPr/>
          <p:nvPr/>
        </p:nvSpPr>
        <p:spPr>
          <a:xfrm>
            <a:off x="502920" y="6583680"/>
            <a:ext cx="5943600" cy="164592"/>
          </a:xfrm>
          <a:prstGeom prst="rect">
            <a:avLst/>
          </a:prstGeom>
          <a:noFill/>
          <a:ln/>
        </p:spPr>
        <p:txBody>
          <a:bodyPr wrap="square" lIns="0" tIns="0" rIns="0" bIns="0" rtlCol="0" anchor="ctr"/>
          <a:lstStyle/>
          <a:p>
            <a:pPr marL="0" indent="0">
              <a:buNone/>
            </a:pPr>
            <a:r>
              <a:rPr lang="en-US" sz="660" dirty="0">
                <a:solidFill>
                  <a:srgbClr val="64748B"/>
                </a:solidFill>
                <a:latin typeface="Aptos" pitchFamily="34" charset="0"/>
                <a:ea typeface="Aptos" pitchFamily="34" charset="-122"/>
                <a:cs typeface="Aptos" pitchFamily="34" charset="-120"/>
              </a:rPr>
              <a:t>Rydberg sensing | SET HDR Conference</a:t>
            </a:r>
            <a:endParaRPr lang="en-US" sz="660" dirty="0"/>
          </a:p>
        </p:txBody>
      </p:sp>
      <p:sp>
        <p:nvSpPr>
          <p:cNvPr id="7" name="Text 5">
            <a:extLst>
              <a:ext uri="{FF2B5EF4-FFF2-40B4-BE49-F238E27FC236}">
                <a16:creationId xmlns:a16="http://schemas.microsoft.com/office/drawing/2014/main" id="{315588DC-FF69-552C-44CB-EE4E287D065A}"/>
              </a:ext>
            </a:extLst>
          </p:cNvPr>
          <p:cNvSpPr/>
          <p:nvPr/>
        </p:nvSpPr>
        <p:spPr>
          <a:xfrm>
            <a:off x="11292840" y="6583680"/>
            <a:ext cx="457200" cy="164592"/>
          </a:xfrm>
          <a:prstGeom prst="rect">
            <a:avLst/>
          </a:prstGeom>
          <a:noFill/>
          <a:ln/>
        </p:spPr>
        <p:txBody>
          <a:bodyPr wrap="square" lIns="0" tIns="0" rIns="0" bIns="0" rtlCol="0" anchor="ctr"/>
          <a:lstStyle/>
          <a:p>
            <a:pPr marL="0" indent="0" algn="r">
              <a:buNone/>
            </a:pPr>
            <a:r>
              <a:rPr lang="en-US" sz="660" dirty="0">
                <a:solidFill>
                  <a:srgbClr val="64748B"/>
                </a:solidFill>
                <a:latin typeface="Aptos" pitchFamily="34" charset="0"/>
                <a:ea typeface="Aptos" pitchFamily="34" charset="-122"/>
                <a:cs typeface="Aptos" pitchFamily="34" charset="-120"/>
              </a:rPr>
              <a:t>A8</a:t>
            </a:r>
            <a:endParaRPr lang="en-US" sz="660" dirty="0"/>
          </a:p>
        </p:txBody>
      </p:sp>
      <p:sp>
        <p:nvSpPr>
          <p:cNvPr id="14" name="Text 0">
            <a:extLst>
              <a:ext uri="{FF2B5EF4-FFF2-40B4-BE49-F238E27FC236}">
                <a16:creationId xmlns:a16="http://schemas.microsoft.com/office/drawing/2014/main" id="{EDCB764A-7B87-3CA0-3BCC-63735DA72CDD}"/>
              </a:ext>
            </a:extLst>
          </p:cNvPr>
          <p:cNvSpPr/>
          <p:nvPr/>
        </p:nvSpPr>
        <p:spPr>
          <a:xfrm>
            <a:off x="609600" y="630936"/>
            <a:ext cx="3200400" cy="20116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b="1" dirty="0">
                <a:solidFill>
                  <a:srgbClr val="0F766E"/>
                </a:solidFill>
                <a:latin typeface="Aptos"/>
              </a:rPr>
              <a:t>APPENDIX</a:t>
            </a:r>
            <a:endParaRPr lang="en-US" sz="1050" dirty="0"/>
          </a:p>
        </p:txBody>
      </p:sp>
      <p:sp>
        <p:nvSpPr>
          <p:cNvPr id="15" name="Text 1">
            <a:extLst>
              <a:ext uri="{FF2B5EF4-FFF2-40B4-BE49-F238E27FC236}">
                <a16:creationId xmlns:a16="http://schemas.microsoft.com/office/drawing/2014/main" id="{F782EB51-F84F-3EE9-3588-12BBDF341F52}"/>
              </a:ext>
            </a:extLst>
          </p:cNvPr>
          <p:cNvSpPr/>
          <p:nvPr/>
        </p:nvSpPr>
        <p:spPr>
          <a:xfrm>
            <a:off x="609600" y="777240"/>
            <a:ext cx="8138160" cy="4114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b="1" dirty="0">
                <a:solidFill>
                  <a:srgbClr val="0F172A"/>
                </a:solidFill>
                <a:latin typeface="Aptos Display" pitchFamily="34" charset="0"/>
                <a:ea typeface="Aptos Display" pitchFamily="34" charset="-122"/>
                <a:cs typeface="Aptos Display" pitchFamily="34" charset="-120"/>
              </a:rPr>
              <a:t>Receiver Architecture</a:t>
            </a:r>
            <a:endParaRPr lang="en-US" sz="2400" dirty="0"/>
          </a:p>
        </p:txBody>
      </p:sp>
      <p:pic>
        <p:nvPicPr>
          <p:cNvPr id="2" name="Picture 1">
            <a:extLst>
              <a:ext uri="{FF2B5EF4-FFF2-40B4-BE49-F238E27FC236}">
                <a16:creationId xmlns:a16="http://schemas.microsoft.com/office/drawing/2014/main" id="{43D1E3F5-EE08-99F6-7F6C-40654BDBA35F}"/>
              </a:ext>
            </a:extLst>
          </p:cNvPr>
          <p:cNvPicPr>
            <a:picLocks noChangeAspect="1"/>
          </p:cNvPicPr>
          <p:nvPr/>
        </p:nvPicPr>
        <p:blipFill>
          <a:blip r:embed="rId3"/>
          <a:stretch>
            <a:fillRect/>
          </a:stretch>
        </p:blipFill>
        <p:spPr>
          <a:xfrm>
            <a:off x="879748" y="2089404"/>
            <a:ext cx="4105275" cy="3200400"/>
          </a:xfrm>
          <a:prstGeom prst="rect">
            <a:avLst/>
          </a:prstGeom>
        </p:spPr>
      </p:pic>
      <p:pic>
        <p:nvPicPr>
          <p:cNvPr id="3" name="Picture 2">
            <a:extLst>
              <a:ext uri="{FF2B5EF4-FFF2-40B4-BE49-F238E27FC236}">
                <a16:creationId xmlns:a16="http://schemas.microsoft.com/office/drawing/2014/main" id="{C667EB5D-FDB3-5DB4-E8B9-2FB9CA39CFB5}"/>
              </a:ext>
            </a:extLst>
          </p:cNvPr>
          <p:cNvPicPr>
            <a:picLocks noChangeAspect="1"/>
          </p:cNvPicPr>
          <p:nvPr/>
        </p:nvPicPr>
        <p:blipFill>
          <a:blip r:embed="rId4"/>
          <a:stretch>
            <a:fillRect/>
          </a:stretch>
        </p:blipFill>
        <p:spPr>
          <a:xfrm>
            <a:off x="5043355" y="1433512"/>
            <a:ext cx="6115050" cy="3990975"/>
          </a:xfrm>
          <a:prstGeom prst="rect">
            <a:avLst/>
          </a:prstGeom>
        </p:spPr>
      </p:pic>
      <p:sp>
        <p:nvSpPr>
          <p:cNvPr id="17" name="Rectangle 16"/>
          <p:cNvSpPr/>
          <p:nvPr/>
        </p:nvSpPr>
        <p:spPr>
          <a:xfrm>
            <a:off x="685800" y="1325880"/>
            <a:ext cx="10561320" cy="4892040"/>
          </a:xfrm>
          <a:prstGeom prst="rect">
            <a:avLst/>
          </a:prstGeom>
          <a:solidFill>
            <a:srgbClr val="F3FAFB"/>
          </a:solidFill>
          <a:ln>
            <a:solidFill>
              <a:srgbClr val="F3FA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 y="1417320"/>
            <a:ext cx="4754880" cy="256032"/>
          </a:xfrm>
          <a:prstGeom prst="rect">
            <a:avLst/>
          </a:prstGeom>
          <a:noFill/>
        </p:spPr>
        <p:txBody>
          <a:bodyPr wrap="none" lIns="54864" tIns="27432" rIns="54864" bIns="27432">
            <a:spAutoFit/>
          </a:bodyPr>
          <a:lstStyle/>
          <a:p>
            <a:pPr algn="l">
              <a:lnSpc>
                <a:spcPct val="100000"/>
              </a:lnSpc>
              <a:defRPr sz="1700" b="1">
                <a:solidFill>
                  <a:srgbClr val="149EA6"/>
                </a:solidFill>
                <a:latin typeface="Aptos"/>
              </a:defRPr>
            </a:pPr>
            <a:r>
              <a:t>Proposed switchable analyser path</a:t>
            </a:r>
          </a:p>
        </p:txBody>
      </p:sp>
      <p:sp>
        <p:nvSpPr>
          <p:cNvPr id="19" name="Rounded Rectangle 18"/>
          <p:cNvSpPr/>
          <p:nvPr/>
        </p:nvSpPr>
        <p:spPr>
          <a:xfrm>
            <a:off x="841248" y="1874519"/>
            <a:ext cx="2176272" cy="960120"/>
          </a:xfrm>
          <a:prstGeom prst="roundRect">
            <a:avLst/>
          </a:prstGeom>
          <a:solidFill>
            <a:srgbClr val="FCEEF6"/>
          </a:solidFill>
          <a:ln w="11430">
            <a:solidFill>
              <a:srgbClr val="D7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32688" y="2029968"/>
            <a:ext cx="1993392" cy="237744"/>
          </a:xfrm>
          <a:prstGeom prst="rect">
            <a:avLst/>
          </a:prstGeom>
          <a:noFill/>
        </p:spPr>
        <p:txBody>
          <a:bodyPr wrap="none" lIns="54864" tIns="27432" rIns="54864" bIns="27432">
            <a:spAutoFit/>
          </a:bodyPr>
          <a:lstStyle/>
          <a:p>
            <a:pPr algn="ctr">
              <a:lnSpc>
                <a:spcPct val="100000"/>
              </a:lnSpc>
              <a:defRPr sz="1350" b="1">
                <a:solidFill>
                  <a:srgbClr val="C21877"/>
                </a:solidFill>
                <a:latin typeface="Aptos"/>
              </a:defRPr>
            </a:pPr>
            <a:r>
              <a:t>Unknown RF</a:t>
            </a:r>
          </a:p>
        </p:txBody>
      </p:sp>
      <p:sp>
        <p:nvSpPr>
          <p:cNvPr id="21" name="TextBox 20"/>
          <p:cNvSpPr txBox="1"/>
          <p:nvPr/>
        </p:nvSpPr>
        <p:spPr>
          <a:xfrm>
            <a:off x="978408" y="2359152"/>
            <a:ext cx="1901952" cy="274320"/>
          </a:xfrm>
          <a:prstGeom prst="rect">
            <a:avLst/>
          </a:prstGeom>
          <a:noFill/>
        </p:spPr>
        <p:txBody>
          <a:bodyPr wrap="none" lIns="54864" tIns="27432" rIns="54864" bIns="27432">
            <a:spAutoFit/>
          </a:bodyPr>
          <a:lstStyle/>
          <a:p>
            <a:pPr algn="ctr">
              <a:lnSpc>
                <a:spcPct val="100000"/>
              </a:lnSpc>
              <a:defRPr sz="980" b="0">
                <a:solidFill>
                  <a:srgbClr val="172033"/>
                </a:solidFill>
                <a:latin typeface="Aptos"/>
              </a:defRPr>
            </a:pPr>
            <a:r>
              <a:t>unknown polarisation</a:t>
            </a:r>
          </a:p>
        </p:txBody>
      </p:sp>
      <p:sp>
        <p:nvSpPr>
          <p:cNvPr id="22" name="TextBox 21"/>
          <p:cNvSpPr txBox="1"/>
          <p:nvPr/>
        </p:nvSpPr>
        <p:spPr>
          <a:xfrm>
            <a:off x="3090672" y="2176272"/>
            <a:ext cx="320040" cy="274320"/>
          </a:xfrm>
          <a:prstGeom prst="rect">
            <a:avLst/>
          </a:prstGeom>
          <a:noFill/>
        </p:spPr>
        <p:txBody>
          <a:bodyPr wrap="none" lIns="54864" tIns="27432" rIns="54864" bIns="27432">
            <a:spAutoFit/>
          </a:bodyPr>
          <a:lstStyle/>
          <a:p>
            <a:pPr algn="ctr">
              <a:lnSpc>
                <a:spcPct val="100000"/>
              </a:lnSpc>
              <a:defRPr sz="2400" b="1">
                <a:solidFill>
                  <a:srgbClr val="637282"/>
                </a:solidFill>
                <a:latin typeface="Aptos"/>
              </a:defRPr>
            </a:pPr>
            <a:r>
              <a:t>→</a:t>
            </a:r>
          </a:p>
        </p:txBody>
      </p:sp>
      <p:sp>
        <p:nvSpPr>
          <p:cNvPr id="23" name="Rounded Rectangle 22"/>
          <p:cNvSpPr/>
          <p:nvPr/>
        </p:nvSpPr>
        <p:spPr>
          <a:xfrm>
            <a:off x="3447288" y="1874519"/>
            <a:ext cx="2176272" cy="960120"/>
          </a:xfrm>
          <a:prstGeom prst="roundRect">
            <a:avLst/>
          </a:prstGeom>
          <a:solidFill>
            <a:srgbClr val="EAF6F8"/>
          </a:solidFill>
          <a:ln w="11430">
            <a:solidFill>
              <a:srgbClr val="D7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538728" y="2029968"/>
            <a:ext cx="1993392" cy="237744"/>
          </a:xfrm>
          <a:prstGeom prst="rect">
            <a:avLst/>
          </a:prstGeom>
          <a:noFill/>
        </p:spPr>
        <p:txBody>
          <a:bodyPr wrap="none" lIns="54864" tIns="27432" rIns="54864" bIns="27432">
            <a:spAutoFit/>
          </a:bodyPr>
          <a:lstStyle/>
          <a:p>
            <a:pPr algn="ctr">
              <a:lnSpc>
                <a:spcPct val="100000"/>
              </a:lnSpc>
              <a:defRPr sz="1350" b="1">
                <a:solidFill>
                  <a:srgbClr val="149EA6"/>
                </a:solidFill>
                <a:latin typeface="Aptos"/>
              </a:defRPr>
            </a:pPr>
            <a:r>
              <a:t>PIN-diode</a:t>
            </a:r>
            <a:br/>
            <a:r>
              <a:t>metasurface</a:t>
            </a:r>
          </a:p>
        </p:txBody>
      </p:sp>
      <p:sp>
        <p:nvSpPr>
          <p:cNvPr id="25" name="TextBox 24"/>
          <p:cNvSpPr txBox="1"/>
          <p:nvPr/>
        </p:nvSpPr>
        <p:spPr>
          <a:xfrm>
            <a:off x="3584448" y="2359152"/>
            <a:ext cx="1901952" cy="274320"/>
          </a:xfrm>
          <a:prstGeom prst="rect">
            <a:avLst/>
          </a:prstGeom>
          <a:noFill/>
        </p:spPr>
        <p:txBody>
          <a:bodyPr wrap="none" lIns="54864" tIns="27432" rIns="54864" bIns="27432">
            <a:spAutoFit/>
          </a:bodyPr>
          <a:lstStyle/>
          <a:p>
            <a:pPr algn="ctr">
              <a:lnSpc>
                <a:spcPct val="100000"/>
              </a:lnSpc>
              <a:defRPr sz="980" b="0">
                <a:solidFill>
                  <a:srgbClr val="172033"/>
                </a:solidFill>
                <a:latin typeface="Aptos"/>
              </a:defRPr>
            </a:pPr>
            <a:r>
              <a:t>switch H/V/D/A/R/L states</a:t>
            </a:r>
          </a:p>
        </p:txBody>
      </p:sp>
      <p:sp>
        <p:nvSpPr>
          <p:cNvPr id="26" name="TextBox 25"/>
          <p:cNvSpPr txBox="1"/>
          <p:nvPr/>
        </p:nvSpPr>
        <p:spPr>
          <a:xfrm>
            <a:off x="5696712" y="2176272"/>
            <a:ext cx="320040" cy="274320"/>
          </a:xfrm>
          <a:prstGeom prst="rect">
            <a:avLst/>
          </a:prstGeom>
          <a:noFill/>
        </p:spPr>
        <p:txBody>
          <a:bodyPr wrap="none" lIns="54864" tIns="27432" rIns="54864" bIns="27432">
            <a:spAutoFit/>
          </a:bodyPr>
          <a:lstStyle/>
          <a:p>
            <a:pPr algn="ctr">
              <a:lnSpc>
                <a:spcPct val="100000"/>
              </a:lnSpc>
              <a:defRPr sz="2400" b="1">
                <a:solidFill>
                  <a:srgbClr val="637282"/>
                </a:solidFill>
                <a:latin typeface="Aptos"/>
              </a:defRPr>
            </a:pPr>
            <a:r>
              <a:t>→</a:t>
            </a:r>
          </a:p>
        </p:txBody>
      </p:sp>
      <p:sp>
        <p:nvSpPr>
          <p:cNvPr id="27" name="Rounded Rectangle 26"/>
          <p:cNvSpPr/>
          <p:nvPr/>
        </p:nvSpPr>
        <p:spPr>
          <a:xfrm>
            <a:off x="6053328" y="1874519"/>
            <a:ext cx="2176272" cy="960120"/>
          </a:xfrm>
          <a:prstGeom prst="roundRect">
            <a:avLst/>
          </a:prstGeom>
          <a:solidFill>
            <a:srgbClr val="FCEEF6"/>
          </a:solidFill>
          <a:ln w="11430">
            <a:solidFill>
              <a:srgbClr val="D7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144768" y="2029968"/>
            <a:ext cx="1993392" cy="237744"/>
          </a:xfrm>
          <a:prstGeom prst="rect">
            <a:avLst/>
          </a:prstGeom>
          <a:noFill/>
        </p:spPr>
        <p:txBody>
          <a:bodyPr wrap="none" lIns="54864" tIns="27432" rIns="54864" bIns="27432">
            <a:spAutoFit/>
          </a:bodyPr>
          <a:lstStyle/>
          <a:p>
            <a:pPr algn="ctr">
              <a:lnSpc>
                <a:spcPct val="100000"/>
              </a:lnSpc>
              <a:defRPr sz="1350" b="1">
                <a:solidFill>
                  <a:srgbClr val="C21877"/>
                </a:solidFill>
                <a:latin typeface="Aptos"/>
              </a:defRPr>
            </a:pPr>
            <a:r>
              <a:t>Rb vapour cell</a:t>
            </a:r>
          </a:p>
        </p:txBody>
      </p:sp>
      <p:sp>
        <p:nvSpPr>
          <p:cNvPr id="29" name="TextBox 28"/>
          <p:cNvSpPr txBox="1"/>
          <p:nvPr/>
        </p:nvSpPr>
        <p:spPr>
          <a:xfrm>
            <a:off x="6190488" y="2359152"/>
            <a:ext cx="1901952" cy="274320"/>
          </a:xfrm>
          <a:prstGeom prst="rect">
            <a:avLst/>
          </a:prstGeom>
          <a:noFill/>
        </p:spPr>
        <p:txBody>
          <a:bodyPr wrap="none" lIns="54864" tIns="27432" rIns="54864" bIns="27432">
            <a:spAutoFit/>
          </a:bodyPr>
          <a:lstStyle/>
          <a:p>
            <a:pPr algn="ctr">
              <a:lnSpc>
                <a:spcPct val="100000"/>
              </a:lnSpc>
              <a:defRPr sz="980" b="0">
                <a:solidFill>
                  <a:srgbClr val="172033"/>
                </a:solidFill>
                <a:latin typeface="Aptos"/>
              </a:defRPr>
            </a:pPr>
            <a:r>
              <a:t>EIT / AT optical readout</a:t>
            </a:r>
          </a:p>
        </p:txBody>
      </p:sp>
      <p:sp>
        <p:nvSpPr>
          <p:cNvPr id="30" name="TextBox 29"/>
          <p:cNvSpPr txBox="1"/>
          <p:nvPr/>
        </p:nvSpPr>
        <p:spPr>
          <a:xfrm>
            <a:off x="8302752" y="2176272"/>
            <a:ext cx="320040" cy="274320"/>
          </a:xfrm>
          <a:prstGeom prst="rect">
            <a:avLst/>
          </a:prstGeom>
          <a:noFill/>
        </p:spPr>
        <p:txBody>
          <a:bodyPr wrap="none" lIns="54864" tIns="27432" rIns="54864" bIns="27432">
            <a:spAutoFit/>
          </a:bodyPr>
          <a:lstStyle/>
          <a:p>
            <a:pPr algn="ctr">
              <a:lnSpc>
                <a:spcPct val="100000"/>
              </a:lnSpc>
              <a:defRPr sz="2400" b="1">
                <a:solidFill>
                  <a:srgbClr val="637282"/>
                </a:solidFill>
                <a:latin typeface="Aptos"/>
              </a:defRPr>
            </a:pPr>
            <a:r>
              <a:t>→</a:t>
            </a:r>
          </a:p>
        </p:txBody>
      </p:sp>
      <p:sp>
        <p:nvSpPr>
          <p:cNvPr id="31" name="Rounded Rectangle 30"/>
          <p:cNvSpPr/>
          <p:nvPr/>
        </p:nvSpPr>
        <p:spPr>
          <a:xfrm>
            <a:off x="8659368" y="1874519"/>
            <a:ext cx="2176272" cy="960120"/>
          </a:xfrm>
          <a:prstGeom prst="roundRect">
            <a:avLst/>
          </a:prstGeom>
          <a:solidFill>
            <a:srgbClr val="EAF6F8"/>
          </a:solidFill>
          <a:ln w="11430">
            <a:solidFill>
              <a:srgbClr val="D7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750808" y="2029968"/>
            <a:ext cx="1993392" cy="237744"/>
          </a:xfrm>
          <a:prstGeom prst="rect">
            <a:avLst/>
          </a:prstGeom>
          <a:noFill/>
        </p:spPr>
        <p:txBody>
          <a:bodyPr wrap="none" lIns="54864" tIns="27432" rIns="54864" bIns="27432">
            <a:spAutoFit/>
          </a:bodyPr>
          <a:lstStyle/>
          <a:p>
            <a:pPr algn="ctr">
              <a:lnSpc>
                <a:spcPct val="100000"/>
              </a:lnSpc>
              <a:defRPr sz="1350" b="1">
                <a:solidFill>
                  <a:srgbClr val="149EA6"/>
                </a:solidFill>
                <a:latin typeface="Aptos"/>
              </a:defRPr>
            </a:pPr>
            <a:r>
              <a:t>Estimator</a:t>
            </a:r>
          </a:p>
        </p:txBody>
      </p:sp>
      <p:sp>
        <p:nvSpPr>
          <p:cNvPr id="33" name="TextBox 32"/>
          <p:cNvSpPr txBox="1"/>
          <p:nvPr/>
        </p:nvSpPr>
        <p:spPr>
          <a:xfrm>
            <a:off x="8796528" y="2359152"/>
            <a:ext cx="1901952" cy="274320"/>
          </a:xfrm>
          <a:prstGeom prst="rect">
            <a:avLst/>
          </a:prstGeom>
          <a:noFill/>
        </p:spPr>
        <p:txBody>
          <a:bodyPr wrap="none" lIns="54864" tIns="27432" rIns="54864" bIns="27432">
            <a:spAutoFit/>
          </a:bodyPr>
          <a:lstStyle/>
          <a:p>
            <a:pPr algn="ctr">
              <a:lnSpc>
                <a:spcPct val="100000"/>
              </a:lnSpc>
              <a:defRPr sz="980" b="0">
                <a:solidFill>
                  <a:srgbClr val="172033"/>
                </a:solidFill>
                <a:latin typeface="Aptos"/>
              </a:defRPr>
            </a:pPr>
            <a:r>
              <a:t>calibrated matrix → Stokes vector</a:t>
            </a:r>
          </a:p>
        </p:txBody>
      </p:sp>
      <p:sp>
        <p:nvSpPr>
          <p:cNvPr id="34" name="Rounded Rectangle 33"/>
          <p:cNvSpPr/>
          <p:nvPr/>
        </p:nvSpPr>
        <p:spPr>
          <a:xfrm>
            <a:off x="841248" y="3246120"/>
            <a:ext cx="4846320" cy="1965960"/>
          </a:xfrm>
          <a:prstGeom prst="roundRect">
            <a:avLst/>
          </a:prstGeom>
          <a:solidFill>
            <a:srgbClr val="FFFFFF"/>
          </a:solidFill>
          <a:ln w="11430">
            <a:solidFill>
              <a:srgbClr val="DC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5" name="Picture 34" descr="pin_s21_budget.png"/>
          <p:cNvPicPr>
            <a:picLocks noChangeAspect="1"/>
          </p:cNvPicPr>
          <p:nvPr/>
        </p:nvPicPr>
        <p:blipFill>
          <a:blip r:embed="rId5"/>
          <a:stretch>
            <a:fillRect/>
          </a:stretch>
        </p:blipFill>
        <p:spPr>
          <a:xfrm>
            <a:off x="1306654" y="3383280"/>
            <a:ext cx="3878930" cy="1600200"/>
          </a:xfrm>
          <a:prstGeom prst="rect">
            <a:avLst/>
          </a:prstGeom>
        </p:spPr>
      </p:pic>
      <p:sp>
        <p:nvSpPr>
          <p:cNvPr id="36" name="TextBox 35"/>
          <p:cNvSpPr txBox="1"/>
          <p:nvPr/>
        </p:nvSpPr>
        <p:spPr>
          <a:xfrm>
            <a:off x="1005840" y="5001768"/>
            <a:ext cx="4480560" cy="182880"/>
          </a:xfrm>
          <a:prstGeom prst="rect">
            <a:avLst/>
          </a:prstGeom>
          <a:noFill/>
        </p:spPr>
        <p:txBody>
          <a:bodyPr wrap="none" lIns="54864" tIns="27432" rIns="54864" bIns="27432">
            <a:spAutoFit/>
          </a:bodyPr>
          <a:lstStyle/>
          <a:p>
            <a:pPr algn="l">
              <a:lnSpc>
                <a:spcPct val="100000"/>
              </a:lnSpc>
              <a:defRPr sz="860" b="1">
                <a:solidFill>
                  <a:srgbClr val="637282"/>
                </a:solidFill>
                <a:latin typeface="Aptos"/>
              </a:defRPr>
            </a:pPr>
            <a:r>
              <a:t>Reduced-order design target only: pass/reject contrast and low insertion loss must be verified in CST/VNA before optical validation.</a:t>
            </a:r>
          </a:p>
        </p:txBody>
      </p:sp>
      <p:sp>
        <p:nvSpPr>
          <p:cNvPr id="37" name="Rounded Rectangle 36"/>
          <p:cNvSpPr/>
          <p:nvPr/>
        </p:nvSpPr>
        <p:spPr>
          <a:xfrm>
            <a:off x="5989320" y="3246120"/>
            <a:ext cx="4983480" cy="1965960"/>
          </a:xfrm>
          <a:prstGeom prst="roundRect">
            <a:avLst/>
          </a:prstGeom>
          <a:solidFill>
            <a:srgbClr val="FFF6E4"/>
          </a:solidFill>
          <a:ln w="11430">
            <a:solidFill>
              <a:srgbClr val="F1D4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172200" y="3456432"/>
            <a:ext cx="4526280" cy="256032"/>
          </a:xfrm>
          <a:prstGeom prst="rect">
            <a:avLst/>
          </a:prstGeom>
          <a:noFill/>
        </p:spPr>
        <p:txBody>
          <a:bodyPr wrap="none" lIns="54864" tIns="27432" rIns="54864" bIns="27432">
            <a:spAutoFit/>
          </a:bodyPr>
          <a:lstStyle/>
          <a:p>
            <a:pPr algn="l">
              <a:lnSpc>
                <a:spcPct val="100000"/>
              </a:lnSpc>
              <a:defRPr sz="1500" b="1">
                <a:solidFill>
                  <a:srgbClr val="F5A623"/>
                </a:solidFill>
                <a:latin typeface="Aptos"/>
              </a:defRPr>
            </a:pPr>
            <a:r>
              <a:t>Validation checklist</a:t>
            </a:r>
          </a:p>
        </p:txBody>
      </p:sp>
      <p:sp>
        <p:nvSpPr>
          <p:cNvPr id="39" name="TextBox 38"/>
          <p:cNvSpPr txBox="1"/>
          <p:nvPr/>
        </p:nvSpPr>
        <p:spPr>
          <a:xfrm>
            <a:off x="6263640" y="3858768"/>
            <a:ext cx="4434840" cy="914400"/>
          </a:xfrm>
          <a:prstGeom prst="rect">
            <a:avLst/>
          </a:prstGeom>
          <a:noFill/>
        </p:spPr>
        <p:txBody>
          <a:bodyPr wrap="none" lIns="54864" tIns="27432" rIns="54864" bIns="27432">
            <a:spAutoFit/>
          </a:bodyPr>
          <a:lstStyle/>
          <a:p>
            <a:pPr algn="l">
              <a:lnSpc>
                <a:spcPct val="100000"/>
              </a:lnSpc>
              <a:defRPr sz="1120" b="0">
                <a:solidFill>
                  <a:srgbClr val="172033"/>
                </a:solidFill>
                <a:latin typeface="Aptos"/>
              </a:defRPr>
            </a:pPr>
            <a:r>
              <a:t>• Four states transmit measurable signal</a:t>
            </a:r>
            <a:br/>
            <a:r>
              <a:t>• Calibrated analyser matrix is full-rank</a:t>
            </a:r>
            <a:br/>
            <a:r>
              <a:t>• Aperture field is stable over the vapour cell</a:t>
            </a:r>
            <a:br/>
            <a:r>
              <a:t>• Held-out H/V/D/A/R/L states reconstruct correctly</a:t>
            </a:r>
          </a:p>
        </p:txBody>
      </p:sp>
      <p:sp>
        <p:nvSpPr>
          <p:cNvPr id="40" name="Rounded Rectangle 39"/>
          <p:cNvSpPr/>
          <p:nvPr/>
        </p:nvSpPr>
        <p:spPr>
          <a:xfrm>
            <a:off x="841248" y="5532120"/>
            <a:ext cx="10131552" cy="438912"/>
          </a:xfrm>
          <a:prstGeom prst="roundRect">
            <a:avLst/>
          </a:prstGeom>
          <a:solidFill>
            <a:srgbClr val="EAF6F8"/>
          </a:solidFill>
          <a:ln w="11430">
            <a:solidFill>
              <a:srgbClr val="C8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005840" y="5669280"/>
            <a:ext cx="9738360" cy="146304"/>
          </a:xfrm>
          <a:prstGeom prst="rect">
            <a:avLst/>
          </a:prstGeom>
          <a:noFill/>
        </p:spPr>
        <p:txBody>
          <a:bodyPr wrap="none" lIns="54864" tIns="27432" rIns="54864" bIns="27432">
            <a:spAutoFit/>
          </a:bodyPr>
          <a:lstStyle/>
          <a:p>
            <a:pPr algn="l">
              <a:lnSpc>
                <a:spcPct val="100000"/>
              </a:lnSpc>
              <a:defRPr sz="1100" b="1">
                <a:solidFill>
                  <a:srgbClr val="172033"/>
                </a:solidFill>
                <a:latin typeface="Aptos"/>
              </a:defRPr>
            </a:pPr>
            <a:r>
              <a:t>Point for Q&amp;A: this is the hardware bridge from the measured linear result to future full-Stokes validation.</a:t>
            </a:r>
          </a:p>
        </p:txBody>
      </p:sp>
    </p:spTree>
    <p:extLst>
      <p:ext uri="{BB962C8B-B14F-4D97-AF65-F5344CB8AC3E}">
        <p14:creationId xmlns:p14="http://schemas.microsoft.com/office/powerpoint/2010/main" val="1868049291"/>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B9B49-1ED9-B045-B7CE-623FC675CDC2}"/>
            </a:ext>
          </a:extLst>
        </p:cNvPr>
        <p:cNvGrpSpPr/>
        <p:nvPr/>
      </p:nvGrpSpPr>
      <p:grpSpPr>
        <a:xfrm>
          <a:off x="0" y="0"/>
          <a:ext cx="0" cy="0"/>
          <a:chOff x="0" y="0"/>
          <a:chExt cx="0" cy="0"/>
        </a:xfrm>
      </p:grpSpPr>
      <p:sp>
        <p:nvSpPr>
          <p:cNvPr id="16" name="Rectangle 15"/>
          <p:cNvSpPr/>
          <p:nvPr/>
        </p:nvSpPr>
        <p:spPr>
          <a:xfrm>
            <a:off x="0" y="0"/>
            <a:ext cx="12192000" cy="6858000"/>
          </a:xfrm>
          <a:prstGeom prst="rect">
            <a:avLst/>
          </a:prstGeom>
          <a:solidFill>
            <a:srgbClr val="F8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Shape 3">
            <a:extLst>
              <a:ext uri="{FF2B5EF4-FFF2-40B4-BE49-F238E27FC236}">
                <a16:creationId xmlns:a16="http://schemas.microsoft.com/office/drawing/2014/main" id="{EA09B95A-6CF1-7D0E-8CBB-B61094512FF8}"/>
              </a:ext>
            </a:extLst>
          </p:cNvPr>
          <p:cNvSpPr/>
          <p:nvPr/>
        </p:nvSpPr>
        <p:spPr>
          <a:xfrm>
            <a:off x="457200" y="6547104"/>
            <a:ext cx="11247120" cy="0"/>
          </a:xfrm>
          <a:prstGeom prst="line">
            <a:avLst/>
          </a:prstGeom>
          <a:noFill/>
          <a:ln w="7620">
            <a:solidFill>
              <a:srgbClr val="E5E7EB"/>
            </a:solidFill>
            <a:prstDash val="solid"/>
          </a:ln>
        </p:spPr>
        <p:txBody>
          <a:bodyPr/>
          <a:lstStyle/>
          <a:p>
            <a:endParaRPr lang="en-AU"/>
          </a:p>
        </p:txBody>
      </p:sp>
      <p:sp>
        <p:nvSpPr>
          <p:cNvPr id="6" name="Text 4">
            <a:extLst>
              <a:ext uri="{FF2B5EF4-FFF2-40B4-BE49-F238E27FC236}">
                <a16:creationId xmlns:a16="http://schemas.microsoft.com/office/drawing/2014/main" id="{63088856-35B6-980A-CC09-6FD68368A182}"/>
              </a:ext>
            </a:extLst>
          </p:cNvPr>
          <p:cNvSpPr/>
          <p:nvPr/>
        </p:nvSpPr>
        <p:spPr>
          <a:xfrm>
            <a:off x="502920" y="6583680"/>
            <a:ext cx="5943600" cy="164592"/>
          </a:xfrm>
          <a:prstGeom prst="rect">
            <a:avLst/>
          </a:prstGeom>
          <a:noFill/>
          <a:ln/>
        </p:spPr>
        <p:txBody>
          <a:bodyPr wrap="square" lIns="0" tIns="0" rIns="0" bIns="0" rtlCol="0" anchor="ctr"/>
          <a:lstStyle/>
          <a:p>
            <a:pPr marL="0" indent="0">
              <a:buNone/>
            </a:pPr>
            <a:r>
              <a:rPr lang="en-US" sz="660" dirty="0">
                <a:solidFill>
                  <a:srgbClr val="64748B"/>
                </a:solidFill>
                <a:latin typeface="Aptos" pitchFamily="34" charset="0"/>
                <a:ea typeface="Aptos" pitchFamily="34" charset="-122"/>
                <a:cs typeface="Aptos" pitchFamily="34" charset="-120"/>
              </a:rPr>
              <a:t>Rydberg sensing | SET HDR Conference</a:t>
            </a:r>
            <a:endParaRPr lang="en-US" sz="660" dirty="0"/>
          </a:p>
        </p:txBody>
      </p:sp>
      <p:sp>
        <p:nvSpPr>
          <p:cNvPr id="7" name="Text 5">
            <a:extLst>
              <a:ext uri="{FF2B5EF4-FFF2-40B4-BE49-F238E27FC236}">
                <a16:creationId xmlns:a16="http://schemas.microsoft.com/office/drawing/2014/main" id="{75176F05-D49A-3255-8C89-38F96F4AC02A}"/>
              </a:ext>
            </a:extLst>
          </p:cNvPr>
          <p:cNvSpPr/>
          <p:nvPr/>
        </p:nvSpPr>
        <p:spPr>
          <a:xfrm>
            <a:off x="11292840" y="6583680"/>
            <a:ext cx="457200" cy="164592"/>
          </a:xfrm>
          <a:prstGeom prst="rect">
            <a:avLst/>
          </a:prstGeom>
          <a:noFill/>
          <a:ln/>
        </p:spPr>
        <p:txBody>
          <a:bodyPr wrap="square" lIns="0" tIns="0" rIns="0" bIns="0" rtlCol="0" anchor="ctr"/>
          <a:lstStyle/>
          <a:p>
            <a:pPr marL="0" indent="0" algn="r">
              <a:buNone/>
            </a:pPr>
            <a:r>
              <a:rPr lang="en-US" sz="660" dirty="0">
                <a:solidFill>
                  <a:srgbClr val="64748B"/>
                </a:solidFill>
                <a:latin typeface="Aptos" pitchFamily="34" charset="0"/>
                <a:ea typeface="Aptos" pitchFamily="34" charset="-122"/>
                <a:cs typeface="Aptos" pitchFamily="34" charset="-120"/>
              </a:rPr>
              <a:t>A8</a:t>
            </a:r>
            <a:endParaRPr lang="en-US" sz="660" dirty="0"/>
          </a:p>
        </p:txBody>
      </p:sp>
      <p:sp>
        <p:nvSpPr>
          <p:cNvPr id="14" name="Text 0">
            <a:extLst>
              <a:ext uri="{FF2B5EF4-FFF2-40B4-BE49-F238E27FC236}">
                <a16:creationId xmlns:a16="http://schemas.microsoft.com/office/drawing/2014/main" id="{C2F5C74C-8436-DE45-11A0-3803B149EE27}"/>
              </a:ext>
            </a:extLst>
          </p:cNvPr>
          <p:cNvSpPr/>
          <p:nvPr/>
        </p:nvSpPr>
        <p:spPr>
          <a:xfrm>
            <a:off x="609600" y="630936"/>
            <a:ext cx="3200400" cy="20116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b="1" dirty="0">
                <a:solidFill>
                  <a:srgbClr val="0F766E"/>
                </a:solidFill>
                <a:latin typeface="Aptos"/>
              </a:rPr>
              <a:t>APPENDIX</a:t>
            </a:r>
            <a:endParaRPr lang="en-US" sz="1050" dirty="0"/>
          </a:p>
        </p:txBody>
      </p:sp>
      <p:sp>
        <p:nvSpPr>
          <p:cNvPr id="15" name="Text 1">
            <a:extLst>
              <a:ext uri="{FF2B5EF4-FFF2-40B4-BE49-F238E27FC236}">
                <a16:creationId xmlns:a16="http://schemas.microsoft.com/office/drawing/2014/main" id="{2976760F-56BD-C620-AAEF-8ED6A83B59E0}"/>
              </a:ext>
            </a:extLst>
          </p:cNvPr>
          <p:cNvSpPr/>
          <p:nvPr/>
        </p:nvSpPr>
        <p:spPr>
          <a:xfrm>
            <a:off x="609600" y="777240"/>
            <a:ext cx="8138160" cy="4114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sz="2400" b="1">
                <a:solidFill>
                  <a:srgbClr val="0F172A"/>
                </a:solidFill>
                <a:latin typeface="Aptos Display"/>
              </a:rPr>
              <a:t>Poincaré sphere</a:t>
            </a:r>
            <a:endParaRPr lang="en-US" sz="2400" dirty="0"/>
          </a:p>
        </p:txBody>
      </p:sp>
      <p:pic>
        <p:nvPicPr>
          <p:cNvPr id="4" name="Picture 3">
            <a:extLst>
              <a:ext uri="{FF2B5EF4-FFF2-40B4-BE49-F238E27FC236}">
                <a16:creationId xmlns:a16="http://schemas.microsoft.com/office/drawing/2014/main" id="{FA7E83BA-0D35-1615-42A3-4E92B2F51E66}"/>
              </a:ext>
            </a:extLst>
          </p:cNvPr>
          <p:cNvPicPr>
            <a:picLocks noChangeAspect="1"/>
          </p:cNvPicPr>
          <p:nvPr/>
        </p:nvPicPr>
        <p:blipFill>
          <a:blip r:embed="rId3"/>
          <a:stretch>
            <a:fillRect/>
          </a:stretch>
        </p:blipFill>
        <p:spPr>
          <a:xfrm>
            <a:off x="2816608" y="2200275"/>
            <a:ext cx="2943225" cy="2457450"/>
          </a:xfrm>
          <a:prstGeom prst="rect">
            <a:avLst/>
          </a:prstGeom>
        </p:spPr>
      </p:pic>
      <p:pic>
        <p:nvPicPr>
          <p:cNvPr id="9" name="Picture 8">
            <a:extLst>
              <a:ext uri="{FF2B5EF4-FFF2-40B4-BE49-F238E27FC236}">
                <a16:creationId xmlns:a16="http://schemas.microsoft.com/office/drawing/2014/main" id="{D20BBDF0-B0E9-DBC0-52F1-1A2EDCF00528}"/>
              </a:ext>
            </a:extLst>
          </p:cNvPr>
          <p:cNvPicPr>
            <a:picLocks noChangeAspect="1"/>
          </p:cNvPicPr>
          <p:nvPr/>
        </p:nvPicPr>
        <p:blipFill>
          <a:blip r:embed="rId4"/>
          <a:stretch>
            <a:fillRect/>
          </a:stretch>
        </p:blipFill>
        <p:spPr>
          <a:xfrm>
            <a:off x="5823880" y="2295525"/>
            <a:ext cx="3171825" cy="2266950"/>
          </a:xfrm>
          <a:prstGeom prst="rect">
            <a:avLst/>
          </a:prstGeom>
        </p:spPr>
      </p:pic>
    </p:spTree>
    <p:extLst>
      <p:ext uri="{BB962C8B-B14F-4D97-AF65-F5344CB8AC3E}">
        <p14:creationId xmlns:p14="http://schemas.microsoft.com/office/powerpoint/2010/main" val="2526165225"/>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FF2F6-D6FE-037C-A15A-1D3EACD6CC19}"/>
            </a:ext>
          </a:extLst>
        </p:cNvPr>
        <p:cNvGrpSpPr/>
        <p:nvPr/>
      </p:nvGrpSpPr>
      <p:grpSpPr>
        <a:xfrm>
          <a:off x="0" y="0"/>
          <a:ext cx="0" cy="0"/>
          <a:chOff x="0" y="0"/>
          <a:chExt cx="0" cy="0"/>
        </a:xfrm>
      </p:grpSpPr>
      <p:sp>
        <p:nvSpPr>
          <p:cNvPr id="16" name="Rectangle 15"/>
          <p:cNvSpPr/>
          <p:nvPr/>
        </p:nvSpPr>
        <p:spPr>
          <a:xfrm>
            <a:off x="0" y="0"/>
            <a:ext cx="12192000" cy="6858000"/>
          </a:xfrm>
          <a:prstGeom prst="rect">
            <a:avLst/>
          </a:prstGeom>
          <a:solidFill>
            <a:srgbClr val="F8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Shape 3">
            <a:extLst>
              <a:ext uri="{FF2B5EF4-FFF2-40B4-BE49-F238E27FC236}">
                <a16:creationId xmlns:a16="http://schemas.microsoft.com/office/drawing/2014/main" id="{956F7E82-A4D5-217F-81B1-4BA290D5EB82}"/>
              </a:ext>
            </a:extLst>
          </p:cNvPr>
          <p:cNvSpPr/>
          <p:nvPr/>
        </p:nvSpPr>
        <p:spPr>
          <a:xfrm>
            <a:off x="457200" y="6547104"/>
            <a:ext cx="11247120" cy="0"/>
          </a:xfrm>
          <a:prstGeom prst="line">
            <a:avLst/>
          </a:prstGeom>
          <a:noFill/>
          <a:ln w="7620">
            <a:solidFill>
              <a:srgbClr val="E5E7EB"/>
            </a:solidFill>
            <a:prstDash val="solid"/>
          </a:ln>
        </p:spPr>
        <p:txBody>
          <a:bodyPr/>
          <a:lstStyle/>
          <a:p>
            <a:endParaRPr lang="en-AU"/>
          </a:p>
        </p:txBody>
      </p:sp>
      <p:sp>
        <p:nvSpPr>
          <p:cNvPr id="6" name="Text 4">
            <a:extLst>
              <a:ext uri="{FF2B5EF4-FFF2-40B4-BE49-F238E27FC236}">
                <a16:creationId xmlns:a16="http://schemas.microsoft.com/office/drawing/2014/main" id="{C2EC1BE5-77EC-68F3-A480-715225C4F697}"/>
              </a:ext>
            </a:extLst>
          </p:cNvPr>
          <p:cNvSpPr/>
          <p:nvPr/>
        </p:nvSpPr>
        <p:spPr>
          <a:xfrm>
            <a:off x="502920" y="6583680"/>
            <a:ext cx="5943600" cy="164592"/>
          </a:xfrm>
          <a:prstGeom prst="rect">
            <a:avLst/>
          </a:prstGeom>
          <a:noFill/>
          <a:ln/>
        </p:spPr>
        <p:txBody>
          <a:bodyPr wrap="square" lIns="0" tIns="0" rIns="0" bIns="0" rtlCol="0" anchor="ctr"/>
          <a:lstStyle/>
          <a:p>
            <a:pPr marL="0" indent="0">
              <a:buNone/>
            </a:pPr>
            <a:r>
              <a:rPr lang="en-US" sz="660" dirty="0">
                <a:solidFill>
                  <a:srgbClr val="64748B"/>
                </a:solidFill>
                <a:latin typeface="Aptos" pitchFamily="34" charset="0"/>
                <a:ea typeface="Aptos" pitchFamily="34" charset="-122"/>
                <a:cs typeface="Aptos" pitchFamily="34" charset="-120"/>
              </a:rPr>
              <a:t>Rydberg sensing | SET HDR Conference</a:t>
            </a:r>
            <a:endParaRPr lang="en-US" sz="660" dirty="0"/>
          </a:p>
        </p:txBody>
      </p:sp>
      <p:sp>
        <p:nvSpPr>
          <p:cNvPr id="7" name="Text 5">
            <a:extLst>
              <a:ext uri="{FF2B5EF4-FFF2-40B4-BE49-F238E27FC236}">
                <a16:creationId xmlns:a16="http://schemas.microsoft.com/office/drawing/2014/main" id="{6C6472C4-2FA4-3D89-2051-230F14C72D2D}"/>
              </a:ext>
            </a:extLst>
          </p:cNvPr>
          <p:cNvSpPr/>
          <p:nvPr/>
        </p:nvSpPr>
        <p:spPr>
          <a:xfrm>
            <a:off x="11292840" y="6583680"/>
            <a:ext cx="457200" cy="164592"/>
          </a:xfrm>
          <a:prstGeom prst="rect">
            <a:avLst/>
          </a:prstGeom>
          <a:noFill/>
          <a:ln/>
        </p:spPr>
        <p:txBody>
          <a:bodyPr wrap="square" lIns="0" tIns="0" rIns="0" bIns="0" rtlCol="0" anchor="ctr"/>
          <a:lstStyle/>
          <a:p>
            <a:pPr marL="0" indent="0" algn="r">
              <a:buNone/>
            </a:pPr>
            <a:r>
              <a:rPr lang="en-US" sz="660" dirty="0">
                <a:solidFill>
                  <a:srgbClr val="64748B"/>
                </a:solidFill>
                <a:latin typeface="Aptos" pitchFamily="34" charset="0"/>
                <a:ea typeface="Aptos" pitchFamily="34" charset="-122"/>
                <a:cs typeface="Aptos" pitchFamily="34" charset="-120"/>
              </a:rPr>
              <a:t>A8</a:t>
            </a:r>
            <a:endParaRPr lang="en-US" sz="660" dirty="0"/>
          </a:p>
        </p:txBody>
      </p:sp>
      <p:sp>
        <p:nvSpPr>
          <p:cNvPr id="14" name="Text 0">
            <a:extLst>
              <a:ext uri="{FF2B5EF4-FFF2-40B4-BE49-F238E27FC236}">
                <a16:creationId xmlns:a16="http://schemas.microsoft.com/office/drawing/2014/main" id="{75033C0E-7BE3-549B-9EFB-1161EF1406E3}"/>
              </a:ext>
            </a:extLst>
          </p:cNvPr>
          <p:cNvSpPr/>
          <p:nvPr/>
        </p:nvSpPr>
        <p:spPr>
          <a:xfrm>
            <a:off x="609600" y="630936"/>
            <a:ext cx="3200400" cy="20116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b="1" dirty="0">
                <a:solidFill>
                  <a:srgbClr val="0F766E"/>
                </a:solidFill>
                <a:latin typeface="Aptos"/>
              </a:rPr>
              <a:t>APPENDIX</a:t>
            </a:r>
            <a:endParaRPr lang="en-US" sz="1050" dirty="0"/>
          </a:p>
        </p:txBody>
      </p:sp>
      <p:sp>
        <p:nvSpPr>
          <p:cNvPr id="15" name="Text 1">
            <a:extLst>
              <a:ext uri="{FF2B5EF4-FFF2-40B4-BE49-F238E27FC236}">
                <a16:creationId xmlns:a16="http://schemas.microsoft.com/office/drawing/2014/main" id="{0594C116-950E-F69A-37CD-1E6537E85128}"/>
              </a:ext>
            </a:extLst>
          </p:cNvPr>
          <p:cNvSpPr/>
          <p:nvPr/>
        </p:nvSpPr>
        <p:spPr>
          <a:xfrm>
            <a:off x="609600" y="777240"/>
            <a:ext cx="8138160" cy="4114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b="1" dirty="0">
                <a:solidFill>
                  <a:srgbClr val="0F172A"/>
                </a:solidFill>
                <a:latin typeface="Aptos Display" pitchFamily="34" charset="0"/>
              </a:rPr>
              <a:t>Antenna S11</a:t>
            </a:r>
            <a:endParaRPr lang="en-US" sz="2400" dirty="0"/>
          </a:p>
        </p:txBody>
      </p:sp>
      <p:pic>
        <p:nvPicPr>
          <p:cNvPr id="2" name="Picture 1">
            <a:extLst>
              <a:ext uri="{FF2B5EF4-FFF2-40B4-BE49-F238E27FC236}">
                <a16:creationId xmlns:a16="http://schemas.microsoft.com/office/drawing/2014/main" id="{77346D8F-2042-BC78-0EEB-AD1241B5593D}"/>
              </a:ext>
            </a:extLst>
          </p:cNvPr>
          <p:cNvPicPr>
            <a:picLocks noChangeAspect="1"/>
          </p:cNvPicPr>
          <p:nvPr/>
        </p:nvPicPr>
        <p:blipFill>
          <a:blip r:embed="rId3"/>
          <a:stretch>
            <a:fillRect/>
          </a:stretch>
        </p:blipFill>
        <p:spPr>
          <a:xfrm>
            <a:off x="1681162" y="1412327"/>
            <a:ext cx="8829675" cy="4038600"/>
          </a:xfrm>
          <a:prstGeom prst="rect">
            <a:avLst/>
          </a:prstGeom>
        </p:spPr>
      </p:pic>
    </p:spTree>
    <p:extLst>
      <p:ext uri="{BB962C8B-B14F-4D97-AF65-F5344CB8AC3E}">
        <p14:creationId xmlns:p14="http://schemas.microsoft.com/office/powerpoint/2010/main" val="788515118"/>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05D72-5650-4234-FBC8-9A224CDBEA9B}"/>
            </a:ext>
          </a:extLst>
        </p:cNvPr>
        <p:cNvGrpSpPr/>
        <p:nvPr/>
      </p:nvGrpSpPr>
      <p:grpSpPr>
        <a:xfrm>
          <a:off x="0" y="0"/>
          <a:ext cx="0" cy="0"/>
          <a:chOff x="0" y="0"/>
          <a:chExt cx="0" cy="0"/>
        </a:xfrm>
      </p:grpSpPr>
      <p:sp>
        <p:nvSpPr>
          <p:cNvPr id="16" name="Rectangle 15"/>
          <p:cNvSpPr/>
          <p:nvPr/>
        </p:nvSpPr>
        <p:spPr>
          <a:xfrm>
            <a:off x="0" y="0"/>
            <a:ext cx="12192000" cy="6858000"/>
          </a:xfrm>
          <a:prstGeom prst="rect">
            <a:avLst/>
          </a:prstGeom>
          <a:solidFill>
            <a:srgbClr val="F8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Shape 3">
            <a:extLst>
              <a:ext uri="{FF2B5EF4-FFF2-40B4-BE49-F238E27FC236}">
                <a16:creationId xmlns:a16="http://schemas.microsoft.com/office/drawing/2014/main" id="{2DFC50E4-A176-4D83-7007-73F82C9F58F0}"/>
              </a:ext>
            </a:extLst>
          </p:cNvPr>
          <p:cNvSpPr/>
          <p:nvPr/>
        </p:nvSpPr>
        <p:spPr>
          <a:xfrm>
            <a:off x="457200" y="6547104"/>
            <a:ext cx="11247120" cy="0"/>
          </a:xfrm>
          <a:prstGeom prst="line">
            <a:avLst/>
          </a:prstGeom>
          <a:noFill/>
          <a:ln w="7620">
            <a:solidFill>
              <a:srgbClr val="E5E7EB"/>
            </a:solidFill>
            <a:prstDash val="solid"/>
          </a:ln>
        </p:spPr>
        <p:txBody>
          <a:bodyPr/>
          <a:lstStyle/>
          <a:p>
            <a:endParaRPr lang="en-AU"/>
          </a:p>
        </p:txBody>
      </p:sp>
      <p:sp>
        <p:nvSpPr>
          <p:cNvPr id="6" name="Text 4">
            <a:extLst>
              <a:ext uri="{FF2B5EF4-FFF2-40B4-BE49-F238E27FC236}">
                <a16:creationId xmlns:a16="http://schemas.microsoft.com/office/drawing/2014/main" id="{CC155413-3497-D0CC-7F72-554BA7ADD254}"/>
              </a:ext>
            </a:extLst>
          </p:cNvPr>
          <p:cNvSpPr/>
          <p:nvPr/>
        </p:nvSpPr>
        <p:spPr>
          <a:xfrm>
            <a:off x="502920" y="6583680"/>
            <a:ext cx="5943600" cy="164592"/>
          </a:xfrm>
          <a:prstGeom prst="rect">
            <a:avLst/>
          </a:prstGeom>
          <a:noFill/>
          <a:ln/>
        </p:spPr>
        <p:txBody>
          <a:bodyPr wrap="square" lIns="0" tIns="0" rIns="0" bIns="0" rtlCol="0" anchor="ctr"/>
          <a:lstStyle/>
          <a:p>
            <a:pPr marL="0" indent="0">
              <a:buNone/>
            </a:pPr>
            <a:r>
              <a:rPr lang="en-US" sz="660" dirty="0">
                <a:solidFill>
                  <a:srgbClr val="64748B"/>
                </a:solidFill>
                <a:latin typeface="Aptos" pitchFamily="34" charset="0"/>
                <a:ea typeface="Aptos" pitchFamily="34" charset="-122"/>
                <a:cs typeface="Aptos" pitchFamily="34" charset="-120"/>
              </a:rPr>
              <a:t>Rydberg sensing | SET HDR Conference</a:t>
            </a:r>
            <a:endParaRPr lang="en-US" sz="660" dirty="0"/>
          </a:p>
        </p:txBody>
      </p:sp>
      <p:sp>
        <p:nvSpPr>
          <p:cNvPr id="7" name="Text 5">
            <a:extLst>
              <a:ext uri="{FF2B5EF4-FFF2-40B4-BE49-F238E27FC236}">
                <a16:creationId xmlns:a16="http://schemas.microsoft.com/office/drawing/2014/main" id="{B6B725F7-2C15-908E-53BE-459C9CE63747}"/>
              </a:ext>
            </a:extLst>
          </p:cNvPr>
          <p:cNvSpPr/>
          <p:nvPr/>
        </p:nvSpPr>
        <p:spPr>
          <a:xfrm>
            <a:off x="11292840" y="6583680"/>
            <a:ext cx="457200" cy="164592"/>
          </a:xfrm>
          <a:prstGeom prst="rect">
            <a:avLst/>
          </a:prstGeom>
          <a:noFill/>
          <a:ln/>
        </p:spPr>
        <p:txBody>
          <a:bodyPr wrap="square" lIns="0" tIns="0" rIns="0" bIns="0" rtlCol="0" anchor="ctr"/>
          <a:lstStyle/>
          <a:p>
            <a:pPr marL="0" indent="0" algn="r">
              <a:buNone/>
            </a:pPr>
            <a:r>
              <a:rPr lang="en-US" sz="660" dirty="0">
                <a:solidFill>
                  <a:srgbClr val="64748B"/>
                </a:solidFill>
                <a:latin typeface="Aptos" pitchFamily="34" charset="0"/>
                <a:ea typeface="Aptos" pitchFamily="34" charset="-122"/>
                <a:cs typeface="Aptos" pitchFamily="34" charset="-120"/>
              </a:rPr>
              <a:t>A8</a:t>
            </a:r>
            <a:endParaRPr lang="en-US" sz="660" dirty="0"/>
          </a:p>
        </p:txBody>
      </p:sp>
      <p:sp>
        <p:nvSpPr>
          <p:cNvPr id="14" name="Text 0">
            <a:extLst>
              <a:ext uri="{FF2B5EF4-FFF2-40B4-BE49-F238E27FC236}">
                <a16:creationId xmlns:a16="http://schemas.microsoft.com/office/drawing/2014/main" id="{91EBEABB-98B6-4644-0CD1-D724893D737B}"/>
              </a:ext>
            </a:extLst>
          </p:cNvPr>
          <p:cNvSpPr/>
          <p:nvPr/>
        </p:nvSpPr>
        <p:spPr>
          <a:xfrm>
            <a:off x="609600" y="630936"/>
            <a:ext cx="3200400" cy="20116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b="1" dirty="0">
                <a:solidFill>
                  <a:srgbClr val="0F766E"/>
                </a:solidFill>
                <a:latin typeface="Aptos"/>
              </a:rPr>
              <a:t>APPENDIX</a:t>
            </a:r>
            <a:endParaRPr lang="en-US" sz="1050" dirty="0"/>
          </a:p>
        </p:txBody>
      </p:sp>
      <p:sp>
        <p:nvSpPr>
          <p:cNvPr id="15" name="Text 1">
            <a:extLst>
              <a:ext uri="{FF2B5EF4-FFF2-40B4-BE49-F238E27FC236}">
                <a16:creationId xmlns:a16="http://schemas.microsoft.com/office/drawing/2014/main" id="{557641BF-0241-470B-7195-F80B115FBCED}"/>
              </a:ext>
            </a:extLst>
          </p:cNvPr>
          <p:cNvSpPr/>
          <p:nvPr/>
        </p:nvSpPr>
        <p:spPr>
          <a:xfrm>
            <a:off x="609600" y="777240"/>
            <a:ext cx="8138160" cy="4114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b="1" dirty="0">
                <a:solidFill>
                  <a:srgbClr val="0F172A"/>
                </a:solidFill>
                <a:latin typeface="Aptos Display" pitchFamily="34" charset="0"/>
              </a:rPr>
              <a:t>Linear-to-linear S21</a:t>
            </a:r>
            <a:endParaRPr lang="en-US" sz="2400" dirty="0"/>
          </a:p>
        </p:txBody>
      </p:sp>
      <p:pic>
        <p:nvPicPr>
          <p:cNvPr id="3" name="Picture 2">
            <a:extLst>
              <a:ext uri="{FF2B5EF4-FFF2-40B4-BE49-F238E27FC236}">
                <a16:creationId xmlns:a16="http://schemas.microsoft.com/office/drawing/2014/main" id="{75BA9262-A275-20C7-DADA-70B2D0D940F8}"/>
              </a:ext>
            </a:extLst>
          </p:cNvPr>
          <p:cNvPicPr>
            <a:picLocks noChangeAspect="1"/>
          </p:cNvPicPr>
          <p:nvPr/>
        </p:nvPicPr>
        <p:blipFill>
          <a:blip r:embed="rId3"/>
          <a:stretch>
            <a:fillRect/>
          </a:stretch>
        </p:blipFill>
        <p:spPr>
          <a:xfrm>
            <a:off x="1600200" y="1455190"/>
            <a:ext cx="8991600" cy="3952875"/>
          </a:xfrm>
          <a:prstGeom prst="rect">
            <a:avLst/>
          </a:prstGeom>
        </p:spPr>
      </p:pic>
    </p:spTree>
    <p:extLst>
      <p:ext uri="{BB962C8B-B14F-4D97-AF65-F5344CB8AC3E}">
        <p14:creationId xmlns:p14="http://schemas.microsoft.com/office/powerpoint/2010/main" val="1466831602"/>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0B4DF-34F9-6CE2-C3AC-4E5F4738AB39}"/>
            </a:ext>
          </a:extLst>
        </p:cNvPr>
        <p:cNvGrpSpPr/>
        <p:nvPr/>
      </p:nvGrpSpPr>
      <p:grpSpPr>
        <a:xfrm>
          <a:off x="0" y="0"/>
          <a:ext cx="0" cy="0"/>
          <a:chOff x="0" y="0"/>
          <a:chExt cx="0" cy="0"/>
        </a:xfrm>
      </p:grpSpPr>
      <p:sp>
        <p:nvSpPr>
          <p:cNvPr id="16" name="Rectangle 15"/>
          <p:cNvSpPr/>
          <p:nvPr/>
        </p:nvSpPr>
        <p:spPr>
          <a:xfrm>
            <a:off x="0" y="0"/>
            <a:ext cx="12192000" cy="6858000"/>
          </a:xfrm>
          <a:prstGeom prst="rect">
            <a:avLst/>
          </a:prstGeom>
          <a:solidFill>
            <a:srgbClr val="F8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Shape 3">
            <a:extLst>
              <a:ext uri="{FF2B5EF4-FFF2-40B4-BE49-F238E27FC236}">
                <a16:creationId xmlns:a16="http://schemas.microsoft.com/office/drawing/2014/main" id="{E622BD00-6ADB-958A-DEEB-4BB85A430753}"/>
              </a:ext>
            </a:extLst>
          </p:cNvPr>
          <p:cNvSpPr/>
          <p:nvPr/>
        </p:nvSpPr>
        <p:spPr>
          <a:xfrm>
            <a:off x="457200" y="6547104"/>
            <a:ext cx="11247120" cy="0"/>
          </a:xfrm>
          <a:prstGeom prst="line">
            <a:avLst/>
          </a:prstGeom>
          <a:noFill/>
          <a:ln w="7620">
            <a:solidFill>
              <a:srgbClr val="E5E7EB"/>
            </a:solidFill>
            <a:prstDash val="solid"/>
          </a:ln>
        </p:spPr>
        <p:txBody>
          <a:bodyPr/>
          <a:lstStyle/>
          <a:p>
            <a:endParaRPr lang="en-AU"/>
          </a:p>
        </p:txBody>
      </p:sp>
      <p:sp>
        <p:nvSpPr>
          <p:cNvPr id="6" name="Text 4">
            <a:extLst>
              <a:ext uri="{FF2B5EF4-FFF2-40B4-BE49-F238E27FC236}">
                <a16:creationId xmlns:a16="http://schemas.microsoft.com/office/drawing/2014/main" id="{0ABDF2F7-5AD2-ABA9-AE83-F3F36F10B81C}"/>
              </a:ext>
            </a:extLst>
          </p:cNvPr>
          <p:cNvSpPr/>
          <p:nvPr/>
        </p:nvSpPr>
        <p:spPr>
          <a:xfrm>
            <a:off x="502920" y="6583680"/>
            <a:ext cx="5943600" cy="164592"/>
          </a:xfrm>
          <a:prstGeom prst="rect">
            <a:avLst/>
          </a:prstGeom>
          <a:noFill/>
          <a:ln/>
        </p:spPr>
        <p:txBody>
          <a:bodyPr wrap="square" lIns="0" tIns="0" rIns="0" bIns="0" rtlCol="0" anchor="ctr"/>
          <a:lstStyle/>
          <a:p>
            <a:pPr marL="0" indent="0">
              <a:buNone/>
            </a:pPr>
            <a:r>
              <a:rPr lang="en-US" sz="660" dirty="0">
                <a:solidFill>
                  <a:srgbClr val="64748B"/>
                </a:solidFill>
                <a:latin typeface="Aptos" pitchFamily="34" charset="0"/>
                <a:ea typeface="Aptos" pitchFamily="34" charset="-122"/>
                <a:cs typeface="Aptos" pitchFamily="34" charset="-120"/>
              </a:rPr>
              <a:t>Rydberg sensing | SET HDR Conference</a:t>
            </a:r>
            <a:endParaRPr lang="en-US" sz="660" dirty="0"/>
          </a:p>
        </p:txBody>
      </p:sp>
      <p:sp>
        <p:nvSpPr>
          <p:cNvPr id="7" name="Text 5">
            <a:extLst>
              <a:ext uri="{FF2B5EF4-FFF2-40B4-BE49-F238E27FC236}">
                <a16:creationId xmlns:a16="http://schemas.microsoft.com/office/drawing/2014/main" id="{24572D43-9DAA-6033-35E6-06BBC519B6F6}"/>
              </a:ext>
            </a:extLst>
          </p:cNvPr>
          <p:cNvSpPr/>
          <p:nvPr/>
        </p:nvSpPr>
        <p:spPr>
          <a:xfrm>
            <a:off x="11292840" y="6583680"/>
            <a:ext cx="457200" cy="164592"/>
          </a:xfrm>
          <a:prstGeom prst="rect">
            <a:avLst/>
          </a:prstGeom>
          <a:noFill/>
          <a:ln/>
        </p:spPr>
        <p:txBody>
          <a:bodyPr wrap="square" lIns="0" tIns="0" rIns="0" bIns="0" rtlCol="0" anchor="ctr"/>
          <a:lstStyle/>
          <a:p>
            <a:pPr marL="0" indent="0" algn="r">
              <a:buNone/>
            </a:pPr>
            <a:r>
              <a:rPr lang="en-US" sz="660" dirty="0">
                <a:solidFill>
                  <a:srgbClr val="64748B"/>
                </a:solidFill>
                <a:latin typeface="Aptos" pitchFamily="34" charset="0"/>
                <a:ea typeface="Aptos" pitchFamily="34" charset="-122"/>
                <a:cs typeface="Aptos" pitchFamily="34" charset="-120"/>
              </a:rPr>
              <a:t>A8</a:t>
            </a:r>
            <a:endParaRPr lang="en-US" sz="660" dirty="0"/>
          </a:p>
        </p:txBody>
      </p:sp>
      <p:sp>
        <p:nvSpPr>
          <p:cNvPr id="14" name="Text 0">
            <a:extLst>
              <a:ext uri="{FF2B5EF4-FFF2-40B4-BE49-F238E27FC236}">
                <a16:creationId xmlns:a16="http://schemas.microsoft.com/office/drawing/2014/main" id="{5C6ECD26-21DF-5CF1-2B9D-46AA0FD32F96}"/>
              </a:ext>
            </a:extLst>
          </p:cNvPr>
          <p:cNvSpPr/>
          <p:nvPr/>
        </p:nvSpPr>
        <p:spPr>
          <a:xfrm>
            <a:off x="609600" y="630936"/>
            <a:ext cx="3200400" cy="20116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b="1" dirty="0">
                <a:solidFill>
                  <a:srgbClr val="0F766E"/>
                </a:solidFill>
                <a:latin typeface="Aptos"/>
              </a:rPr>
              <a:t>APPENDIX</a:t>
            </a:r>
            <a:endParaRPr lang="en-US" sz="1050" dirty="0"/>
          </a:p>
        </p:txBody>
      </p:sp>
      <p:sp>
        <p:nvSpPr>
          <p:cNvPr id="15" name="Text 1">
            <a:extLst>
              <a:ext uri="{FF2B5EF4-FFF2-40B4-BE49-F238E27FC236}">
                <a16:creationId xmlns:a16="http://schemas.microsoft.com/office/drawing/2014/main" id="{C51CE409-4C13-286F-AFDF-863438AC0BE2}"/>
              </a:ext>
            </a:extLst>
          </p:cNvPr>
          <p:cNvSpPr/>
          <p:nvPr/>
        </p:nvSpPr>
        <p:spPr>
          <a:xfrm>
            <a:off x="609600" y="777240"/>
            <a:ext cx="8138160" cy="4114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b="1" dirty="0">
                <a:solidFill>
                  <a:srgbClr val="0F172A"/>
                </a:solidFill>
                <a:latin typeface="Aptos Display" pitchFamily="34" charset="0"/>
              </a:rPr>
              <a:t>Linear polarizer S21</a:t>
            </a:r>
            <a:endParaRPr lang="en-US" sz="2400" dirty="0"/>
          </a:p>
        </p:txBody>
      </p:sp>
      <p:pic>
        <p:nvPicPr>
          <p:cNvPr id="2" name="Picture 1">
            <a:extLst>
              <a:ext uri="{FF2B5EF4-FFF2-40B4-BE49-F238E27FC236}">
                <a16:creationId xmlns:a16="http://schemas.microsoft.com/office/drawing/2014/main" id="{09FA5658-56E6-44B5-A58B-8B698512F37D}"/>
              </a:ext>
            </a:extLst>
          </p:cNvPr>
          <p:cNvPicPr>
            <a:picLocks noChangeAspect="1"/>
          </p:cNvPicPr>
          <p:nvPr/>
        </p:nvPicPr>
        <p:blipFill>
          <a:blip r:embed="rId3"/>
          <a:stretch>
            <a:fillRect/>
          </a:stretch>
        </p:blipFill>
        <p:spPr>
          <a:xfrm>
            <a:off x="1602107" y="1433033"/>
            <a:ext cx="8213394" cy="4733597"/>
          </a:xfrm>
          <a:prstGeom prst="rect">
            <a:avLst/>
          </a:prstGeom>
        </p:spPr>
      </p:pic>
    </p:spTree>
    <p:extLst>
      <p:ext uri="{BB962C8B-B14F-4D97-AF65-F5344CB8AC3E}">
        <p14:creationId xmlns:p14="http://schemas.microsoft.com/office/powerpoint/2010/main" val="889434893"/>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E936F-BDA5-1FD1-7AC7-FB3C77BE6342}"/>
            </a:ext>
          </a:extLst>
        </p:cNvPr>
        <p:cNvGrpSpPr/>
        <p:nvPr/>
      </p:nvGrpSpPr>
      <p:grpSpPr>
        <a:xfrm>
          <a:off x="0" y="0"/>
          <a:ext cx="0" cy="0"/>
          <a:chOff x="0" y="0"/>
          <a:chExt cx="0" cy="0"/>
        </a:xfrm>
      </p:grpSpPr>
      <p:sp>
        <p:nvSpPr>
          <p:cNvPr id="16" name="Rectangle 15"/>
          <p:cNvSpPr/>
          <p:nvPr/>
        </p:nvSpPr>
        <p:spPr>
          <a:xfrm>
            <a:off x="0" y="0"/>
            <a:ext cx="12192000" cy="6858000"/>
          </a:xfrm>
          <a:prstGeom prst="rect">
            <a:avLst/>
          </a:prstGeom>
          <a:solidFill>
            <a:srgbClr val="F8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Shape 3">
            <a:extLst>
              <a:ext uri="{FF2B5EF4-FFF2-40B4-BE49-F238E27FC236}">
                <a16:creationId xmlns:a16="http://schemas.microsoft.com/office/drawing/2014/main" id="{8B01225A-63C3-30BE-B553-2347F72A40CD}"/>
              </a:ext>
            </a:extLst>
          </p:cNvPr>
          <p:cNvSpPr/>
          <p:nvPr/>
        </p:nvSpPr>
        <p:spPr>
          <a:xfrm>
            <a:off x="457200" y="6547104"/>
            <a:ext cx="11247120" cy="0"/>
          </a:xfrm>
          <a:prstGeom prst="line">
            <a:avLst/>
          </a:prstGeom>
          <a:noFill/>
          <a:ln w="7620">
            <a:solidFill>
              <a:srgbClr val="E5E7EB"/>
            </a:solidFill>
            <a:prstDash val="solid"/>
          </a:ln>
        </p:spPr>
        <p:txBody>
          <a:bodyPr/>
          <a:lstStyle/>
          <a:p>
            <a:endParaRPr lang="en-AU"/>
          </a:p>
        </p:txBody>
      </p:sp>
      <p:sp>
        <p:nvSpPr>
          <p:cNvPr id="6" name="Text 4">
            <a:extLst>
              <a:ext uri="{FF2B5EF4-FFF2-40B4-BE49-F238E27FC236}">
                <a16:creationId xmlns:a16="http://schemas.microsoft.com/office/drawing/2014/main" id="{51E16889-BED6-8A8F-3A2C-7BDCE0F7D9D9}"/>
              </a:ext>
            </a:extLst>
          </p:cNvPr>
          <p:cNvSpPr/>
          <p:nvPr/>
        </p:nvSpPr>
        <p:spPr>
          <a:xfrm>
            <a:off x="502920" y="6583680"/>
            <a:ext cx="5943600" cy="164592"/>
          </a:xfrm>
          <a:prstGeom prst="rect">
            <a:avLst/>
          </a:prstGeom>
          <a:noFill/>
          <a:ln/>
        </p:spPr>
        <p:txBody>
          <a:bodyPr wrap="square" lIns="0" tIns="0" rIns="0" bIns="0" rtlCol="0" anchor="ctr"/>
          <a:lstStyle/>
          <a:p>
            <a:pPr marL="0" indent="0">
              <a:buNone/>
            </a:pPr>
            <a:r>
              <a:rPr lang="en-US" sz="660" dirty="0">
                <a:solidFill>
                  <a:srgbClr val="64748B"/>
                </a:solidFill>
                <a:latin typeface="Aptos" pitchFamily="34" charset="0"/>
                <a:ea typeface="Aptos" pitchFamily="34" charset="-122"/>
                <a:cs typeface="Aptos" pitchFamily="34" charset="-120"/>
              </a:rPr>
              <a:t>Rydberg sensing | SET HDR Conference</a:t>
            </a:r>
            <a:endParaRPr lang="en-US" sz="660" dirty="0"/>
          </a:p>
        </p:txBody>
      </p:sp>
      <p:sp>
        <p:nvSpPr>
          <p:cNvPr id="7" name="Text 5">
            <a:extLst>
              <a:ext uri="{FF2B5EF4-FFF2-40B4-BE49-F238E27FC236}">
                <a16:creationId xmlns:a16="http://schemas.microsoft.com/office/drawing/2014/main" id="{13EFD4E6-F57A-6DB7-B4FD-2BA5C399D3E4}"/>
              </a:ext>
            </a:extLst>
          </p:cNvPr>
          <p:cNvSpPr/>
          <p:nvPr/>
        </p:nvSpPr>
        <p:spPr>
          <a:xfrm>
            <a:off x="11292840" y="6583680"/>
            <a:ext cx="457200" cy="164592"/>
          </a:xfrm>
          <a:prstGeom prst="rect">
            <a:avLst/>
          </a:prstGeom>
          <a:noFill/>
          <a:ln/>
        </p:spPr>
        <p:txBody>
          <a:bodyPr wrap="square" lIns="0" tIns="0" rIns="0" bIns="0" rtlCol="0" anchor="ctr"/>
          <a:lstStyle/>
          <a:p>
            <a:pPr marL="0" indent="0" algn="r">
              <a:buNone/>
            </a:pPr>
            <a:r>
              <a:rPr lang="en-US" sz="660" dirty="0">
                <a:solidFill>
                  <a:srgbClr val="64748B"/>
                </a:solidFill>
                <a:latin typeface="Aptos" pitchFamily="34" charset="0"/>
                <a:ea typeface="Aptos" pitchFamily="34" charset="-122"/>
                <a:cs typeface="Aptos" pitchFamily="34" charset="-120"/>
              </a:rPr>
              <a:t>A8</a:t>
            </a:r>
            <a:endParaRPr lang="en-US" sz="660" dirty="0"/>
          </a:p>
        </p:txBody>
      </p:sp>
      <p:sp>
        <p:nvSpPr>
          <p:cNvPr id="14" name="Text 0">
            <a:extLst>
              <a:ext uri="{FF2B5EF4-FFF2-40B4-BE49-F238E27FC236}">
                <a16:creationId xmlns:a16="http://schemas.microsoft.com/office/drawing/2014/main" id="{1059E137-5EC4-4D97-35F4-7E43089BDB24}"/>
              </a:ext>
            </a:extLst>
          </p:cNvPr>
          <p:cNvSpPr/>
          <p:nvPr/>
        </p:nvSpPr>
        <p:spPr>
          <a:xfrm>
            <a:off x="609600" y="630936"/>
            <a:ext cx="3200400" cy="20116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b="1" dirty="0">
                <a:solidFill>
                  <a:srgbClr val="0F766E"/>
                </a:solidFill>
                <a:latin typeface="Aptos"/>
              </a:rPr>
              <a:t>APPENDIX</a:t>
            </a:r>
            <a:endParaRPr lang="en-US" sz="1050" dirty="0"/>
          </a:p>
        </p:txBody>
      </p:sp>
      <p:sp>
        <p:nvSpPr>
          <p:cNvPr id="15" name="Text 1">
            <a:extLst>
              <a:ext uri="{FF2B5EF4-FFF2-40B4-BE49-F238E27FC236}">
                <a16:creationId xmlns:a16="http://schemas.microsoft.com/office/drawing/2014/main" id="{8CE92490-3CD4-51B3-EDD1-6FF2114A8E4B}"/>
              </a:ext>
            </a:extLst>
          </p:cNvPr>
          <p:cNvSpPr/>
          <p:nvPr/>
        </p:nvSpPr>
        <p:spPr>
          <a:xfrm>
            <a:off x="609600" y="777240"/>
            <a:ext cx="8138160" cy="4114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b="1" dirty="0">
                <a:solidFill>
                  <a:srgbClr val="0F172A"/>
                </a:solidFill>
                <a:latin typeface="Aptos Display" pitchFamily="34" charset="0"/>
              </a:rPr>
              <a:t>Linear-to-circular S21</a:t>
            </a:r>
            <a:endParaRPr lang="en-US" sz="2400" dirty="0"/>
          </a:p>
        </p:txBody>
      </p:sp>
      <p:pic>
        <p:nvPicPr>
          <p:cNvPr id="3" name="Picture 2">
            <a:extLst>
              <a:ext uri="{FF2B5EF4-FFF2-40B4-BE49-F238E27FC236}">
                <a16:creationId xmlns:a16="http://schemas.microsoft.com/office/drawing/2014/main" id="{D8670217-51C4-4D2D-2696-5234FA0375AA}"/>
              </a:ext>
            </a:extLst>
          </p:cNvPr>
          <p:cNvPicPr>
            <a:picLocks noChangeAspect="1"/>
          </p:cNvPicPr>
          <p:nvPr/>
        </p:nvPicPr>
        <p:blipFill>
          <a:blip r:embed="rId3"/>
          <a:stretch>
            <a:fillRect/>
          </a:stretch>
        </p:blipFill>
        <p:spPr>
          <a:xfrm>
            <a:off x="1600200" y="1459952"/>
            <a:ext cx="8991600" cy="3943350"/>
          </a:xfrm>
          <a:prstGeom prst="rect">
            <a:avLst/>
          </a:prstGeom>
        </p:spPr>
      </p:pic>
    </p:spTree>
    <p:extLst>
      <p:ext uri="{BB962C8B-B14F-4D97-AF65-F5344CB8AC3E}">
        <p14:creationId xmlns:p14="http://schemas.microsoft.com/office/powerpoint/2010/main" val="3326552551"/>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70F10-C1C7-B12C-5F40-FF48EC7D3941}"/>
            </a:ext>
          </a:extLst>
        </p:cNvPr>
        <p:cNvGrpSpPr/>
        <p:nvPr/>
      </p:nvGrpSpPr>
      <p:grpSpPr>
        <a:xfrm>
          <a:off x="0" y="0"/>
          <a:ext cx="0" cy="0"/>
          <a:chOff x="0" y="0"/>
          <a:chExt cx="0" cy="0"/>
        </a:xfrm>
      </p:grpSpPr>
      <p:sp>
        <p:nvSpPr>
          <p:cNvPr id="16" name="Rectangle 15"/>
          <p:cNvSpPr/>
          <p:nvPr/>
        </p:nvSpPr>
        <p:spPr>
          <a:xfrm>
            <a:off x="0" y="0"/>
            <a:ext cx="12192000" cy="6858000"/>
          </a:xfrm>
          <a:prstGeom prst="rect">
            <a:avLst/>
          </a:prstGeom>
          <a:solidFill>
            <a:srgbClr val="F8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Shape 3">
            <a:extLst>
              <a:ext uri="{FF2B5EF4-FFF2-40B4-BE49-F238E27FC236}">
                <a16:creationId xmlns:a16="http://schemas.microsoft.com/office/drawing/2014/main" id="{93BA8173-5C00-65D8-1F22-B8E516A086B8}"/>
              </a:ext>
            </a:extLst>
          </p:cNvPr>
          <p:cNvSpPr/>
          <p:nvPr/>
        </p:nvSpPr>
        <p:spPr>
          <a:xfrm>
            <a:off x="457200" y="6547104"/>
            <a:ext cx="11247120" cy="0"/>
          </a:xfrm>
          <a:prstGeom prst="line">
            <a:avLst/>
          </a:prstGeom>
          <a:noFill/>
          <a:ln w="7620">
            <a:solidFill>
              <a:srgbClr val="E5E7EB"/>
            </a:solidFill>
            <a:prstDash val="solid"/>
          </a:ln>
        </p:spPr>
        <p:txBody>
          <a:bodyPr/>
          <a:lstStyle/>
          <a:p>
            <a:endParaRPr lang="en-AU"/>
          </a:p>
        </p:txBody>
      </p:sp>
      <p:sp>
        <p:nvSpPr>
          <p:cNvPr id="6" name="Text 4">
            <a:extLst>
              <a:ext uri="{FF2B5EF4-FFF2-40B4-BE49-F238E27FC236}">
                <a16:creationId xmlns:a16="http://schemas.microsoft.com/office/drawing/2014/main" id="{6A7D9123-0043-59EC-15A9-C52FBD7C6ACC}"/>
              </a:ext>
            </a:extLst>
          </p:cNvPr>
          <p:cNvSpPr/>
          <p:nvPr/>
        </p:nvSpPr>
        <p:spPr>
          <a:xfrm>
            <a:off x="502920" y="6583680"/>
            <a:ext cx="5943600" cy="164592"/>
          </a:xfrm>
          <a:prstGeom prst="rect">
            <a:avLst/>
          </a:prstGeom>
          <a:noFill/>
          <a:ln/>
        </p:spPr>
        <p:txBody>
          <a:bodyPr wrap="square" lIns="0" tIns="0" rIns="0" bIns="0" rtlCol="0" anchor="ctr"/>
          <a:lstStyle/>
          <a:p>
            <a:pPr marL="0" indent="0">
              <a:buNone/>
            </a:pPr>
            <a:r>
              <a:rPr lang="en-US" sz="660" dirty="0">
                <a:solidFill>
                  <a:srgbClr val="64748B"/>
                </a:solidFill>
                <a:latin typeface="Aptos" pitchFamily="34" charset="0"/>
                <a:ea typeface="Aptos" pitchFamily="34" charset="-122"/>
                <a:cs typeface="Aptos" pitchFamily="34" charset="-120"/>
              </a:rPr>
              <a:t>Rydberg sensing | SET HDR Conference</a:t>
            </a:r>
            <a:endParaRPr lang="en-US" sz="660" dirty="0"/>
          </a:p>
        </p:txBody>
      </p:sp>
      <p:sp>
        <p:nvSpPr>
          <p:cNvPr id="7" name="Text 5">
            <a:extLst>
              <a:ext uri="{FF2B5EF4-FFF2-40B4-BE49-F238E27FC236}">
                <a16:creationId xmlns:a16="http://schemas.microsoft.com/office/drawing/2014/main" id="{728991A0-1D21-B624-761B-E1B2B625EC89}"/>
              </a:ext>
            </a:extLst>
          </p:cNvPr>
          <p:cNvSpPr/>
          <p:nvPr/>
        </p:nvSpPr>
        <p:spPr>
          <a:xfrm>
            <a:off x="11292840" y="6583680"/>
            <a:ext cx="457200" cy="164592"/>
          </a:xfrm>
          <a:prstGeom prst="rect">
            <a:avLst/>
          </a:prstGeom>
          <a:noFill/>
          <a:ln/>
        </p:spPr>
        <p:txBody>
          <a:bodyPr wrap="square" lIns="0" tIns="0" rIns="0" bIns="0" rtlCol="0" anchor="ctr"/>
          <a:lstStyle/>
          <a:p>
            <a:pPr marL="0" indent="0" algn="r">
              <a:buNone/>
            </a:pPr>
            <a:r>
              <a:rPr lang="en-US" sz="660" dirty="0">
                <a:solidFill>
                  <a:srgbClr val="64748B"/>
                </a:solidFill>
                <a:latin typeface="Aptos" pitchFamily="34" charset="0"/>
                <a:ea typeface="Aptos" pitchFamily="34" charset="-122"/>
                <a:cs typeface="Aptos" pitchFamily="34" charset="-120"/>
              </a:rPr>
              <a:t>A8</a:t>
            </a:r>
            <a:endParaRPr lang="en-US" sz="660" dirty="0"/>
          </a:p>
        </p:txBody>
      </p:sp>
      <p:sp>
        <p:nvSpPr>
          <p:cNvPr id="14" name="Text 0">
            <a:extLst>
              <a:ext uri="{FF2B5EF4-FFF2-40B4-BE49-F238E27FC236}">
                <a16:creationId xmlns:a16="http://schemas.microsoft.com/office/drawing/2014/main" id="{538567CD-1C75-F23A-4F41-DED30721C72D}"/>
              </a:ext>
            </a:extLst>
          </p:cNvPr>
          <p:cNvSpPr/>
          <p:nvPr/>
        </p:nvSpPr>
        <p:spPr>
          <a:xfrm>
            <a:off x="609600" y="630936"/>
            <a:ext cx="3200400" cy="20116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b="1" dirty="0">
                <a:solidFill>
                  <a:srgbClr val="0F766E"/>
                </a:solidFill>
                <a:latin typeface="Aptos"/>
              </a:rPr>
              <a:t>APPENDIX</a:t>
            </a:r>
            <a:endParaRPr lang="en-US" sz="1050" dirty="0"/>
          </a:p>
        </p:txBody>
      </p:sp>
      <p:sp>
        <p:nvSpPr>
          <p:cNvPr id="15" name="Text 1">
            <a:extLst>
              <a:ext uri="{FF2B5EF4-FFF2-40B4-BE49-F238E27FC236}">
                <a16:creationId xmlns:a16="http://schemas.microsoft.com/office/drawing/2014/main" id="{AD854A34-8F23-3C27-5843-56CEC7DA1CB2}"/>
              </a:ext>
            </a:extLst>
          </p:cNvPr>
          <p:cNvSpPr/>
          <p:nvPr/>
        </p:nvSpPr>
        <p:spPr>
          <a:xfrm>
            <a:off x="609600" y="777240"/>
            <a:ext cx="8138160" cy="4114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b="1" dirty="0">
                <a:solidFill>
                  <a:srgbClr val="0F172A"/>
                </a:solidFill>
                <a:latin typeface="Aptos Display" pitchFamily="34" charset="0"/>
              </a:rPr>
              <a:t>Magnetic calibration</a:t>
            </a:r>
            <a:endParaRPr lang="en-US" sz="2400" dirty="0"/>
          </a:p>
        </p:txBody>
      </p:sp>
      <p:pic>
        <p:nvPicPr>
          <p:cNvPr id="2" name="Picture 1">
            <a:extLst>
              <a:ext uri="{FF2B5EF4-FFF2-40B4-BE49-F238E27FC236}">
                <a16:creationId xmlns:a16="http://schemas.microsoft.com/office/drawing/2014/main" id="{F850AFF0-209C-9EE2-0C9E-81049F412722}"/>
              </a:ext>
            </a:extLst>
          </p:cNvPr>
          <p:cNvPicPr>
            <a:picLocks noChangeAspect="1"/>
          </p:cNvPicPr>
          <p:nvPr/>
        </p:nvPicPr>
        <p:blipFill>
          <a:blip r:embed="rId3"/>
          <a:stretch>
            <a:fillRect/>
          </a:stretch>
        </p:blipFill>
        <p:spPr>
          <a:xfrm>
            <a:off x="1928812" y="1717127"/>
            <a:ext cx="8334375" cy="3429000"/>
          </a:xfrm>
          <a:prstGeom prst="rect">
            <a:avLst/>
          </a:prstGeom>
        </p:spPr>
      </p:pic>
    </p:spTree>
    <p:extLst>
      <p:ext uri="{BB962C8B-B14F-4D97-AF65-F5344CB8AC3E}">
        <p14:creationId xmlns:p14="http://schemas.microsoft.com/office/powerpoint/2010/main" val="3507829892"/>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427B5-74C0-2894-D957-8D9791E15989}"/>
            </a:ext>
          </a:extLst>
        </p:cNvPr>
        <p:cNvGrpSpPr/>
        <p:nvPr/>
      </p:nvGrpSpPr>
      <p:grpSpPr>
        <a:xfrm>
          <a:off x="0" y="0"/>
          <a:ext cx="0" cy="0"/>
          <a:chOff x="0" y="0"/>
          <a:chExt cx="0" cy="0"/>
        </a:xfrm>
      </p:grpSpPr>
      <p:sp>
        <p:nvSpPr>
          <p:cNvPr id="16" name="Rectangle 15"/>
          <p:cNvSpPr/>
          <p:nvPr/>
        </p:nvSpPr>
        <p:spPr>
          <a:xfrm>
            <a:off x="0" y="0"/>
            <a:ext cx="12192000" cy="6858000"/>
          </a:xfrm>
          <a:prstGeom prst="rect">
            <a:avLst/>
          </a:prstGeom>
          <a:solidFill>
            <a:srgbClr val="F8F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Shape 3">
            <a:extLst>
              <a:ext uri="{FF2B5EF4-FFF2-40B4-BE49-F238E27FC236}">
                <a16:creationId xmlns:a16="http://schemas.microsoft.com/office/drawing/2014/main" id="{2CBC7536-14D1-DC58-E271-E0E4992945F8}"/>
              </a:ext>
            </a:extLst>
          </p:cNvPr>
          <p:cNvSpPr/>
          <p:nvPr/>
        </p:nvSpPr>
        <p:spPr>
          <a:xfrm>
            <a:off x="457200" y="6547104"/>
            <a:ext cx="11247120" cy="0"/>
          </a:xfrm>
          <a:prstGeom prst="line">
            <a:avLst/>
          </a:prstGeom>
          <a:noFill/>
          <a:ln w="7620">
            <a:solidFill>
              <a:srgbClr val="E5E7EB"/>
            </a:solidFill>
            <a:prstDash val="solid"/>
          </a:ln>
        </p:spPr>
        <p:txBody>
          <a:bodyPr/>
          <a:lstStyle/>
          <a:p>
            <a:endParaRPr lang="en-AU"/>
          </a:p>
        </p:txBody>
      </p:sp>
      <p:sp>
        <p:nvSpPr>
          <p:cNvPr id="6" name="Text 4">
            <a:extLst>
              <a:ext uri="{FF2B5EF4-FFF2-40B4-BE49-F238E27FC236}">
                <a16:creationId xmlns:a16="http://schemas.microsoft.com/office/drawing/2014/main" id="{24F9A49B-B6BE-F5B4-C451-E88999175A45}"/>
              </a:ext>
            </a:extLst>
          </p:cNvPr>
          <p:cNvSpPr/>
          <p:nvPr/>
        </p:nvSpPr>
        <p:spPr>
          <a:xfrm>
            <a:off x="502920" y="6583680"/>
            <a:ext cx="5943600" cy="164592"/>
          </a:xfrm>
          <a:prstGeom prst="rect">
            <a:avLst/>
          </a:prstGeom>
          <a:noFill/>
          <a:ln/>
        </p:spPr>
        <p:txBody>
          <a:bodyPr wrap="square" lIns="0" tIns="0" rIns="0" bIns="0" rtlCol="0" anchor="ctr"/>
          <a:lstStyle/>
          <a:p>
            <a:pPr marL="0" indent="0">
              <a:buNone/>
            </a:pPr>
            <a:r>
              <a:rPr lang="en-US" sz="660" dirty="0">
                <a:solidFill>
                  <a:srgbClr val="64748B"/>
                </a:solidFill>
                <a:latin typeface="Aptos" pitchFamily="34" charset="0"/>
                <a:ea typeface="Aptos" pitchFamily="34" charset="-122"/>
                <a:cs typeface="Aptos" pitchFamily="34" charset="-120"/>
              </a:rPr>
              <a:t>Rydberg sensing | SET HDR Conference</a:t>
            </a:r>
            <a:endParaRPr lang="en-US" sz="660" dirty="0"/>
          </a:p>
        </p:txBody>
      </p:sp>
      <p:sp>
        <p:nvSpPr>
          <p:cNvPr id="7" name="Text 5">
            <a:extLst>
              <a:ext uri="{FF2B5EF4-FFF2-40B4-BE49-F238E27FC236}">
                <a16:creationId xmlns:a16="http://schemas.microsoft.com/office/drawing/2014/main" id="{4751D90E-0768-0984-4E33-E58472188F5D}"/>
              </a:ext>
            </a:extLst>
          </p:cNvPr>
          <p:cNvSpPr/>
          <p:nvPr/>
        </p:nvSpPr>
        <p:spPr>
          <a:xfrm>
            <a:off x="11292840" y="6583680"/>
            <a:ext cx="457200" cy="164592"/>
          </a:xfrm>
          <a:prstGeom prst="rect">
            <a:avLst/>
          </a:prstGeom>
          <a:noFill/>
          <a:ln/>
        </p:spPr>
        <p:txBody>
          <a:bodyPr wrap="square" lIns="0" tIns="0" rIns="0" bIns="0" rtlCol="0" anchor="ctr"/>
          <a:lstStyle/>
          <a:p>
            <a:pPr marL="0" indent="0" algn="r">
              <a:buNone/>
            </a:pPr>
            <a:r>
              <a:rPr lang="en-US" sz="660" dirty="0">
                <a:solidFill>
                  <a:srgbClr val="64748B"/>
                </a:solidFill>
                <a:latin typeface="Aptos" pitchFamily="34" charset="0"/>
                <a:ea typeface="Aptos" pitchFamily="34" charset="-122"/>
                <a:cs typeface="Aptos" pitchFamily="34" charset="-120"/>
              </a:rPr>
              <a:t>A8</a:t>
            </a:r>
            <a:endParaRPr lang="en-US" sz="660" dirty="0"/>
          </a:p>
        </p:txBody>
      </p:sp>
      <p:sp>
        <p:nvSpPr>
          <p:cNvPr id="14" name="Text 0">
            <a:extLst>
              <a:ext uri="{FF2B5EF4-FFF2-40B4-BE49-F238E27FC236}">
                <a16:creationId xmlns:a16="http://schemas.microsoft.com/office/drawing/2014/main" id="{E44F9C7C-B9C9-A3DD-1D84-68931526CBE4}"/>
              </a:ext>
            </a:extLst>
          </p:cNvPr>
          <p:cNvSpPr/>
          <p:nvPr/>
        </p:nvSpPr>
        <p:spPr>
          <a:xfrm>
            <a:off x="609600" y="630936"/>
            <a:ext cx="3200400" cy="20116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b="1" dirty="0">
                <a:solidFill>
                  <a:srgbClr val="0F766E"/>
                </a:solidFill>
                <a:latin typeface="Aptos"/>
              </a:rPr>
              <a:t>APPENDIX</a:t>
            </a:r>
            <a:endParaRPr lang="en-US" sz="1050" dirty="0"/>
          </a:p>
        </p:txBody>
      </p:sp>
      <p:sp>
        <p:nvSpPr>
          <p:cNvPr id="15" name="Text 1">
            <a:extLst>
              <a:ext uri="{FF2B5EF4-FFF2-40B4-BE49-F238E27FC236}">
                <a16:creationId xmlns:a16="http://schemas.microsoft.com/office/drawing/2014/main" id="{271FD6EB-3F3E-87CA-B7BB-83A05500E141}"/>
              </a:ext>
            </a:extLst>
          </p:cNvPr>
          <p:cNvSpPr/>
          <p:nvPr/>
        </p:nvSpPr>
        <p:spPr>
          <a:xfrm>
            <a:off x="609600" y="777240"/>
            <a:ext cx="8138160" cy="4114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b="1" dirty="0">
                <a:solidFill>
                  <a:srgbClr val="0F172A"/>
                </a:solidFill>
                <a:latin typeface="Aptos Display" pitchFamily="34" charset="0"/>
              </a:rPr>
              <a:t>Magnetic experiments with Rydberg</a:t>
            </a:r>
            <a:endParaRPr lang="en-US" sz="2400" dirty="0"/>
          </a:p>
        </p:txBody>
      </p:sp>
      <p:pic>
        <p:nvPicPr>
          <p:cNvPr id="3" name="Picture 2">
            <a:extLst>
              <a:ext uri="{FF2B5EF4-FFF2-40B4-BE49-F238E27FC236}">
                <a16:creationId xmlns:a16="http://schemas.microsoft.com/office/drawing/2014/main" id="{212B5DD6-DB91-B2B9-AE56-7EF7BD224A47}"/>
              </a:ext>
            </a:extLst>
          </p:cNvPr>
          <p:cNvPicPr>
            <a:picLocks noChangeAspect="1"/>
          </p:cNvPicPr>
          <p:nvPr/>
        </p:nvPicPr>
        <p:blipFill>
          <a:blip r:embed="rId3"/>
          <a:stretch>
            <a:fillRect/>
          </a:stretch>
        </p:blipFill>
        <p:spPr>
          <a:xfrm>
            <a:off x="3871912" y="1659977"/>
            <a:ext cx="4448175" cy="3543300"/>
          </a:xfrm>
          <a:prstGeom prst="rect">
            <a:avLst/>
          </a:prstGeom>
        </p:spPr>
      </p:pic>
    </p:spTree>
    <p:extLst>
      <p:ext uri="{BB962C8B-B14F-4D97-AF65-F5344CB8AC3E}">
        <p14:creationId xmlns:p14="http://schemas.microsoft.com/office/powerpoint/2010/main" val="3378567626"/>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1343</TotalTime>
  <Words>6202</Words>
  <Application>Microsoft Office PowerPoint</Application>
  <PresentationFormat>Widescreen</PresentationFormat>
  <Paragraphs>532</Paragraphs>
  <Slides>32</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Aptos</vt:lpstr>
      <vt:lpstr>Aptos Display</vt:lpstr>
      <vt:lpstr>Arial</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UNSW Canberra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Magnetically Biased Rydberg Microwave Receiver for Polarisation Estimation</dc:title>
  <dc:subject>Rydberg microwave polarimetry SET HDR Conference</dc:subject>
  <dc:creator>Ryan Verghese / OpenAI</dc:creator>
  <cp:lastModifiedBy>Ryan Verghese</cp:lastModifiedBy>
  <cp:revision>43</cp:revision>
  <dcterms:created xsi:type="dcterms:W3CDTF">2026-08-31T03:28:33Z</dcterms:created>
  <dcterms:modified xsi:type="dcterms:W3CDTF">2026-09-24T22:10:48Z</dcterms:modified>
</cp:coreProperties>
</file>