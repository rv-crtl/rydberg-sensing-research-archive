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60" r:id="rId4"/>
    <p:sldId id="293" r:id="rId5"/>
    <p:sldId id="265" r:id="rId6"/>
    <p:sldId id="281" r:id="rId7"/>
    <p:sldId id="296" r:id="rId8"/>
    <p:sldId id="277" r:id="rId9"/>
    <p:sldId id="264" r:id="rId10"/>
    <p:sldId id="282" r:id="rId11"/>
    <p:sldId id="285" r:id="rId12"/>
    <p:sldId id="292" r:id="rId13"/>
    <p:sldId id="286" r:id="rId14"/>
    <p:sldId id="287" r:id="rId15"/>
    <p:sldId id="278" r:id="rId16"/>
    <p:sldId id="294" r:id="rId17"/>
    <p:sldId id="283" r:id="rId18"/>
    <p:sldId id="280" r:id="rId19"/>
    <p:sldId id="279" r:id="rId20"/>
    <p:sldId id="259" r:id="rId21"/>
    <p:sldId id="269" r:id="rId22"/>
    <p:sldId id="270" r:id="rId23"/>
    <p:sldId id="271" r:id="rId24"/>
    <p:sldId id="261" r:id="rId25"/>
    <p:sldId id="272" r:id="rId26"/>
    <p:sldId id="273" r:id="rId27"/>
    <p:sldId id="274" r:id="rId28"/>
    <p:sldId id="263" r:id="rId29"/>
    <p:sldId id="268" r:id="rId30"/>
    <p:sldId id="262" r:id="rId31"/>
    <p:sldId id="284" r:id="rId32"/>
    <p:sldId id="289" r:id="rId33"/>
    <p:sldId id="290" r:id="rId34"/>
    <p:sldId id="291" r:id="rId35"/>
    <p:sldId id="288" r:id="rId36"/>
    <p:sldId id="29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2E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45" d="100"/>
          <a:sy n="45" d="100"/>
        </p:scale>
        <p:origin x="5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DE874-0539-36C3-B685-9DB7F31A64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5E6108-EE64-E01C-71DF-0E1145CCFF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FD609-84C3-0345-B9DE-3930F4417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811D4-EAE9-4F59-9068-9EFBE24BAF89}" type="datetimeFigureOut">
              <a:rPr lang="en-AU" smtClean="0"/>
              <a:t>1/10/2026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511B9-A008-D766-D12F-CF227AD35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0490C-B4B6-C581-74A5-33E2EDD85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9AD8-D14C-40C1-901B-F121AD6B7A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612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2A5E3-3985-5DBE-064B-90ECD1D32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4B153-EFED-ADA6-36FA-B1D41353D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D9240-8828-2372-DD53-2EF6D07CA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811D4-EAE9-4F59-9068-9EFBE24BAF89}" type="datetimeFigureOut">
              <a:rPr lang="en-AU" smtClean="0"/>
              <a:t>1/10/2026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CA423-315C-5CBC-4877-7195227FE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629E0-E5EB-01BC-883A-5109F2D54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9AD8-D14C-40C1-901B-F121AD6B7A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4473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01065-B11E-9BDA-D36B-1177982BD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14B9B-C1A6-A7BB-29F0-35C94B289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9C419-574F-1E77-41D3-222C60CF4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811D4-EAE9-4F59-9068-9EFBE24BAF89}" type="datetimeFigureOut">
              <a:rPr lang="en-AU" smtClean="0"/>
              <a:t>1/10/2026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A4F80-D6E6-F8F3-0594-8938D566B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78E7A-52CD-967A-310E-58C1AD7DA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9AD8-D14C-40C1-901B-F121AD6B7A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5181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305D6-9C2F-7C3C-6325-2CEB07A99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7C9E9-4701-ED24-BDD6-4F289AD38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9C1D83-B7B5-B36B-7F43-E86210FBF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3ACC5-407D-3571-91ED-E06EF764E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811D4-EAE9-4F59-9068-9EFBE24BAF89}" type="datetimeFigureOut">
              <a:rPr lang="en-AU" smtClean="0"/>
              <a:t>1/10/2026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E49711-739C-CC13-A0AF-F4EF39772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98D1D-DFF6-A040-93B5-25BE9811E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9AD8-D14C-40C1-901B-F121AD6B7A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3446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EF80B-FB0A-3516-9AE6-9B7319AFA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F1989-3E25-33D1-8EEE-A1B638250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681D6-2748-844B-AFD2-36AC0B39A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3B3750-F751-03F6-5F98-45A4EB6170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A398DF-77E6-723B-1F79-E1257C3A29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5457BC-EE08-82F7-A2DA-D98995A23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811D4-EAE9-4F59-9068-9EFBE24BAF89}" type="datetimeFigureOut">
              <a:rPr lang="en-AU" smtClean="0"/>
              <a:t>1/10/2026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53A30B-D454-828D-12D5-2B288FA5D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E965DE-09C8-E6AE-39AF-1BB63AB8F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9AD8-D14C-40C1-901B-F121AD6B7A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6097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2DAEF-93AF-32D4-0764-16574AE7A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F61166-ECB4-C940-0893-01C298BF7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811D4-EAE9-4F59-9068-9EFBE24BAF89}" type="datetimeFigureOut">
              <a:rPr lang="en-AU" smtClean="0"/>
              <a:t>1/10/2026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637A9-E7F0-FDA8-632D-A30410645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E8FA9-CAD7-7961-1301-B71C4896B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9AD8-D14C-40C1-901B-F121AD6B7A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1859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CA423E-1B38-8396-4368-343AB832D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811D4-EAE9-4F59-9068-9EFBE24BAF89}" type="datetimeFigureOut">
              <a:rPr lang="en-AU" smtClean="0"/>
              <a:t>1/10/2026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380D04-1E4D-0165-A201-1EDC200C7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A17D4-621D-DE33-ED03-1EFD8A0F1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9AD8-D14C-40C1-901B-F121AD6B7A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5229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FC3F-109C-BB6E-3B49-78CFFCE25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AB92E-B317-6E72-4A8E-995C297CB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7FF8C-BA94-119C-99C9-52A857F73E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353CC-25B4-AB7B-5D78-F6AADDA20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811D4-EAE9-4F59-9068-9EFBE24BAF89}" type="datetimeFigureOut">
              <a:rPr lang="en-AU" smtClean="0"/>
              <a:t>1/10/2026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A76610-6CAE-8023-B909-420857800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8496F-CDCF-E51C-C1E9-021D2410E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9AD8-D14C-40C1-901B-F121AD6B7A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1404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CE5B8-A304-0A5F-880C-B27175E94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627CA4-AEBD-08F4-276B-161EFF281C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C07A92-3469-B2DA-B95C-CFD078FDE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8F1F83-2F7A-E270-5158-C26CA8AD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811D4-EAE9-4F59-9068-9EFBE24BAF89}" type="datetimeFigureOut">
              <a:rPr lang="en-AU" smtClean="0"/>
              <a:t>1/10/2026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303EE2-C425-C4A7-9212-FAF57EC4B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7549E-AA71-2C71-2392-7EEEBB6EF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9AD8-D14C-40C1-901B-F121AD6B7A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6581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704E4-9E65-E35C-D9DC-341667172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2859C4-A1EE-A717-B269-46FEB74E0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D4A7C-6C42-131A-AFA5-69EA5529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811D4-EAE9-4F59-9068-9EFBE24BAF89}" type="datetimeFigureOut">
              <a:rPr lang="en-AU" smtClean="0"/>
              <a:t>1/10/2026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0784E-066A-4388-7422-520E18388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DCE6B-FB40-6030-1394-4CA747865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9AD8-D14C-40C1-901B-F121AD6B7A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4058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86D939-6DF0-175B-6FE6-96391C84E6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681ED1-5608-7C21-064D-50B29F9F3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2F122-9F89-AA70-5A36-D55A83A3D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811D4-EAE9-4F59-9068-9EFBE24BAF89}" type="datetimeFigureOut">
              <a:rPr lang="en-AU" smtClean="0"/>
              <a:t>1/10/2026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7FD3F-6763-2C8E-D1DB-BDF398C0B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65F85-227D-7089-682B-C81A64770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9AD8-D14C-40C1-901B-F121AD6B7A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9806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37B9A8-EC59-CFE4-3BC8-AE18473C2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03C3-2EE6-E71C-56FC-EBD066155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37B69-0894-9BAB-94F5-0F02E62251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7811D4-EAE9-4F59-9068-9EFBE24BAF89}" type="datetimeFigureOut">
              <a:rPr lang="en-AU" smtClean="0"/>
              <a:t>1/10/2026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62E9F-75B5-3A09-426E-EB45F598C1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DB469-543C-9962-2329-FD3042FB3E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89AD8-D14C-40C1-901B-F121AD6B7A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5749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6B4DB-2B3F-F5B2-B3A4-1729E27F0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Portable Rydberg System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5456FF-7D99-E319-C671-92BE8BFF8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87775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dirty="0"/>
              <a:t>Haroldo T. Hattori</a:t>
            </a:r>
          </a:p>
          <a:p>
            <a:r>
              <a:rPr lang="en-US" sz="3200"/>
              <a:t>01 October </a:t>
            </a:r>
            <a:r>
              <a:rPr lang="en-US" sz="3200" dirty="0"/>
              <a:t>2026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862915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180DE06-7362-4888-AADA-7AADD57AC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0E2CF5-BD82-450A-D4F1-54730831B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050" y="679730"/>
            <a:ext cx="3102328" cy="393272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Original setup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2218698" y="2733627"/>
            <a:ext cx="1340409" cy="5777807"/>
            <a:chOff x="329184" y="2"/>
            <a:chExt cx="524256" cy="577780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2"/>
              <a:ext cx="524256" cy="566677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23" y="372533"/>
            <a:ext cx="6116779" cy="606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0988CF-C0A4-F21C-7900-DAEE02B4A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10785" y="152400"/>
            <a:ext cx="6183239" cy="652887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01433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0A96C-3E00-1EE8-1B81-4F9AF86D0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B1EC6-A377-9190-9410-7E8346768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677" y="268394"/>
            <a:ext cx="10515600" cy="1325563"/>
          </a:xfrm>
        </p:spPr>
        <p:txBody>
          <a:bodyPr/>
          <a:lstStyle/>
          <a:p>
            <a:r>
              <a:rPr lang="en-US" dirty="0"/>
              <a:t>1.1 Oversimplified scheme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0E6876-1120-7DE9-82F6-41C13C77D802}"/>
              </a:ext>
            </a:extLst>
          </p:cNvPr>
          <p:cNvSpPr txBox="1"/>
          <p:nvPr/>
        </p:nvSpPr>
        <p:spPr>
          <a:xfrm>
            <a:off x="153994" y="2475971"/>
            <a:ext cx="1921933" cy="1569660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err="1"/>
              <a:t>DLPro</a:t>
            </a:r>
            <a:r>
              <a:rPr lang="en-US" sz="2400" dirty="0"/>
              <a:t> 780 nm </a:t>
            </a:r>
          </a:p>
          <a:p>
            <a:endParaRPr lang="en-US" sz="2400" dirty="0"/>
          </a:p>
          <a:p>
            <a:endParaRPr lang="en-A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C179F1-FB11-8313-4DEF-6FB65470F4B8}"/>
              </a:ext>
            </a:extLst>
          </p:cNvPr>
          <p:cNvSpPr txBox="1"/>
          <p:nvPr/>
        </p:nvSpPr>
        <p:spPr>
          <a:xfrm>
            <a:off x="2631016" y="2106639"/>
            <a:ext cx="1921933" cy="2308324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err="1"/>
              <a:t>Fiberport</a:t>
            </a:r>
            <a:r>
              <a:rPr lang="en-US" sz="2400" dirty="0"/>
              <a:t> couple into fiber + fiber collimator</a:t>
            </a:r>
          </a:p>
          <a:p>
            <a:endParaRPr lang="en-US" sz="2400" dirty="0"/>
          </a:p>
          <a:p>
            <a:endParaRPr lang="en-AU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2966A5-FFCA-D76A-0231-85A2A29D83C8}"/>
              </a:ext>
            </a:extLst>
          </p:cNvPr>
          <p:cNvSpPr txBox="1"/>
          <p:nvPr/>
        </p:nvSpPr>
        <p:spPr>
          <a:xfrm>
            <a:off x="5148803" y="2501748"/>
            <a:ext cx="1857349" cy="1569660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Rubidium</a:t>
            </a:r>
          </a:p>
          <a:p>
            <a:r>
              <a:rPr lang="en-US" sz="2400" dirty="0"/>
              <a:t>cell</a:t>
            </a:r>
          </a:p>
          <a:p>
            <a:endParaRPr lang="en-US" sz="2400" dirty="0"/>
          </a:p>
          <a:p>
            <a:endParaRPr lang="en-AU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B2DF55-8EFA-7D4A-4839-84D9FA4647FF}"/>
              </a:ext>
            </a:extLst>
          </p:cNvPr>
          <p:cNvSpPr txBox="1"/>
          <p:nvPr/>
        </p:nvSpPr>
        <p:spPr>
          <a:xfrm>
            <a:off x="10092254" y="3867806"/>
            <a:ext cx="1921933" cy="1938992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Photodetectors and amplifiers</a:t>
            </a:r>
          </a:p>
          <a:p>
            <a:endParaRPr lang="en-US" sz="2400" dirty="0"/>
          </a:p>
          <a:p>
            <a:endParaRPr lang="en-AU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5BAE59-8AD6-0697-B5D8-F95B9FFA0819}"/>
              </a:ext>
            </a:extLst>
          </p:cNvPr>
          <p:cNvSpPr txBox="1"/>
          <p:nvPr/>
        </p:nvSpPr>
        <p:spPr>
          <a:xfrm>
            <a:off x="7602006" y="2501748"/>
            <a:ext cx="1921933" cy="1938992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Fiber </a:t>
            </a:r>
            <a:r>
              <a:rPr lang="en-US" sz="2400" dirty="0" err="1"/>
              <a:t>collimator+fiber</a:t>
            </a:r>
            <a:endParaRPr lang="en-US" sz="2400" dirty="0"/>
          </a:p>
          <a:p>
            <a:endParaRPr lang="en-US" sz="2400" dirty="0"/>
          </a:p>
          <a:p>
            <a:endParaRPr lang="en-AU" sz="24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8903B7-470D-99DA-3564-DC958F646FEB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075927" y="3260801"/>
            <a:ext cx="555089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2D74868-C3C5-DB85-9793-1A7697DE66E1}"/>
              </a:ext>
            </a:extLst>
          </p:cNvPr>
          <p:cNvCxnSpPr>
            <a:cxnSpLocks/>
          </p:cNvCxnSpPr>
          <p:nvPr/>
        </p:nvCxnSpPr>
        <p:spPr>
          <a:xfrm>
            <a:off x="4561422" y="3226234"/>
            <a:ext cx="587381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09EA6B4-5DEC-242E-151D-D1D3F4B4DFE6}"/>
              </a:ext>
            </a:extLst>
          </p:cNvPr>
          <p:cNvCxnSpPr>
            <a:cxnSpLocks/>
          </p:cNvCxnSpPr>
          <p:nvPr/>
        </p:nvCxnSpPr>
        <p:spPr>
          <a:xfrm>
            <a:off x="7006152" y="3260801"/>
            <a:ext cx="587381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D0029E3-02D5-BDCB-E1F5-07969FDF0FF0}"/>
              </a:ext>
            </a:extLst>
          </p:cNvPr>
          <p:cNvCxnSpPr>
            <a:cxnSpLocks/>
          </p:cNvCxnSpPr>
          <p:nvPr/>
        </p:nvCxnSpPr>
        <p:spPr>
          <a:xfrm>
            <a:off x="8558213" y="4835790"/>
            <a:ext cx="1553107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5A68460-D051-05CB-3A4D-E32B8C6FD75C}"/>
              </a:ext>
            </a:extLst>
          </p:cNvPr>
          <p:cNvCxnSpPr>
            <a:stCxn id="12" idx="2"/>
          </p:cNvCxnSpPr>
          <p:nvPr/>
        </p:nvCxnSpPr>
        <p:spPr>
          <a:xfrm flipH="1">
            <a:off x="8558213" y="4440740"/>
            <a:ext cx="4760" cy="395050"/>
          </a:xfrm>
          <a:prstGeom prst="line">
            <a:avLst/>
          </a:prstGeom>
          <a:ln w="635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455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55CF1-9642-085B-EE35-7CCEF44E8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94B76-3B8F-01A0-CC03-FC0ECE9C5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After purchase 1 if 10 GHz photoreceiver works</a:t>
            </a:r>
          </a:p>
          <a:p>
            <a:pPr marL="514350" indent="-514350">
              <a:buAutoNum type="arabicPeriod"/>
            </a:pPr>
            <a:r>
              <a:rPr lang="en-US" dirty="0"/>
              <a:t>Otherwise, must wait until purchase 3 is fulfilled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90913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41754-C2FA-15B6-95FC-BA6DE7F7A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BAEA3-C118-7631-170A-402943270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Additional equipment needed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604BE-4B9C-2CED-E506-9E3CD12A8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1739"/>
            <a:ext cx="10515600" cy="4351338"/>
          </a:xfrm>
        </p:spPr>
        <p:txBody>
          <a:bodyPr/>
          <a:lstStyle/>
          <a:p>
            <a:r>
              <a:rPr lang="en-AU" dirty="0" err="1"/>
              <a:t>Toptica</a:t>
            </a:r>
            <a:r>
              <a:rPr lang="en-AU" dirty="0"/>
              <a:t> FOC-MM-780-FCPC</a:t>
            </a:r>
          </a:p>
          <a:p>
            <a:pPr marL="0" indent="0">
              <a:buNone/>
            </a:pPr>
            <a:r>
              <a:rPr lang="en-AU" dirty="0"/>
              <a:t>    Price:</a:t>
            </a:r>
          </a:p>
          <a:p>
            <a:pPr marL="0" indent="0">
              <a:buNone/>
            </a:pPr>
            <a:r>
              <a:rPr lang="en-AU" dirty="0"/>
              <a:t>    or</a:t>
            </a:r>
          </a:p>
          <a:p>
            <a:pPr marL="0" indent="0">
              <a:buNone/>
            </a:pPr>
            <a:r>
              <a:rPr lang="en-AU" dirty="0"/>
              <a:t>*  PAF 2P- 11B (</a:t>
            </a:r>
            <a:r>
              <a:rPr lang="en-AU" dirty="0" err="1"/>
              <a:t>fiberport</a:t>
            </a:r>
            <a:r>
              <a:rPr lang="en-AU" dirty="0"/>
              <a:t>) =&gt; 689.30 USD</a:t>
            </a:r>
          </a:p>
          <a:p>
            <a:r>
              <a:rPr lang="en-AU" dirty="0">
                <a:solidFill>
                  <a:srgbClr val="FFC000"/>
                </a:solidFill>
              </a:rPr>
              <a:t>CFC8-B</a:t>
            </a:r>
            <a:r>
              <a:rPr lang="en-AU" dirty="0"/>
              <a:t> or </a:t>
            </a:r>
            <a:r>
              <a:rPr lang="en-AU" b="1" u="sng" dirty="0"/>
              <a:t>CFC11P-B (preferrable)</a:t>
            </a:r>
            <a:r>
              <a:rPr lang="en-AU" dirty="0"/>
              <a:t>  (780 nm) – Two (one to collimate and another to collect)</a:t>
            </a:r>
          </a:p>
          <a:p>
            <a:pPr marL="0" indent="0">
              <a:buNone/>
            </a:pPr>
            <a:r>
              <a:rPr lang="en-AU" dirty="0"/>
              <a:t>    Price:338.29 USD each=&gt; 676.5 USD + posting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65216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55322-C198-CA5B-E608-A08A052F5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07B6E-69CA-76BA-0A36-D857BEFAD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Purchase a new DET025AFC 2 GHz Si FC/PC coupled photodetector 400-1100 nm 359.72 USD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29615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C5B6B-1BE5-F0E4-4614-822F67893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results 30 September 2026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840F7-245F-52B3-18D5-8B61CB8B4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Fibeport</a:t>
            </a:r>
            <a:r>
              <a:rPr lang="en-US" dirty="0"/>
              <a:t>: Input 6.7 </a:t>
            </a:r>
            <a:r>
              <a:rPr lang="en-US" dirty="0" err="1"/>
              <a:t>mW</a:t>
            </a:r>
            <a:r>
              <a:rPr lang="en-US" dirty="0"/>
              <a:t> and 6 </a:t>
            </a:r>
            <a:r>
              <a:rPr lang="en-US" dirty="0" err="1"/>
              <a:t>mW</a:t>
            </a:r>
            <a:r>
              <a:rPr lang="en-US" dirty="0"/>
              <a:t> coupled through </a:t>
            </a:r>
            <a:r>
              <a:rPr lang="en-US" dirty="0" err="1"/>
              <a:t>fibeport</a:t>
            </a:r>
            <a:r>
              <a:rPr lang="en-US" dirty="0"/>
              <a:t> ~89.6% efficiency</a:t>
            </a:r>
          </a:p>
          <a:p>
            <a:endParaRPr lang="en-US" dirty="0"/>
          </a:p>
          <a:p>
            <a:r>
              <a:rPr lang="en-US" dirty="0"/>
              <a:t>400 </a:t>
            </a:r>
            <a:r>
              <a:rPr lang="en-US" dirty="0" err="1"/>
              <a:t>uW</a:t>
            </a:r>
            <a:r>
              <a:rPr lang="en-US" dirty="0"/>
              <a:t> coupling </a:t>
            </a:r>
            <a:r>
              <a:rPr lang="en-US"/>
              <a:t>after rubidium cell: </a:t>
            </a:r>
            <a:r>
              <a:rPr lang="en-US" dirty="0"/>
              <a:t>6</a:t>
            </a:r>
            <a:r>
              <a:rPr lang="en-US"/>
              <a:t>% efficiency.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63865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9195E-B63A-0AD2-3551-080BC0875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7F22A-A628-6D14-10CA-B4BF34C99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1.2 Oversimplified scheme </a:t>
            </a:r>
            <a:r>
              <a:rPr lang="en-US" dirty="0">
                <a:solidFill>
                  <a:srgbClr val="FF0000"/>
                </a:solidFill>
              </a:rPr>
              <a:t>HALT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B058A5-53B8-68F5-22F5-66509A59D984}"/>
              </a:ext>
            </a:extLst>
          </p:cNvPr>
          <p:cNvSpPr txBox="1"/>
          <p:nvPr/>
        </p:nvSpPr>
        <p:spPr>
          <a:xfrm>
            <a:off x="177813" y="2478409"/>
            <a:ext cx="1921933" cy="1569660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780 nm DBR laser</a:t>
            </a:r>
          </a:p>
          <a:p>
            <a:endParaRPr lang="en-US" sz="2400" dirty="0"/>
          </a:p>
          <a:p>
            <a:endParaRPr lang="en-A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9A99CF-2E9F-90E8-F9FE-6105328EC84E}"/>
              </a:ext>
            </a:extLst>
          </p:cNvPr>
          <p:cNvSpPr txBox="1"/>
          <p:nvPr/>
        </p:nvSpPr>
        <p:spPr>
          <a:xfrm>
            <a:off x="2631016" y="2106639"/>
            <a:ext cx="1921933" cy="2308324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err="1"/>
              <a:t>Fiberport</a:t>
            </a:r>
            <a:r>
              <a:rPr lang="en-US" sz="2400" dirty="0"/>
              <a:t> couple into fiber + fiber collimator</a:t>
            </a:r>
          </a:p>
          <a:p>
            <a:endParaRPr lang="en-US" sz="2400" dirty="0"/>
          </a:p>
          <a:p>
            <a:endParaRPr lang="en-AU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0773D4-947C-450E-3C2A-1880F57AF2DC}"/>
              </a:ext>
            </a:extLst>
          </p:cNvPr>
          <p:cNvSpPr txBox="1"/>
          <p:nvPr/>
        </p:nvSpPr>
        <p:spPr>
          <a:xfrm>
            <a:off x="5148803" y="2501748"/>
            <a:ext cx="1857349" cy="1569660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Rubidium</a:t>
            </a:r>
          </a:p>
          <a:p>
            <a:r>
              <a:rPr lang="en-US" sz="2400" dirty="0"/>
              <a:t>cell</a:t>
            </a:r>
          </a:p>
          <a:p>
            <a:endParaRPr lang="en-US" sz="2400" dirty="0"/>
          </a:p>
          <a:p>
            <a:endParaRPr lang="en-AU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7C0022-5EB9-0D5B-B19F-DAAC5976A5E1}"/>
              </a:ext>
            </a:extLst>
          </p:cNvPr>
          <p:cNvSpPr txBox="1"/>
          <p:nvPr/>
        </p:nvSpPr>
        <p:spPr>
          <a:xfrm>
            <a:off x="10092254" y="3867806"/>
            <a:ext cx="1921933" cy="1938992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Photodetectors and amplifiers</a:t>
            </a:r>
          </a:p>
          <a:p>
            <a:endParaRPr lang="en-US" sz="2400" dirty="0"/>
          </a:p>
          <a:p>
            <a:endParaRPr lang="en-AU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CCC51-C644-8742-05E5-149E7001D01C}"/>
              </a:ext>
            </a:extLst>
          </p:cNvPr>
          <p:cNvSpPr txBox="1"/>
          <p:nvPr/>
        </p:nvSpPr>
        <p:spPr>
          <a:xfrm>
            <a:off x="7602006" y="2501748"/>
            <a:ext cx="1921933" cy="1938992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Fiber </a:t>
            </a:r>
            <a:r>
              <a:rPr lang="en-US" sz="2400" dirty="0" err="1"/>
              <a:t>collimator+fiber</a:t>
            </a:r>
            <a:endParaRPr lang="en-US" sz="2400" dirty="0"/>
          </a:p>
          <a:p>
            <a:endParaRPr lang="en-US" sz="2400" dirty="0"/>
          </a:p>
          <a:p>
            <a:endParaRPr lang="en-AU" sz="24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0C33ACB-58DB-FB3F-4AC8-80BA09EED0DE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2099746" y="3260801"/>
            <a:ext cx="531270" cy="2438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59EB077-5CC2-0123-65DF-A2A1818514BB}"/>
              </a:ext>
            </a:extLst>
          </p:cNvPr>
          <p:cNvCxnSpPr>
            <a:cxnSpLocks/>
          </p:cNvCxnSpPr>
          <p:nvPr/>
        </p:nvCxnSpPr>
        <p:spPr>
          <a:xfrm>
            <a:off x="4561422" y="3226234"/>
            <a:ext cx="587381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5994B48-303B-4C0B-9C82-A5B26435E3E5}"/>
              </a:ext>
            </a:extLst>
          </p:cNvPr>
          <p:cNvCxnSpPr>
            <a:cxnSpLocks/>
          </p:cNvCxnSpPr>
          <p:nvPr/>
        </p:nvCxnSpPr>
        <p:spPr>
          <a:xfrm>
            <a:off x="7006152" y="3260801"/>
            <a:ext cx="587381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9A61D91-4559-7D24-E7C8-E703FA42936E}"/>
              </a:ext>
            </a:extLst>
          </p:cNvPr>
          <p:cNvCxnSpPr>
            <a:cxnSpLocks/>
          </p:cNvCxnSpPr>
          <p:nvPr/>
        </p:nvCxnSpPr>
        <p:spPr>
          <a:xfrm>
            <a:off x="8558213" y="4835790"/>
            <a:ext cx="1553107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5E9D7E-1CFD-630D-EED0-CF7B7AC8C4E3}"/>
              </a:ext>
            </a:extLst>
          </p:cNvPr>
          <p:cNvCxnSpPr>
            <a:stCxn id="12" idx="2"/>
          </p:cNvCxnSpPr>
          <p:nvPr/>
        </p:nvCxnSpPr>
        <p:spPr>
          <a:xfrm flipH="1">
            <a:off x="8558213" y="4440740"/>
            <a:ext cx="4760" cy="395050"/>
          </a:xfrm>
          <a:prstGeom prst="line">
            <a:avLst/>
          </a:prstGeom>
          <a:ln w="635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3175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7C896-786D-1EBE-4376-187626A6E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Additional equipment needed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2F6B82B-5A6D-D1D7-3B8E-44F57FCF6BEF}"/>
              </a:ext>
            </a:extLst>
          </p:cNvPr>
          <p:cNvSpPr txBox="1">
            <a:spLocks/>
          </p:cNvSpPr>
          <p:nvPr/>
        </p:nvSpPr>
        <p:spPr>
          <a:xfrm>
            <a:off x="838200" y="181315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 err="1"/>
              <a:t>Toptica</a:t>
            </a:r>
            <a:r>
              <a:rPr lang="en-AU" dirty="0"/>
              <a:t> FOC-MM-780-FCPC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dirty="0"/>
              <a:t>    Price: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dirty="0"/>
              <a:t>    or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dirty="0"/>
              <a:t>*  PAF 2P- 11B (</a:t>
            </a:r>
            <a:r>
              <a:rPr lang="en-AU" dirty="0" err="1"/>
              <a:t>fiberport</a:t>
            </a:r>
            <a:r>
              <a:rPr lang="en-AU" dirty="0"/>
              <a:t>) =&gt; 689.30 USD</a:t>
            </a:r>
          </a:p>
          <a:p>
            <a:r>
              <a:rPr lang="en-AU" dirty="0">
                <a:solidFill>
                  <a:srgbClr val="FFC000"/>
                </a:solidFill>
              </a:rPr>
              <a:t>CFC8-B</a:t>
            </a:r>
            <a:r>
              <a:rPr lang="en-AU" dirty="0"/>
              <a:t> (780 nm) or CFC11P-B (preferrable)– Two (one to collimate and another to collect)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dirty="0"/>
              <a:t>    Price:338.29 USD each=&gt; 676.5 USD + posting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* Thorlabs </a:t>
            </a:r>
            <a:r>
              <a:rPr lang="en-US" dirty="0"/>
              <a:t>DBR 780 PN- USD 7202.81 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6949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884E2-2B66-D01B-63DE-0912EB556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B0F29-6A61-6EA2-422B-CD12CCEDB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3A8E0-6A84-E6F2-7764-7E0860DA5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Purchase a new DET025AFC 2 GHz Si FC/PC coupled photodetector 400-1100 nm 359.72 USD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03128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B2811-2ACF-A4AE-416A-94F32AAA7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DBCD5-82BF-5CD5-2004-02D954668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 Complete scheme-&gt; Dirty scheme 1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3E6225-3654-8E35-D7CD-6B8EED6B605E}"/>
              </a:ext>
            </a:extLst>
          </p:cNvPr>
          <p:cNvSpPr txBox="1"/>
          <p:nvPr/>
        </p:nvSpPr>
        <p:spPr>
          <a:xfrm>
            <a:off x="121702" y="2475971"/>
            <a:ext cx="1921933" cy="1569660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err="1"/>
              <a:t>DLPro</a:t>
            </a:r>
            <a:r>
              <a:rPr lang="en-US" sz="2400" dirty="0"/>
              <a:t> 780 nm </a:t>
            </a:r>
          </a:p>
          <a:p>
            <a:endParaRPr lang="en-US" sz="2400" dirty="0"/>
          </a:p>
          <a:p>
            <a:endParaRPr lang="en-A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BC081D-F506-9842-B5EC-613B37A9FA2C}"/>
              </a:ext>
            </a:extLst>
          </p:cNvPr>
          <p:cNvSpPr txBox="1"/>
          <p:nvPr/>
        </p:nvSpPr>
        <p:spPr>
          <a:xfrm>
            <a:off x="2631016" y="2106639"/>
            <a:ext cx="1921933" cy="2308324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err="1"/>
              <a:t>Fiberport</a:t>
            </a:r>
            <a:r>
              <a:rPr lang="en-US" sz="2400" dirty="0"/>
              <a:t> couple into fiber + fiber collimator</a:t>
            </a:r>
          </a:p>
          <a:p>
            <a:endParaRPr lang="en-US" sz="2400" dirty="0"/>
          </a:p>
          <a:p>
            <a:endParaRPr lang="en-AU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75BCB4-FF95-FD1B-1A14-FB856124A5B8}"/>
              </a:ext>
            </a:extLst>
          </p:cNvPr>
          <p:cNvSpPr txBox="1"/>
          <p:nvPr/>
        </p:nvSpPr>
        <p:spPr>
          <a:xfrm>
            <a:off x="5148803" y="2501748"/>
            <a:ext cx="1857349" cy="1569660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Rubidium</a:t>
            </a:r>
          </a:p>
          <a:p>
            <a:r>
              <a:rPr lang="en-US" sz="2400" dirty="0"/>
              <a:t>cell</a:t>
            </a:r>
          </a:p>
          <a:p>
            <a:endParaRPr lang="en-US" sz="2400" dirty="0"/>
          </a:p>
          <a:p>
            <a:endParaRPr lang="en-AU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BA2BAF-30F8-E640-58E6-922A578DDD2E}"/>
              </a:ext>
            </a:extLst>
          </p:cNvPr>
          <p:cNvSpPr txBox="1"/>
          <p:nvPr/>
        </p:nvSpPr>
        <p:spPr>
          <a:xfrm>
            <a:off x="10270067" y="2256738"/>
            <a:ext cx="1921933" cy="1938992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Photodetectors and amplifiers</a:t>
            </a:r>
          </a:p>
          <a:p>
            <a:endParaRPr lang="en-US" sz="2400" dirty="0"/>
          </a:p>
          <a:p>
            <a:endParaRPr lang="en-AU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E9B242-057C-3DF8-2DB9-096E649FE600}"/>
              </a:ext>
            </a:extLst>
          </p:cNvPr>
          <p:cNvSpPr txBox="1"/>
          <p:nvPr/>
        </p:nvSpPr>
        <p:spPr>
          <a:xfrm>
            <a:off x="7602006" y="2501748"/>
            <a:ext cx="1921933" cy="1938992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Fiber </a:t>
            </a:r>
            <a:r>
              <a:rPr lang="en-US" sz="2400" dirty="0" err="1"/>
              <a:t>collimator+fiber</a:t>
            </a:r>
            <a:endParaRPr lang="en-US" sz="2400" dirty="0"/>
          </a:p>
          <a:p>
            <a:endParaRPr lang="en-US" sz="2400" dirty="0"/>
          </a:p>
          <a:p>
            <a:endParaRPr lang="en-AU" sz="24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ADA34B1-AE0B-8532-882E-B06BA122608F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043635" y="3260801"/>
            <a:ext cx="587381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AEB00E1-97C5-98CB-B0AA-AA061E6B44D7}"/>
              </a:ext>
            </a:extLst>
          </p:cNvPr>
          <p:cNvCxnSpPr>
            <a:cxnSpLocks/>
          </p:cNvCxnSpPr>
          <p:nvPr/>
        </p:nvCxnSpPr>
        <p:spPr>
          <a:xfrm>
            <a:off x="4561422" y="3226234"/>
            <a:ext cx="587381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6E08036-DA53-93B8-6631-171A26CBFF70}"/>
              </a:ext>
            </a:extLst>
          </p:cNvPr>
          <p:cNvCxnSpPr>
            <a:cxnSpLocks/>
          </p:cNvCxnSpPr>
          <p:nvPr/>
        </p:nvCxnSpPr>
        <p:spPr>
          <a:xfrm>
            <a:off x="7006152" y="3260801"/>
            <a:ext cx="587381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1922BD7-B959-8CAC-3545-FDEED8BA06E8}"/>
              </a:ext>
            </a:extLst>
          </p:cNvPr>
          <p:cNvCxnSpPr>
            <a:cxnSpLocks/>
          </p:cNvCxnSpPr>
          <p:nvPr/>
        </p:nvCxnSpPr>
        <p:spPr>
          <a:xfrm flipV="1">
            <a:off x="9523939" y="3260801"/>
            <a:ext cx="746128" cy="25777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455000-ADEE-7F82-EB04-6529B28CDD55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8562973" y="4440740"/>
            <a:ext cx="0" cy="811060"/>
          </a:xfrm>
          <a:prstGeom prst="line">
            <a:avLst/>
          </a:prstGeom>
          <a:ln w="63500"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0C9565D-2B05-2AC0-76A4-70C5FEC7E84C}"/>
              </a:ext>
            </a:extLst>
          </p:cNvPr>
          <p:cNvSpPr txBox="1"/>
          <p:nvPr/>
        </p:nvSpPr>
        <p:spPr>
          <a:xfrm>
            <a:off x="9976904" y="5199793"/>
            <a:ext cx="1921933" cy="1569660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480 nm </a:t>
            </a:r>
            <a:r>
              <a:rPr lang="en-US" sz="2400" dirty="0" err="1"/>
              <a:t>DLPro</a:t>
            </a:r>
            <a:r>
              <a:rPr lang="en-US" sz="2400" dirty="0"/>
              <a:t> laser</a:t>
            </a:r>
          </a:p>
          <a:p>
            <a:endParaRPr lang="en-US" sz="2400" dirty="0"/>
          </a:p>
          <a:p>
            <a:endParaRPr lang="en-AU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27D1C3-C2C5-0926-90F6-4DE9AD85B010}"/>
              </a:ext>
            </a:extLst>
          </p:cNvPr>
          <p:cNvSpPr txBox="1"/>
          <p:nvPr/>
        </p:nvSpPr>
        <p:spPr>
          <a:xfrm>
            <a:off x="6077477" y="5251800"/>
            <a:ext cx="3405696" cy="1200329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Fiber </a:t>
            </a:r>
            <a:r>
              <a:rPr lang="en-US" sz="2400" dirty="0" err="1"/>
              <a:t>collimator+fiber</a:t>
            </a:r>
            <a:endParaRPr lang="en-US" sz="2400" dirty="0"/>
          </a:p>
          <a:p>
            <a:endParaRPr lang="en-US" sz="2400" dirty="0"/>
          </a:p>
          <a:p>
            <a:endParaRPr lang="en-AU" sz="24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1988188-5B4B-BCA3-6ADD-C7E81D546BDA}"/>
              </a:ext>
            </a:extLst>
          </p:cNvPr>
          <p:cNvCxnSpPr>
            <a:stCxn id="5" idx="1"/>
          </p:cNvCxnSpPr>
          <p:nvPr/>
        </p:nvCxnSpPr>
        <p:spPr>
          <a:xfrm flipH="1">
            <a:off x="9523939" y="5984623"/>
            <a:ext cx="452965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8094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A8658-A121-6FAC-8A78-D5AC6C07F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05B75-0081-C798-306A-918B86108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After purchase 1 if 10 GHz photoreceiver works</a:t>
            </a:r>
          </a:p>
          <a:p>
            <a:pPr marL="514350" indent="-514350">
              <a:buAutoNum type="arabicPeriod"/>
            </a:pPr>
            <a:r>
              <a:rPr lang="en-US" dirty="0"/>
              <a:t>Otherwise, must wait until purchase 3 is fulfilled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66648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0DFF5-0F3C-CF03-B54C-2BE18229D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D9594-B5BB-1DFF-9F89-A613FECF4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Additional equipment needed- 780 branch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AAFCA-8391-5BC4-9E48-05D30DA2D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1739"/>
            <a:ext cx="10515600" cy="4351338"/>
          </a:xfrm>
        </p:spPr>
        <p:txBody>
          <a:bodyPr/>
          <a:lstStyle/>
          <a:p>
            <a:r>
              <a:rPr lang="en-AU" dirty="0" err="1"/>
              <a:t>Toptica</a:t>
            </a:r>
            <a:r>
              <a:rPr lang="en-AU" dirty="0"/>
              <a:t> FOC-MM-780-FCPC</a:t>
            </a:r>
          </a:p>
          <a:p>
            <a:pPr marL="0" indent="0">
              <a:buNone/>
            </a:pPr>
            <a:r>
              <a:rPr lang="en-AU" dirty="0"/>
              <a:t>    Price:</a:t>
            </a:r>
          </a:p>
          <a:p>
            <a:pPr marL="0" indent="0">
              <a:buNone/>
            </a:pPr>
            <a:r>
              <a:rPr lang="en-AU" dirty="0"/>
              <a:t>    or</a:t>
            </a:r>
          </a:p>
          <a:p>
            <a:pPr marL="0" indent="0">
              <a:buNone/>
            </a:pPr>
            <a:r>
              <a:rPr lang="en-AU" dirty="0"/>
              <a:t>*  PAF 2P- 11B (</a:t>
            </a:r>
            <a:r>
              <a:rPr lang="en-AU" dirty="0" err="1"/>
              <a:t>fiberport</a:t>
            </a:r>
            <a:r>
              <a:rPr lang="en-AU" dirty="0"/>
              <a:t>) =&gt; 689.30 USD</a:t>
            </a:r>
          </a:p>
          <a:p>
            <a:r>
              <a:rPr lang="en-AU" dirty="0">
                <a:solidFill>
                  <a:srgbClr val="FFC000"/>
                </a:solidFill>
              </a:rPr>
              <a:t>CFC8-B</a:t>
            </a:r>
            <a:r>
              <a:rPr lang="en-AU" dirty="0"/>
              <a:t> (780 nm) or CFC11P-B (preferrable)– – Two (one to collimate and another to collect)</a:t>
            </a:r>
          </a:p>
          <a:p>
            <a:pPr marL="0" indent="0">
              <a:buNone/>
            </a:pPr>
            <a:r>
              <a:rPr lang="en-AU" dirty="0"/>
              <a:t>    Price:338.29 USD each=&gt; 676.5 USD + posting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28793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AB369-5823-5909-1460-EA30A06FE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D1388-49EB-1A74-A1EB-15B4E6A5A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Additional equipment needed- 480 branch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0B7A5-133E-EE5B-3975-82A2623CD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1739"/>
            <a:ext cx="10515600" cy="4351338"/>
          </a:xfrm>
        </p:spPr>
        <p:txBody>
          <a:bodyPr/>
          <a:lstStyle/>
          <a:p>
            <a:r>
              <a:rPr lang="en-AU" dirty="0" err="1"/>
              <a:t>Toptica</a:t>
            </a:r>
            <a:r>
              <a:rPr lang="en-AU" dirty="0"/>
              <a:t> FOC-MM-480-FCPC</a:t>
            </a:r>
          </a:p>
          <a:p>
            <a:pPr marL="0" indent="0">
              <a:buNone/>
            </a:pPr>
            <a:r>
              <a:rPr lang="en-AU" dirty="0"/>
              <a:t>    Price:</a:t>
            </a:r>
          </a:p>
          <a:p>
            <a:pPr marL="0" indent="0">
              <a:buNone/>
            </a:pPr>
            <a:r>
              <a:rPr lang="en-AU" dirty="0"/>
              <a:t>    or</a:t>
            </a:r>
          </a:p>
          <a:p>
            <a:r>
              <a:rPr lang="en-AU" dirty="0"/>
              <a:t>1 CFC11P-A (480 nm) or 2 CPC11P-A (480 nm) if collimated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28003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137B4-0013-E0FF-148F-AEE6C80C0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1F477-CAFB-9257-795B-C5A40F8B2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2.2 Complete scheme-&gt; Dirty scheme 2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8E926D-2C78-C284-9746-D4F74A90D342}"/>
              </a:ext>
            </a:extLst>
          </p:cNvPr>
          <p:cNvSpPr txBox="1"/>
          <p:nvPr/>
        </p:nvSpPr>
        <p:spPr>
          <a:xfrm>
            <a:off x="153994" y="2475971"/>
            <a:ext cx="1921933" cy="1569660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err="1"/>
              <a:t>DLPro</a:t>
            </a:r>
            <a:r>
              <a:rPr lang="en-US" sz="2400" dirty="0"/>
              <a:t> 780 nm </a:t>
            </a:r>
          </a:p>
          <a:p>
            <a:endParaRPr lang="en-US" sz="2400" dirty="0"/>
          </a:p>
          <a:p>
            <a:endParaRPr lang="en-A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C056EC-37BA-2258-C621-FA12C34C1862}"/>
              </a:ext>
            </a:extLst>
          </p:cNvPr>
          <p:cNvSpPr txBox="1"/>
          <p:nvPr/>
        </p:nvSpPr>
        <p:spPr>
          <a:xfrm>
            <a:off x="2631016" y="2106639"/>
            <a:ext cx="1921933" cy="2308324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err="1"/>
              <a:t>Fiberport</a:t>
            </a:r>
            <a:r>
              <a:rPr lang="en-US" sz="2400" dirty="0"/>
              <a:t> couple into fiber + fiber collimator</a:t>
            </a:r>
          </a:p>
          <a:p>
            <a:endParaRPr lang="en-US" sz="2400" dirty="0"/>
          </a:p>
          <a:p>
            <a:endParaRPr lang="en-AU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ECE6E6-6B6F-D506-2DAF-71200AB65AE6}"/>
              </a:ext>
            </a:extLst>
          </p:cNvPr>
          <p:cNvSpPr txBox="1"/>
          <p:nvPr/>
        </p:nvSpPr>
        <p:spPr>
          <a:xfrm>
            <a:off x="5148803" y="2501748"/>
            <a:ext cx="1857349" cy="1569660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Rubidium</a:t>
            </a:r>
          </a:p>
          <a:p>
            <a:r>
              <a:rPr lang="en-US" sz="2400" dirty="0"/>
              <a:t>cell</a:t>
            </a:r>
          </a:p>
          <a:p>
            <a:endParaRPr lang="en-US" sz="2400" dirty="0"/>
          </a:p>
          <a:p>
            <a:endParaRPr lang="en-AU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CD813A-0AEC-9825-C611-C869B8A0B085}"/>
              </a:ext>
            </a:extLst>
          </p:cNvPr>
          <p:cNvSpPr txBox="1"/>
          <p:nvPr/>
        </p:nvSpPr>
        <p:spPr>
          <a:xfrm>
            <a:off x="10270067" y="2256738"/>
            <a:ext cx="1921933" cy="1938992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Photodetectors and amplifiers</a:t>
            </a:r>
          </a:p>
          <a:p>
            <a:endParaRPr lang="en-US" sz="2400" dirty="0"/>
          </a:p>
          <a:p>
            <a:endParaRPr lang="en-AU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68702F-94D1-2E7A-815F-3C317B155503}"/>
              </a:ext>
            </a:extLst>
          </p:cNvPr>
          <p:cNvSpPr txBox="1"/>
          <p:nvPr/>
        </p:nvSpPr>
        <p:spPr>
          <a:xfrm>
            <a:off x="7602006" y="2501748"/>
            <a:ext cx="1921933" cy="1938992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Fiber </a:t>
            </a:r>
            <a:r>
              <a:rPr lang="en-US" sz="2400" dirty="0" err="1"/>
              <a:t>collimator+fiber</a:t>
            </a:r>
            <a:endParaRPr lang="en-US" sz="2400" dirty="0"/>
          </a:p>
          <a:p>
            <a:endParaRPr lang="en-US" sz="2400" dirty="0"/>
          </a:p>
          <a:p>
            <a:endParaRPr lang="en-AU" sz="24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CE699D-5CED-9BAC-4117-1FFD5DC89DBC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075927" y="3260801"/>
            <a:ext cx="555089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A4187B3-6CFF-75EE-A773-6666A5D80B3E}"/>
              </a:ext>
            </a:extLst>
          </p:cNvPr>
          <p:cNvCxnSpPr>
            <a:cxnSpLocks/>
          </p:cNvCxnSpPr>
          <p:nvPr/>
        </p:nvCxnSpPr>
        <p:spPr>
          <a:xfrm>
            <a:off x="4561422" y="3226234"/>
            <a:ext cx="587381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585269D-6A79-F6E1-35A9-0047EE35406A}"/>
              </a:ext>
            </a:extLst>
          </p:cNvPr>
          <p:cNvCxnSpPr>
            <a:cxnSpLocks/>
          </p:cNvCxnSpPr>
          <p:nvPr/>
        </p:nvCxnSpPr>
        <p:spPr>
          <a:xfrm>
            <a:off x="7006152" y="3260801"/>
            <a:ext cx="587381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911E1EE-8241-4B24-C307-EF92A115B6C7}"/>
              </a:ext>
            </a:extLst>
          </p:cNvPr>
          <p:cNvCxnSpPr>
            <a:cxnSpLocks/>
          </p:cNvCxnSpPr>
          <p:nvPr/>
        </p:nvCxnSpPr>
        <p:spPr>
          <a:xfrm flipV="1">
            <a:off x="9523939" y="3260801"/>
            <a:ext cx="746128" cy="25777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027222A-12B9-F5F3-38F6-A9CD6777B89D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8562973" y="4440740"/>
            <a:ext cx="0" cy="811060"/>
          </a:xfrm>
          <a:prstGeom prst="line">
            <a:avLst/>
          </a:prstGeom>
          <a:ln w="63500"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89C8A8D-725C-3F65-7E13-CB7D487DA882}"/>
              </a:ext>
            </a:extLst>
          </p:cNvPr>
          <p:cNvSpPr txBox="1"/>
          <p:nvPr/>
        </p:nvSpPr>
        <p:spPr>
          <a:xfrm>
            <a:off x="9976904" y="5199793"/>
            <a:ext cx="1921933" cy="1569660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480 nm </a:t>
            </a:r>
            <a:r>
              <a:rPr lang="en-US" sz="2400" dirty="0" err="1"/>
              <a:t>DLPro</a:t>
            </a:r>
            <a:r>
              <a:rPr lang="en-US" sz="2400" dirty="0"/>
              <a:t> laser</a:t>
            </a:r>
          </a:p>
          <a:p>
            <a:endParaRPr lang="en-US" sz="2400" dirty="0"/>
          </a:p>
          <a:p>
            <a:endParaRPr lang="en-AU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72F619-D7D1-87E6-2CF2-FF02D5BA037D}"/>
              </a:ext>
            </a:extLst>
          </p:cNvPr>
          <p:cNvSpPr txBox="1"/>
          <p:nvPr/>
        </p:nvSpPr>
        <p:spPr>
          <a:xfrm>
            <a:off x="6077477" y="5251800"/>
            <a:ext cx="3405696" cy="1569660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err="1"/>
              <a:t>Fiberport</a:t>
            </a:r>
            <a:r>
              <a:rPr lang="en-US" sz="2400" dirty="0"/>
              <a:t> couple into fiber +</a:t>
            </a:r>
            <a:r>
              <a:rPr lang="en-US" sz="2400" dirty="0" err="1"/>
              <a:t>fiber+collimator</a:t>
            </a:r>
            <a:endParaRPr lang="en-US" sz="2400" dirty="0"/>
          </a:p>
          <a:p>
            <a:endParaRPr lang="en-US" sz="2400" dirty="0"/>
          </a:p>
          <a:p>
            <a:endParaRPr lang="en-AU" sz="24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2986EE2-2F27-5A7D-1A8E-0457A289C17B}"/>
              </a:ext>
            </a:extLst>
          </p:cNvPr>
          <p:cNvCxnSpPr>
            <a:stCxn id="5" idx="1"/>
          </p:cNvCxnSpPr>
          <p:nvPr/>
        </p:nvCxnSpPr>
        <p:spPr>
          <a:xfrm flipH="1">
            <a:off x="9523939" y="5984623"/>
            <a:ext cx="452965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60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0EBA0-C536-8E92-0561-81DD79B4F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05B3A-CCD9-9647-4319-719EC4925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969D4-6643-5A1D-3708-79218AAFB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After purchases 1 and 2 if 10 GHz photoreceiver works</a:t>
            </a:r>
          </a:p>
          <a:p>
            <a:pPr marL="514350" indent="-514350">
              <a:buAutoNum type="arabicPeriod"/>
            </a:pPr>
            <a:r>
              <a:rPr lang="en-US" dirty="0"/>
              <a:t>Otherwise, must wait until purchase 3 is fulfilled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68027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6C9EF-2C01-5CD6-F9E1-92AD42CAE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B7193-967F-DE21-A972-6D4E5272F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BD8A5-A2FC-BB7E-8416-DAB8448EC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Purchase a new DET025AFC 2 GHz Si FC/PC coupled photodetector 400-1100 nm 359.72 USD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51202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7CBBC-53F4-57CE-5E3E-E66AAFF8E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F5C3-C3BA-00FC-7176-B1EFEDAB0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Additional equipment needed- 780 branch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2B680-628B-BF38-9EC6-32E0CC71F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1739"/>
            <a:ext cx="10515600" cy="4351338"/>
          </a:xfrm>
        </p:spPr>
        <p:txBody>
          <a:bodyPr/>
          <a:lstStyle/>
          <a:p>
            <a:r>
              <a:rPr lang="en-AU" dirty="0" err="1"/>
              <a:t>Toptica</a:t>
            </a:r>
            <a:r>
              <a:rPr lang="en-AU" dirty="0"/>
              <a:t> FOC-MM-780-FCPC</a:t>
            </a:r>
          </a:p>
          <a:p>
            <a:pPr marL="0" indent="0">
              <a:buNone/>
            </a:pPr>
            <a:r>
              <a:rPr lang="en-AU" dirty="0"/>
              <a:t>    Price:</a:t>
            </a:r>
          </a:p>
          <a:p>
            <a:pPr marL="0" indent="0">
              <a:buNone/>
            </a:pPr>
            <a:r>
              <a:rPr lang="en-AU" dirty="0"/>
              <a:t>    or</a:t>
            </a:r>
          </a:p>
          <a:p>
            <a:pPr marL="0" indent="0">
              <a:buNone/>
            </a:pPr>
            <a:r>
              <a:rPr lang="en-AU" dirty="0"/>
              <a:t>*  PAF 2P- 11B (</a:t>
            </a:r>
            <a:r>
              <a:rPr lang="en-AU" dirty="0" err="1"/>
              <a:t>fiberport</a:t>
            </a:r>
            <a:r>
              <a:rPr lang="en-AU" dirty="0"/>
              <a:t>) =&gt; 689.30 USD</a:t>
            </a:r>
          </a:p>
          <a:p>
            <a:r>
              <a:rPr lang="en-AU" dirty="0">
                <a:solidFill>
                  <a:srgbClr val="FFC000"/>
                </a:solidFill>
              </a:rPr>
              <a:t>CFC8-B</a:t>
            </a:r>
            <a:r>
              <a:rPr lang="en-AU" dirty="0"/>
              <a:t> (780 nm) or CFC11P-B (preferrable)– – Two (one to collimate and another to collect)</a:t>
            </a:r>
          </a:p>
          <a:p>
            <a:pPr marL="0" indent="0">
              <a:buNone/>
            </a:pPr>
            <a:r>
              <a:rPr lang="en-AU" dirty="0"/>
              <a:t>    Price:338.29 USD each=&gt; 676.5 USD + posting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34448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9831D-BE52-334F-0935-D12A5FC9E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1254A-D101-4713-36C2-E1114B344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Additional equipment needed- 480 branch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83118-F167-01D9-8048-C5DE01015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1739"/>
            <a:ext cx="10515600" cy="4351338"/>
          </a:xfrm>
        </p:spPr>
        <p:txBody>
          <a:bodyPr/>
          <a:lstStyle/>
          <a:p>
            <a:r>
              <a:rPr lang="en-AU" dirty="0" err="1"/>
              <a:t>Toptica</a:t>
            </a:r>
            <a:r>
              <a:rPr lang="en-AU" dirty="0"/>
              <a:t> FOC-MM-480-FCPC</a:t>
            </a:r>
          </a:p>
          <a:p>
            <a:pPr marL="0" indent="0">
              <a:buNone/>
            </a:pPr>
            <a:r>
              <a:rPr lang="en-AU" dirty="0"/>
              <a:t>    Price:</a:t>
            </a:r>
          </a:p>
          <a:p>
            <a:pPr marL="0" indent="0">
              <a:buNone/>
            </a:pPr>
            <a:r>
              <a:rPr lang="en-AU" dirty="0"/>
              <a:t>    or</a:t>
            </a:r>
          </a:p>
          <a:p>
            <a:pPr marL="0" indent="0">
              <a:buNone/>
            </a:pPr>
            <a:r>
              <a:rPr lang="en-AU" dirty="0"/>
              <a:t>*  PAF 2P- 11A (</a:t>
            </a:r>
            <a:r>
              <a:rPr lang="en-AU" dirty="0" err="1"/>
              <a:t>fiberport</a:t>
            </a:r>
            <a:r>
              <a:rPr lang="en-AU" dirty="0"/>
              <a:t>) =&gt; 689.30 USD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30844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6031E-8B21-9A3A-3C72-987B4FB2A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85CD0-C935-2508-8872-1D9C93363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2.3 Complete scheme </a:t>
            </a:r>
            <a:r>
              <a:rPr lang="en-US" dirty="0">
                <a:solidFill>
                  <a:srgbClr val="FF0000"/>
                </a:solidFill>
              </a:rPr>
              <a:t>TEMP HALT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34031F-4051-7CAF-F7DA-ECC581B23E8D}"/>
              </a:ext>
            </a:extLst>
          </p:cNvPr>
          <p:cNvSpPr txBox="1"/>
          <p:nvPr/>
        </p:nvSpPr>
        <p:spPr>
          <a:xfrm>
            <a:off x="651933" y="2475971"/>
            <a:ext cx="1921933" cy="1569660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780 nm </a:t>
            </a:r>
            <a:r>
              <a:rPr lang="en-US" sz="2400" dirty="0" err="1"/>
              <a:t>DLPro</a:t>
            </a:r>
            <a:r>
              <a:rPr lang="en-US" sz="2400" dirty="0"/>
              <a:t> laser</a:t>
            </a:r>
          </a:p>
          <a:p>
            <a:endParaRPr lang="en-US" sz="2400" dirty="0"/>
          </a:p>
          <a:p>
            <a:endParaRPr lang="en-A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6E9B4B-B522-D0D5-D495-04189A41CE22}"/>
              </a:ext>
            </a:extLst>
          </p:cNvPr>
          <p:cNvSpPr txBox="1"/>
          <p:nvPr/>
        </p:nvSpPr>
        <p:spPr>
          <a:xfrm>
            <a:off x="2954868" y="2466559"/>
            <a:ext cx="1921933" cy="1569660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Fiber collimator</a:t>
            </a:r>
          </a:p>
          <a:p>
            <a:endParaRPr lang="en-US" sz="2400" dirty="0"/>
          </a:p>
          <a:p>
            <a:endParaRPr lang="en-AU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2034FE-BF43-66EB-79E3-4C1A9D843073}"/>
              </a:ext>
            </a:extLst>
          </p:cNvPr>
          <p:cNvSpPr txBox="1"/>
          <p:nvPr/>
        </p:nvSpPr>
        <p:spPr>
          <a:xfrm>
            <a:off x="5312831" y="2475971"/>
            <a:ext cx="1921933" cy="1569660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Rubidium</a:t>
            </a:r>
          </a:p>
          <a:p>
            <a:r>
              <a:rPr lang="en-US" sz="2400" dirty="0"/>
              <a:t>cell</a:t>
            </a:r>
          </a:p>
          <a:p>
            <a:endParaRPr lang="en-US" sz="2400" dirty="0"/>
          </a:p>
          <a:p>
            <a:endParaRPr lang="en-AU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E87D5F-6070-5B2F-E037-B3409F4F24A9}"/>
              </a:ext>
            </a:extLst>
          </p:cNvPr>
          <p:cNvSpPr txBox="1"/>
          <p:nvPr/>
        </p:nvSpPr>
        <p:spPr>
          <a:xfrm>
            <a:off x="8576733" y="2475971"/>
            <a:ext cx="1921933" cy="1938992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Photodetectors and amplifiers</a:t>
            </a:r>
          </a:p>
          <a:p>
            <a:endParaRPr lang="en-US" sz="2400" dirty="0"/>
          </a:p>
          <a:p>
            <a:endParaRPr lang="en-AU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28842E-700B-0A3A-6450-0CEAFFDB6BAD}"/>
              </a:ext>
            </a:extLst>
          </p:cNvPr>
          <p:cNvSpPr txBox="1"/>
          <p:nvPr/>
        </p:nvSpPr>
        <p:spPr>
          <a:xfrm>
            <a:off x="6781800" y="4812090"/>
            <a:ext cx="1921933" cy="1200329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Fiber coupler</a:t>
            </a:r>
          </a:p>
          <a:p>
            <a:endParaRPr lang="en-US" sz="2400" dirty="0"/>
          </a:p>
          <a:p>
            <a:endParaRPr lang="en-AU" sz="24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1129709-A47A-567A-566D-941877D81C84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2573866" y="3251389"/>
            <a:ext cx="381002" cy="9412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5F45574-C658-7794-8129-19FDF3C0FC38}"/>
              </a:ext>
            </a:extLst>
          </p:cNvPr>
          <p:cNvCxnSpPr/>
          <p:nvPr/>
        </p:nvCxnSpPr>
        <p:spPr>
          <a:xfrm flipV="1">
            <a:off x="4948768" y="3237271"/>
            <a:ext cx="381002" cy="9412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EAFFD46-3764-B129-45BA-E4797096EE6C}"/>
              </a:ext>
            </a:extLst>
          </p:cNvPr>
          <p:cNvCxnSpPr>
            <a:cxnSpLocks/>
          </p:cNvCxnSpPr>
          <p:nvPr/>
        </p:nvCxnSpPr>
        <p:spPr>
          <a:xfrm>
            <a:off x="6096000" y="5596920"/>
            <a:ext cx="770466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94A4098-A9F7-A0A3-1B55-5C4FA6E8AAB5}"/>
              </a:ext>
            </a:extLst>
          </p:cNvPr>
          <p:cNvCxnSpPr>
            <a:cxnSpLocks/>
          </p:cNvCxnSpPr>
          <p:nvPr/>
        </p:nvCxnSpPr>
        <p:spPr>
          <a:xfrm flipV="1">
            <a:off x="6096000" y="4045631"/>
            <a:ext cx="0" cy="1551289"/>
          </a:xfrm>
          <a:prstGeom prst="line">
            <a:avLst/>
          </a:prstGeom>
          <a:ln w="635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FEE1612-A1A9-88EE-8865-353C9F04D405}"/>
              </a:ext>
            </a:extLst>
          </p:cNvPr>
          <p:cNvCxnSpPr>
            <a:cxnSpLocks/>
          </p:cNvCxnSpPr>
          <p:nvPr/>
        </p:nvCxnSpPr>
        <p:spPr>
          <a:xfrm flipV="1">
            <a:off x="9537699" y="4351942"/>
            <a:ext cx="0" cy="648342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5777B20-D72A-EC64-9BEE-4102BD263F8F}"/>
              </a:ext>
            </a:extLst>
          </p:cNvPr>
          <p:cNvCxnSpPr>
            <a:cxnSpLocks/>
          </p:cNvCxnSpPr>
          <p:nvPr/>
        </p:nvCxnSpPr>
        <p:spPr>
          <a:xfrm>
            <a:off x="8703733" y="5000284"/>
            <a:ext cx="833966" cy="0"/>
          </a:xfrm>
          <a:prstGeom prst="line">
            <a:avLst/>
          </a:prstGeom>
          <a:ln w="635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09F9CCE-5AB2-3478-173B-0B2B27DDD60C}"/>
              </a:ext>
            </a:extLst>
          </p:cNvPr>
          <p:cNvSpPr txBox="1"/>
          <p:nvPr/>
        </p:nvSpPr>
        <p:spPr>
          <a:xfrm>
            <a:off x="9800165" y="5095471"/>
            <a:ext cx="1921933" cy="1569660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480 nm </a:t>
            </a:r>
            <a:r>
              <a:rPr lang="en-US" sz="2400" dirty="0" err="1"/>
              <a:t>DLPro</a:t>
            </a:r>
            <a:r>
              <a:rPr lang="en-US" sz="2400" dirty="0"/>
              <a:t> laser</a:t>
            </a:r>
          </a:p>
          <a:p>
            <a:endParaRPr lang="en-US" sz="2400" dirty="0"/>
          </a:p>
          <a:p>
            <a:endParaRPr lang="en-AU" sz="24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315A2CC-43AA-A3EC-4DB7-F62ACE906D5A}"/>
              </a:ext>
            </a:extLst>
          </p:cNvPr>
          <p:cNvCxnSpPr>
            <a:endCxn id="12" idx="3"/>
          </p:cNvCxnSpPr>
          <p:nvPr/>
        </p:nvCxnSpPr>
        <p:spPr>
          <a:xfrm flipH="1">
            <a:off x="8703733" y="5412254"/>
            <a:ext cx="1096432" cy="1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9CA9918-A0CD-A925-808D-BE7935C956B4}"/>
              </a:ext>
            </a:extLst>
          </p:cNvPr>
          <p:cNvCxnSpPr>
            <a:cxnSpLocks/>
          </p:cNvCxnSpPr>
          <p:nvPr/>
        </p:nvCxnSpPr>
        <p:spPr>
          <a:xfrm flipH="1">
            <a:off x="7234764" y="3278547"/>
            <a:ext cx="480482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5591AAB-2DB2-2475-8113-7073B224A367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7715246" y="3246683"/>
            <a:ext cx="27521" cy="1565407"/>
          </a:xfrm>
          <a:prstGeom prst="line">
            <a:avLst/>
          </a:prstGeom>
          <a:ln w="635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921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C9DD2-33FF-5BA8-1DB4-BFA73C881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89CE4-E7B0-8C23-428A-FB490A229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Additional equipment needed- 780 branch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7139A-179D-9F9C-A658-614A32431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1739"/>
            <a:ext cx="10515600" cy="4351338"/>
          </a:xfrm>
        </p:spPr>
        <p:txBody>
          <a:bodyPr/>
          <a:lstStyle/>
          <a:p>
            <a:r>
              <a:rPr lang="en-AU" dirty="0" err="1"/>
              <a:t>Toptica</a:t>
            </a:r>
            <a:r>
              <a:rPr lang="en-AU" dirty="0"/>
              <a:t> FOC-MM-780-FCPC</a:t>
            </a:r>
          </a:p>
          <a:p>
            <a:pPr marL="0" indent="0">
              <a:buNone/>
            </a:pPr>
            <a:r>
              <a:rPr lang="en-AU" dirty="0"/>
              <a:t>    Price:</a:t>
            </a:r>
          </a:p>
          <a:p>
            <a:pPr marL="0" indent="0">
              <a:buNone/>
            </a:pPr>
            <a:r>
              <a:rPr lang="en-AU" dirty="0"/>
              <a:t>    or</a:t>
            </a:r>
          </a:p>
          <a:p>
            <a:pPr marL="0" indent="0">
              <a:buNone/>
            </a:pPr>
            <a:r>
              <a:rPr lang="en-AU" dirty="0"/>
              <a:t>*  PAF 2P- 11B (</a:t>
            </a:r>
            <a:r>
              <a:rPr lang="en-AU" dirty="0" err="1"/>
              <a:t>fiberport</a:t>
            </a:r>
            <a:r>
              <a:rPr lang="en-AU" dirty="0"/>
              <a:t>) =&gt; 689.30 USD</a:t>
            </a:r>
          </a:p>
          <a:p>
            <a:r>
              <a:rPr lang="en-AU" dirty="0">
                <a:solidFill>
                  <a:srgbClr val="FFC000"/>
                </a:solidFill>
              </a:rPr>
              <a:t>CFC8-B</a:t>
            </a:r>
            <a:r>
              <a:rPr lang="en-AU" dirty="0"/>
              <a:t> (780 nm) or CFC11P-B (preferrable)– – Two (one to collimate and another to collect)</a:t>
            </a:r>
          </a:p>
          <a:p>
            <a:pPr marL="0" indent="0">
              <a:buNone/>
            </a:pPr>
            <a:r>
              <a:rPr lang="en-AU" dirty="0"/>
              <a:t>    Price:338.29 USD each=&gt; 676.5 USD + posting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46819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2497F-FEAA-D2DC-22C3-14FC693A5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2361C-775C-5D2D-B659-00A2B8AC1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Additional equipment needed- 480 branch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FD1C4-214E-D049-7F3F-C05FD6E88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1739"/>
            <a:ext cx="10515600" cy="4351338"/>
          </a:xfrm>
        </p:spPr>
        <p:txBody>
          <a:bodyPr/>
          <a:lstStyle/>
          <a:p>
            <a:r>
              <a:rPr lang="en-AU" dirty="0" err="1"/>
              <a:t>Toptica</a:t>
            </a:r>
            <a:r>
              <a:rPr lang="en-AU" dirty="0"/>
              <a:t> FOC-MM-780-FCPC</a:t>
            </a:r>
          </a:p>
          <a:p>
            <a:pPr marL="0" indent="0">
              <a:buNone/>
            </a:pPr>
            <a:r>
              <a:rPr lang="en-AU" dirty="0"/>
              <a:t>    Price:</a:t>
            </a:r>
          </a:p>
          <a:p>
            <a:pPr marL="0" indent="0">
              <a:buNone/>
            </a:pPr>
            <a:r>
              <a:rPr lang="en-AU" dirty="0"/>
              <a:t>    or</a:t>
            </a:r>
          </a:p>
          <a:p>
            <a:pPr marL="0" indent="0">
              <a:buNone/>
            </a:pPr>
            <a:r>
              <a:rPr lang="en-AU" dirty="0"/>
              <a:t>*  PAF 2P- 11A (</a:t>
            </a:r>
            <a:r>
              <a:rPr lang="en-AU" dirty="0" err="1"/>
              <a:t>fiberport</a:t>
            </a:r>
            <a:r>
              <a:rPr lang="en-AU" dirty="0"/>
              <a:t>) =&gt; 689.30 USD</a:t>
            </a:r>
          </a:p>
          <a:p>
            <a:r>
              <a:rPr lang="en-AU" dirty="0">
                <a:solidFill>
                  <a:srgbClr val="FFC000"/>
                </a:solidFill>
              </a:rPr>
              <a:t>CFC8-A</a:t>
            </a:r>
            <a:r>
              <a:rPr lang="en-AU" dirty="0"/>
              <a:t> (480 nm) or </a:t>
            </a:r>
            <a:r>
              <a:rPr lang="en-AU" b="1" dirty="0"/>
              <a:t>CFC11P-A (preferrable)</a:t>
            </a:r>
            <a:r>
              <a:rPr lang="en-AU" dirty="0"/>
              <a:t>- One</a:t>
            </a:r>
          </a:p>
          <a:p>
            <a:pPr marL="0" indent="0">
              <a:buNone/>
            </a:pPr>
            <a:r>
              <a:rPr lang="en-AU" dirty="0"/>
              <a:t>    Price:338.29 USD each=&gt; 338.29 USD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54308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6B803-4705-704E-5D99-D35EE32F4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Combined stuff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02DE5-CF96-DDF4-D9C7-B857F6ADF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WDM coupler ???? Chinese companies:</a:t>
            </a:r>
          </a:p>
          <a:p>
            <a:pPr marL="514350" indent="-514350">
              <a:buAutoNum type="arabicPeriod"/>
            </a:pPr>
            <a:r>
              <a:rPr lang="en-US" dirty="0" err="1"/>
              <a:t>CSRayzer</a:t>
            </a:r>
            <a:r>
              <a:rPr lang="en-US" dirty="0"/>
              <a:t> Optical Technology Ltd Haroldo</a:t>
            </a:r>
          </a:p>
          <a:p>
            <a:pPr marL="514350" indent="-514350">
              <a:buAutoNum type="arabicPeriod"/>
            </a:pPr>
            <a:r>
              <a:rPr lang="en-US" dirty="0" err="1"/>
              <a:t>Flyin</a:t>
            </a:r>
            <a:r>
              <a:rPr lang="en-US" dirty="0"/>
              <a:t> optronics co Haroldo</a:t>
            </a:r>
          </a:p>
          <a:p>
            <a:pPr marL="514350" indent="-514350">
              <a:buAutoNum type="arabicPeriod"/>
            </a:pPr>
            <a:r>
              <a:rPr lang="en-US" dirty="0"/>
              <a:t>Opto-link corporation Ltd  Ishara</a:t>
            </a:r>
          </a:p>
          <a:p>
            <a:pPr marL="514350" indent="-514350">
              <a:buAutoNum type="arabicPeriod"/>
            </a:pPr>
            <a:r>
              <a:rPr lang="en-US" dirty="0" err="1"/>
              <a:t>Lfiber</a:t>
            </a:r>
            <a:r>
              <a:rPr lang="en-US" dirty="0"/>
              <a:t> Optic Limited Ishara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AU" dirty="0"/>
              <a:t>A </a:t>
            </a:r>
            <a:r>
              <a:rPr lang="en-AU" b="1" dirty="0" err="1"/>
              <a:t>fiber</a:t>
            </a:r>
            <a:r>
              <a:rPr lang="en-AU" b="1" dirty="0"/>
              <a:t>-pigtailed visible-wavelength dichroic combiner</a:t>
            </a:r>
            <a:endParaRPr lang="en-A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4984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8A819-7742-9652-37E3-28E2B8EA8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09E86-89C3-B55F-FD38-4C73E8422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2.4 Complete scheme </a:t>
            </a:r>
            <a:r>
              <a:rPr lang="en-US" dirty="0">
                <a:solidFill>
                  <a:srgbClr val="FF0000"/>
                </a:solidFill>
              </a:rPr>
              <a:t>HALT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CC473A-7E7A-4F8B-641B-8B2D7F34D13C}"/>
              </a:ext>
            </a:extLst>
          </p:cNvPr>
          <p:cNvSpPr txBox="1"/>
          <p:nvPr/>
        </p:nvSpPr>
        <p:spPr>
          <a:xfrm>
            <a:off x="651933" y="2475971"/>
            <a:ext cx="1921933" cy="1569660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780 nm DBR laser</a:t>
            </a:r>
          </a:p>
          <a:p>
            <a:endParaRPr lang="en-US" sz="2400" dirty="0"/>
          </a:p>
          <a:p>
            <a:endParaRPr lang="en-A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131E19-A134-EFFF-1ED3-5E1EB536023E}"/>
              </a:ext>
            </a:extLst>
          </p:cNvPr>
          <p:cNvSpPr txBox="1"/>
          <p:nvPr/>
        </p:nvSpPr>
        <p:spPr>
          <a:xfrm>
            <a:off x="2954868" y="2466559"/>
            <a:ext cx="1921933" cy="1569660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Fiber collimator</a:t>
            </a:r>
          </a:p>
          <a:p>
            <a:endParaRPr lang="en-US" sz="2400" dirty="0"/>
          </a:p>
          <a:p>
            <a:endParaRPr lang="en-AU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DF6CEB-C0F2-4302-465F-0C57F0A0D73A}"/>
              </a:ext>
            </a:extLst>
          </p:cNvPr>
          <p:cNvSpPr txBox="1"/>
          <p:nvPr/>
        </p:nvSpPr>
        <p:spPr>
          <a:xfrm>
            <a:off x="5312831" y="2475971"/>
            <a:ext cx="1921933" cy="1569660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Rubidium</a:t>
            </a:r>
          </a:p>
          <a:p>
            <a:r>
              <a:rPr lang="en-US" sz="2400" dirty="0"/>
              <a:t>cell</a:t>
            </a:r>
          </a:p>
          <a:p>
            <a:endParaRPr lang="en-US" sz="2400" dirty="0"/>
          </a:p>
          <a:p>
            <a:endParaRPr lang="en-AU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C2B845-0A5A-ACC1-D436-0EE3628101B1}"/>
              </a:ext>
            </a:extLst>
          </p:cNvPr>
          <p:cNvSpPr txBox="1"/>
          <p:nvPr/>
        </p:nvSpPr>
        <p:spPr>
          <a:xfrm>
            <a:off x="8576733" y="2475971"/>
            <a:ext cx="1921933" cy="1938992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Photodetectors and amplifiers</a:t>
            </a:r>
          </a:p>
          <a:p>
            <a:endParaRPr lang="en-US" sz="2400" dirty="0"/>
          </a:p>
          <a:p>
            <a:endParaRPr lang="en-AU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F676B5-F387-E4CB-BE6F-3958B64FD176}"/>
              </a:ext>
            </a:extLst>
          </p:cNvPr>
          <p:cNvSpPr txBox="1"/>
          <p:nvPr/>
        </p:nvSpPr>
        <p:spPr>
          <a:xfrm>
            <a:off x="6781800" y="4812090"/>
            <a:ext cx="1921933" cy="1200329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Fiber coupler</a:t>
            </a:r>
          </a:p>
          <a:p>
            <a:endParaRPr lang="en-US" sz="2400" dirty="0"/>
          </a:p>
          <a:p>
            <a:endParaRPr lang="en-AU" sz="24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E721FB4-4FDE-7A13-9615-40B064A133BC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2573866" y="3251389"/>
            <a:ext cx="381002" cy="9412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EF47074-36B4-4544-61FF-A5E483FBB6A8}"/>
              </a:ext>
            </a:extLst>
          </p:cNvPr>
          <p:cNvCxnSpPr/>
          <p:nvPr/>
        </p:nvCxnSpPr>
        <p:spPr>
          <a:xfrm flipV="1">
            <a:off x="4948768" y="3237271"/>
            <a:ext cx="381002" cy="9412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EA7A2C6-75E4-422D-0763-201B4BC2EBA0}"/>
              </a:ext>
            </a:extLst>
          </p:cNvPr>
          <p:cNvCxnSpPr>
            <a:cxnSpLocks/>
          </p:cNvCxnSpPr>
          <p:nvPr/>
        </p:nvCxnSpPr>
        <p:spPr>
          <a:xfrm>
            <a:off x="6096000" y="5596920"/>
            <a:ext cx="770466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49CD178-B2CE-B8CF-2009-728E8E01D323}"/>
              </a:ext>
            </a:extLst>
          </p:cNvPr>
          <p:cNvCxnSpPr>
            <a:cxnSpLocks/>
          </p:cNvCxnSpPr>
          <p:nvPr/>
        </p:nvCxnSpPr>
        <p:spPr>
          <a:xfrm flipV="1">
            <a:off x="6096000" y="4045631"/>
            <a:ext cx="0" cy="1551289"/>
          </a:xfrm>
          <a:prstGeom prst="line">
            <a:avLst/>
          </a:prstGeom>
          <a:ln w="635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6EC8382-B54F-B7D2-428E-D91BFBAD966D}"/>
              </a:ext>
            </a:extLst>
          </p:cNvPr>
          <p:cNvCxnSpPr>
            <a:cxnSpLocks/>
          </p:cNvCxnSpPr>
          <p:nvPr/>
        </p:nvCxnSpPr>
        <p:spPr>
          <a:xfrm flipV="1">
            <a:off x="9537699" y="4351942"/>
            <a:ext cx="0" cy="648342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7221711-72D8-18D7-F8F9-C816819B11A4}"/>
              </a:ext>
            </a:extLst>
          </p:cNvPr>
          <p:cNvCxnSpPr>
            <a:cxnSpLocks/>
          </p:cNvCxnSpPr>
          <p:nvPr/>
        </p:nvCxnSpPr>
        <p:spPr>
          <a:xfrm>
            <a:off x="8703733" y="5000284"/>
            <a:ext cx="833966" cy="0"/>
          </a:xfrm>
          <a:prstGeom prst="line">
            <a:avLst/>
          </a:prstGeom>
          <a:ln w="635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C56F500-D321-32D6-9E1C-BDE83DA47509}"/>
              </a:ext>
            </a:extLst>
          </p:cNvPr>
          <p:cNvSpPr txBox="1"/>
          <p:nvPr/>
        </p:nvSpPr>
        <p:spPr>
          <a:xfrm>
            <a:off x="9800165" y="5095471"/>
            <a:ext cx="1921933" cy="1569660"/>
          </a:xfrm>
          <a:prstGeom prst="rect">
            <a:avLst/>
          </a:prstGeom>
          <a:solidFill>
            <a:schemeClr val="bg1"/>
          </a:solidFill>
          <a:ln w="793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480 nm DBR laser</a:t>
            </a:r>
          </a:p>
          <a:p>
            <a:endParaRPr lang="en-US" sz="2400" dirty="0"/>
          </a:p>
          <a:p>
            <a:endParaRPr lang="en-AU" sz="24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07BA7B0-520C-EA7E-447B-F2DAA32FB7A7}"/>
              </a:ext>
            </a:extLst>
          </p:cNvPr>
          <p:cNvCxnSpPr>
            <a:endCxn id="12" idx="3"/>
          </p:cNvCxnSpPr>
          <p:nvPr/>
        </p:nvCxnSpPr>
        <p:spPr>
          <a:xfrm flipH="1">
            <a:off x="8703733" y="5412254"/>
            <a:ext cx="1096432" cy="1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B65DD03-C8AB-4530-CC5C-F78707B40AE2}"/>
              </a:ext>
            </a:extLst>
          </p:cNvPr>
          <p:cNvCxnSpPr>
            <a:cxnSpLocks/>
          </p:cNvCxnSpPr>
          <p:nvPr/>
        </p:nvCxnSpPr>
        <p:spPr>
          <a:xfrm flipH="1">
            <a:off x="7234764" y="3278547"/>
            <a:ext cx="480482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1CB95DC-4A36-4683-2993-9E10A1F0691C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7715246" y="3246683"/>
            <a:ext cx="27521" cy="1565407"/>
          </a:xfrm>
          <a:prstGeom prst="line">
            <a:avLst/>
          </a:prstGeom>
          <a:ln w="635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9959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4097A-E493-4B58-DF8F-28B5B45BD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A80E4-658F-4882-2572-18B5127E5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Additional equipment needed- 780 branch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E499F-7A39-8C43-7209-7DDAC9AFC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1739"/>
            <a:ext cx="10515600" cy="4351338"/>
          </a:xfrm>
        </p:spPr>
        <p:txBody>
          <a:bodyPr/>
          <a:lstStyle/>
          <a:p>
            <a:r>
              <a:rPr lang="en-AU" dirty="0" err="1"/>
              <a:t>Toptica</a:t>
            </a:r>
            <a:r>
              <a:rPr lang="en-AU" dirty="0"/>
              <a:t> FOC-MM-780-FCPC</a:t>
            </a:r>
          </a:p>
          <a:p>
            <a:pPr marL="0" indent="0">
              <a:buNone/>
            </a:pPr>
            <a:r>
              <a:rPr lang="en-AU" dirty="0"/>
              <a:t>    Price:</a:t>
            </a:r>
          </a:p>
          <a:p>
            <a:pPr marL="0" indent="0">
              <a:buNone/>
            </a:pPr>
            <a:r>
              <a:rPr lang="en-AU" dirty="0"/>
              <a:t>    or</a:t>
            </a:r>
          </a:p>
          <a:p>
            <a:pPr marL="0" indent="0">
              <a:buNone/>
            </a:pPr>
            <a:r>
              <a:rPr lang="en-AU" dirty="0"/>
              <a:t>*  PAF 2P- 11B (</a:t>
            </a:r>
            <a:r>
              <a:rPr lang="en-AU" dirty="0" err="1"/>
              <a:t>fiberport</a:t>
            </a:r>
            <a:r>
              <a:rPr lang="en-AU" dirty="0"/>
              <a:t>) =&gt; 689.30 USD</a:t>
            </a:r>
          </a:p>
          <a:p>
            <a:r>
              <a:rPr lang="en-AU" dirty="0">
                <a:solidFill>
                  <a:srgbClr val="FFC000"/>
                </a:solidFill>
              </a:rPr>
              <a:t>CFC8-B</a:t>
            </a:r>
            <a:r>
              <a:rPr lang="en-AU" dirty="0"/>
              <a:t> (780 nm) or CFC11P-B (preferrable)– Two (one to collimate and another to collect)</a:t>
            </a:r>
          </a:p>
          <a:p>
            <a:pPr marL="0" indent="0">
              <a:buNone/>
            </a:pPr>
            <a:r>
              <a:rPr lang="en-AU" dirty="0"/>
              <a:t>    Price:338.29 USD each=&gt; 676.5 USD + posting</a:t>
            </a:r>
          </a:p>
          <a:p>
            <a:pPr marL="0" indent="0">
              <a:buNone/>
            </a:pPr>
            <a:r>
              <a:rPr lang="en-AU" dirty="0"/>
              <a:t>* Thorlabs </a:t>
            </a:r>
            <a:r>
              <a:rPr lang="en-US" dirty="0"/>
              <a:t>DBR 780 PN- USD 7202.81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987437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F4E62-33CE-9633-2EF9-FFC9BB4BD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02B84-8253-002A-2A6B-A49B16018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Additional equipment needed- 480 branch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92644-8F31-E8EB-398F-59884DE48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1739"/>
            <a:ext cx="10515600" cy="4351338"/>
          </a:xfrm>
        </p:spPr>
        <p:txBody>
          <a:bodyPr/>
          <a:lstStyle/>
          <a:p>
            <a:r>
              <a:rPr lang="en-AU" dirty="0" err="1"/>
              <a:t>Toptica</a:t>
            </a:r>
            <a:r>
              <a:rPr lang="en-AU" dirty="0"/>
              <a:t> FOC-MM-780-FCPC</a:t>
            </a:r>
          </a:p>
          <a:p>
            <a:pPr marL="0" indent="0">
              <a:buNone/>
            </a:pPr>
            <a:r>
              <a:rPr lang="en-AU" dirty="0"/>
              <a:t>    Price:</a:t>
            </a:r>
          </a:p>
          <a:p>
            <a:pPr marL="0" indent="0">
              <a:buNone/>
            </a:pPr>
            <a:r>
              <a:rPr lang="en-AU" dirty="0"/>
              <a:t>    or</a:t>
            </a:r>
          </a:p>
          <a:p>
            <a:pPr marL="0" indent="0">
              <a:buNone/>
            </a:pPr>
            <a:r>
              <a:rPr lang="en-AU" dirty="0"/>
              <a:t>*  PAF 2P- 11A (</a:t>
            </a:r>
            <a:r>
              <a:rPr lang="en-AU" dirty="0" err="1"/>
              <a:t>fiberport</a:t>
            </a:r>
            <a:r>
              <a:rPr lang="en-AU" dirty="0"/>
              <a:t>) =&gt; 689.30 USD</a:t>
            </a:r>
          </a:p>
          <a:p>
            <a:r>
              <a:rPr lang="en-AU" dirty="0">
                <a:solidFill>
                  <a:srgbClr val="FFC000"/>
                </a:solidFill>
              </a:rPr>
              <a:t>CFC8-A</a:t>
            </a:r>
            <a:r>
              <a:rPr lang="en-AU" dirty="0"/>
              <a:t> (480 nm) or </a:t>
            </a:r>
            <a:r>
              <a:rPr lang="en-AU" b="1" dirty="0"/>
              <a:t>CFC11P-A (preferrable)</a:t>
            </a:r>
            <a:r>
              <a:rPr lang="en-AU" dirty="0"/>
              <a:t>- One</a:t>
            </a:r>
          </a:p>
          <a:p>
            <a:pPr marL="0" indent="0">
              <a:buNone/>
            </a:pPr>
            <a:r>
              <a:rPr lang="en-AU" dirty="0"/>
              <a:t>    Price:338.29 USD each=&gt; 676.5 USD + posting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911171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A18B1-A72A-9CB7-EAD3-82F518C68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AB617-6A42-6102-4E88-D33CC6D21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Combined stuff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79D4E-AD83-8225-0BDF-A1113A179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WDM coupler ???? Chinese companies:</a:t>
            </a:r>
          </a:p>
          <a:p>
            <a:pPr marL="514350" indent="-514350">
              <a:buAutoNum type="arabicPeriod"/>
            </a:pPr>
            <a:r>
              <a:rPr lang="en-US" dirty="0" err="1"/>
              <a:t>CSRayzer</a:t>
            </a:r>
            <a:r>
              <a:rPr lang="en-US" dirty="0"/>
              <a:t> Optical Technology Ltd</a:t>
            </a:r>
          </a:p>
          <a:p>
            <a:pPr marL="514350" indent="-514350">
              <a:buAutoNum type="arabicPeriod"/>
            </a:pPr>
            <a:r>
              <a:rPr lang="en-US" dirty="0" err="1"/>
              <a:t>Flyin</a:t>
            </a:r>
            <a:r>
              <a:rPr lang="en-US" dirty="0"/>
              <a:t> optronics co</a:t>
            </a:r>
          </a:p>
          <a:p>
            <a:pPr marL="514350" indent="-514350">
              <a:buAutoNum type="arabicPeriod"/>
            </a:pPr>
            <a:r>
              <a:rPr lang="en-US" dirty="0"/>
              <a:t>Opto-link corporation Ltd</a:t>
            </a:r>
          </a:p>
          <a:p>
            <a:pPr marL="514350" indent="-514350">
              <a:buAutoNum type="arabicPeriod"/>
            </a:pPr>
            <a:r>
              <a:rPr lang="en-US" dirty="0" err="1"/>
              <a:t>Lfiber</a:t>
            </a:r>
            <a:r>
              <a:rPr lang="en-US" dirty="0"/>
              <a:t> Optic Limited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AU" dirty="0"/>
              <a:t>A </a:t>
            </a:r>
            <a:r>
              <a:rPr lang="en-AU" b="1" dirty="0" err="1"/>
              <a:t>fiber</a:t>
            </a:r>
            <a:r>
              <a:rPr lang="en-AU" b="1" dirty="0"/>
              <a:t>-pigtailed visible-wavelength dichroic combiner</a:t>
            </a:r>
            <a:endParaRPr lang="en-A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5438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49345-8428-1106-4C1B-08D19739B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Phase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1F6D0-8CBC-7529-5A5A-C664CD850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    1. It will take time and money to get a WDM coupler</a:t>
            </a:r>
          </a:p>
          <a:p>
            <a:pPr marL="0" indent="0">
              <a:buNone/>
            </a:pPr>
            <a:r>
              <a:rPr lang="en-AU" dirty="0"/>
              <a:t>2. Also, the </a:t>
            </a:r>
            <a:r>
              <a:rPr lang="en-AU" dirty="0" err="1"/>
              <a:t>fiber</a:t>
            </a:r>
            <a:r>
              <a:rPr lang="en-AU" dirty="0"/>
              <a:t> adaptors will take time</a:t>
            </a:r>
          </a:p>
          <a:p>
            <a:pPr marL="0" indent="0">
              <a:buNone/>
            </a:pPr>
            <a:r>
              <a:rPr lang="en-AU" dirty="0"/>
              <a:t>Order fibre adaptors and </a:t>
            </a:r>
          </a:p>
          <a:p>
            <a:r>
              <a:rPr lang="en-AU" dirty="0"/>
              <a:t>Multimode </a:t>
            </a:r>
            <a:r>
              <a:rPr lang="en-AU" dirty="0" err="1"/>
              <a:t>fiber</a:t>
            </a:r>
            <a:r>
              <a:rPr lang="en-AU" dirty="0"/>
              <a:t>: Thorlabs 50 um diameter multimode OM4</a:t>
            </a:r>
          </a:p>
          <a:p>
            <a:r>
              <a:rPr lang="en-AU" dirty="0" err="1"/>
              <a:t>Toptica</a:t>
            </a:r>
            <a:r>
              <a:rPr lang="en-AU" dirty="0"/>
              <a:t> FOC-MM-780-FCPC</a:t>
            </a:r>
          </a:p>
          <a:p>
            <a:r>
              <a:rPr lang="en-AU" dirty="0" err="1"/>
              <a:t>Toptica</a:t>
            </a:r>
            <a:r>
              <a:rPr lang="en-AU" dirty="0"/>
              <a:t> FOC‑MM‑480‑FCPC</a:t>
            </a:r>
          </a:p>
          <a:p>
            <a:r>
              <a:rPr lang="en-AU" dirty="0"/>
              <a:t>Thorlabs CFC5-A (480 nm) and CFC5-B (780 nm)</a:t>
            </a:r>
          </a:p>
          <a:p>
            <a:r>
              <a:rPr lang="en-AU" dirty="0"/>
              <a:t>Multimode coupler (Chinese company </a:t>
            </a:r>
            <a:r>
              <a:rPr lang="en-AU" dirty="0" err="1"/>
              <a:t>CSRayzer</a:t>
            </a:r>
            <a:r>
              <a:rPr lang="en-A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8350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133B-6B75-35C3-8F0A-D148DAAFB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888F2-5C2F-0AB8-10D7-79F834CCD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972" y="1186997"/>
            <a:ext cx="10515600" cy="5475060"/>
          </a:xfrm>
        </p:spPr>
        <p:txBody>
          <a:bodyPr>
            <a:normAutofit fontScale="25000" lnSpcReduction="20000"/>
          </a:bodyPr>
          <a:lstStyle/>
          <a:p>
            <a:r>
              <a:rPr lang="en-AU" sz="5600" dirty="0"/>
              <a:t>If you drop the lab mounts, then the only things you </a:t>
            </a:r>
            <a:r>
              <a:rPr lang="en-AU" sz="5600" i="1" dirty="0"/>
              <a:t>must</a:t>
            </a:r>
            <a:r>
              <a:rPr lang="en-AU" sz="5600" dirty="0"/>
              <a:t> still add beyond what’s in your slide are:</a:t>
            </a:r>
          </a:p>
          <a:p>
            <a:r>
              <a:rPr lang="en-AU" sz="5600" b="1" dirty="0"/>
              <a:t>Enclosure:</a:t>
            </a:r>
            <a:r>
              <a:rPr lang="en-AU" sz="5600" dirty="0"/>
              <a:t> </a:t>
            </a:r>
            <a:r>
              <a:rPr lang="en-AU" sz="5600" b="1" dirty="0"/>
              <a:t>Metal box + internal plate</a:t>
            </a:r>
            <a:r>
              <a:rPr lang="en-AU" sz="5600" dirty="0"/>
              <a:t> to bolt: cell, collimators, photodiode, WDM, and fibre adaptors so nothing moves.</a:t>
            </a:r>
          </a:p>
          <a:p>
            <a:r>
              <a:rPr lang="en-AU" sz="5600" b="1" dirty="0"/>
              <a:t>Mechanical fixing of optics (non‑lab style):</a:t>
            </a:r>
            <a:r>
              <a:rPr lang="en-AU" sz="5600" dirty="0"/>
              <a:t> </a:t>
            </a:r>
            <a:r>
              <a:rPr lang="en-AU" sz="5600" b="1" dirty="0"/>
              <a:t>Custom brackets / 3D‑printed holders / small L‑brackets</a:t>
            </a:r>
            <a:r>
              <a:rPr lang="en-AU" sz="5600" dirty="0"/>
              <a:t> for:</a:t>
            </a:r>
          </a:p>
          <a:p>
            <a:pPr lvl="1"/>
            <a:r>
              <a:rPr lang="en-AU" sz="5600" dirty="0"/>
              <a:t>rubidium cell</a:t>
            </a:r>
          </a:p>
          <a:p>
            <a:pPr lvl="1"/>
            <a:r>
              <a:rPr lang="en-AU" sz="5600" dirty="0"/>
              <a:t>CFC5‑A / CFC5‑B</a:t>
            </a:r>
          </a:p>
          <a:p>
            <a:pPr lvl="1"/>
            <a:r>
              <a:rPr lang="en-AU" sz="5600" dirty="0"/>
              <a:t>photodetector</a:t>
            </a:r>
          </a:p>
          <a:p>
            <a:pPr lvl="1"/>
            <a:r>
              <a:rPr lang="en-AU" sz="5600" dirty="0"/>
              <a:t>WDM coupler</a:t>
            </a:r>
          </a:p>
          <a:p>
            <a:r>
              <a:rPr lang="en-AU" sz="5600" b="1" dirty="0"/>
              <a:t>Strain relief &amp; feedthroughs:</a:t>
            </a:r>
            <a:endParaRPr lang="en-AU" sz="5600" dirty="0"/>
          </a:p>
          <a:p>
            <a:pPr lvl="1"/>
            <a:r>
              <a:rPr lang="en-AU" sz="5600" dirty="0"/>
              <a:t>fibre strain relief points</a:t>
            </a:r>
          </a:p>
          <a:p>
            <a:pPr lvl="1"/>
            <a:r>
              <a:rPr lang="en-AU" sz="5600" dirty="0"/>
              <a:t>holes/feedthroughs for fibres and RF cables</a:t>
            </a:r>
          </a:p>
          <a:p>
            <a:pPr lvl="1"/>
            <a:r>
              <a:rPr lang="en-AU" sz="5600" dirty="0"/>
              <a:t>maybe FC bulkhead feedthroughs on the box wall</a:t>
            </a:r>
          </a:p>
          <a:p>
            <a:r>
              <a:rPr lang="en-AU" sz="5600" b="1" dirty="0"/>
              <a:t>Compact heater for the cell (if you don’t reuse the bulk one):</a:t>
            </a:r>
            <a:endParaRPr lang="en-AU" sz="5600" dirty="0"/>
          </a:p>
          <a:p>
            <a:pPr lvl="1"/>
            <a:r>
              <a:rPr lang="en-AU" sz="5600" dirty="0"/>
              <a:t>small resistive heater + temperature controller</a:t>
            </a:r>
          </a:p>
          <a:p>
            <a:pPr lvl="1"/>
            <a:r>
              <a:rPr lang="en-AU" sz="5600" dirty="0"/>
              <a:t>thermal insulation around the cell</a:t>
            </a:r>
          </a:p>
          <a:p>
            <a:r>
              <a:rPr lang="en-AU" sz="5600" dirty="0"/>
              <a:t>Everything else in your PPT—lasers, fibre adaptors, OM4, WDM, collimators, detectors, amplifiers—is conceptually complete.</a:t>
            </a:r>
          </a:p>
          <a:p>
            <a:r>
              <a:rPr lang="en-AU" sz="5600" dirty="0"/>
              <a:t>So in portable terms, what’s missing is </a:t>
            </a:r>
            <a:r>
              <a:rPr lang="en-AU" sz="5600" b="1" dirty="0"/>
              <a:t>only</a:t>
            </a:r>
            <a:r>
              <a:rPr lang="en-AU" sz="5600" dirty="0"/>
              <a:t>:</a:t>
            </a:r>
          </a:p>
          <a:p>
            <a:r>
              <a:rPr lang="en-AU" sz="5600" dirty="0"/>
              <a:t>A </a:t>
            </a:r>
            <a:r>
              <a:rPr lang="en-AU" sz="5600" b="1" dirty="0"/>
              <a:t>box</a:t>
            </a:r>
            <a:endParaRPr lang="en-AU" sz="5600" dirty="0"/>
          </a:p>
          <a:p>
            <a:r>
              <a:rPr lang="en-AU" sz="5600" dirty="0"/>
              <a:t>Simple </a:t>
            </a:r>
            <a:r>
              <a:rPr lang="en-AU" sz="5600" b="1" dirty="0"/>
              <a:t>mechanical fixtures</a:t>
            </a:r>
            <a:r>
              <a:rPr lang="en-AU" sz="5600" dirty="0"/>
              <a:t> inside it</a:t>
            </a:r>
          </a:p>
          <a:p>
            <a:r>
              <a:rPr lang="en-AU" sz="5600" b="1" dirty="0"/>
              <a:t>Strain relief / feedthroughs</a:t>
            </a:r>
            <a:endParaRPr lang="en-AU" sz="5600" dirty="0"/>
          </a:p>
          <a:p>
            <a:r>
              <a:rPr lang="en-AU" sz="5600" dirty="0"/>
              <a:t>A </a:t>
            </a:r>
            <a:r>
              <a:rPr lang="en-AU" sz="5600" b="1" dirty="0"/>
              <a:t>compact cell heater</a:t>
            </a:r>
            <a:r>
              <a:rPr lang="en-AU" sz="5600" dirty="0"/>
              <a:t> (if you don’t reuse the bulk hardware)</a:t>
            </a:r>
          </a:p>
          <a:p>
            <a:r>
              <a:rPr lang="en-AU" sz="5600" dirty="0"/>
              <a:t>If you want, we can sketch a one‑page mechanical layout for that box so it’s buildable without any optical mounts at all.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778056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EEF1E-E58D-94B7-2E11-B69616330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list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B659E-4A6E-9779-751D-B9B0053A2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DBR 780 PN- USD 7202.81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230575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BA8D4-81E8-C4CF-4A1B-538EFD7B2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6A336-4FEA-84CA-EDDF-1726ECAD5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b="1" dirty="0"/>
              <a:t>Critical missing items</a:t>
            </a:r>
          </a:p>
          <a:p>
            <a:pPr lvl="0"/>
            <a:r>
              <a:rPr lang="en-AU" dirty="0"/>
              <a:t>Enclosure + internal mounting plate</a:t>
            </a:r>
          </a:p>
          <a:p>
            <a:pPr lvl="0"/>
            <a:r>
              <a:rPr lang="en-AU" dirty="0"/>
              <a:t>Custom brackets / 3D‑printed holders</a:t>
            </a:r>
          </a:p>
          <a:p>
            <a:pPr lvl="0"/>
            <a:r>
              <a:rPr lang="en-AU" dirty="0"/>
              <a:t>Fiber strain relief + feedthroughs</a:t>
            </a:r>
          </a:p>
          <a:p>
            <a:pPr lvl="0"/>
            <a:r>
              <a:rPr lang="en-AU" dirty="0"/>
              <a:t>Compact heater + temperature controller</a:t>
            </a:r>
          </a:p>
          <a:p>
            <a:pPr lvl="0"/>
            <a:r>
              <a:rPr lang="en-AU" dirty="0"/>
              <a:t>WDM coupler </a:t>
            </a:r>
            <a:r>
              <a:rPr lang="en-AU" i="1" dirty="0"/>
              <a:t>specification</a:t>
            </a:r>
            <a:r>
              <a:rPr lang="en-AU" dirty="0"/>
              <a:t> (not just vendor list)</a:t>
            </a:r>
          </a:p>
          <a:p>
            <a:pPr lvl="0"/>
            <a:r>
              <a:rPr lang="en-AU" dirty="0"/>
              <a:t>RF amplifier + power supplies</a:t>
            </a:r>
          </a:p>
          <a:p>
            <a:pPr lvl="0"/>
            <a:r>
              <a:rPr lang="en-AU" dirty="0"/>
              <a:t>Cell mounting hardware</a:t>
            </a:r>
          </a:p>
          <a:p>
            <a:pPr lvl="0"/>
            <a:r>
              <a:rPr lang="en-AU" dirty="0"/>
              <a:t>Assembly tools &amp; documentation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588011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C3664-376E-7E93-7031-7166AFE8A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Ordered</a:t>
            </a:r>
            <a:endParaRPr lang="en-A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49122-9AAB-5F53-0253-6D8683E1C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277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UNSW -&gt; fulfilled </a:t>
            </a:r>
          </a:p>
          <a:p>
            <a:pPr marL="514350" indent="-514350">
              <a:buAutoNum type="arabicPeriod"/>
            </a:pPr>
            <a:r>
              <a:rPr lang="en-US" dirty="0"/>
              <a:t>One (1)  CFC11P-A 480 nm</a:t>
            </a:r>
          </a:p>
          <a:p>
            <a:pPr marL="514350" indent="-514350">
              <a:buAutoNum type="arabicPeriod"/>
            </a:pPr>
            <a:r>
              <a:rPr lang="en-US" dirty="0"/>
              <a:t>One (1)  M116L02 graded  index MM OM4 FC/PC and FC/PC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            Haroldo</a:t>
            </a:r>
          </a:p>
          <a:p>
            <a:pPr marL="514350" indent="-514350">
              <a:buAutoNum type="arabicPeriod"/>
            </a:pPr>
            <a:r>
              <a:rPr lang="en-US" dirty="0"/>
              <a:t> Two (2)  CFC11P-B 780 nm</a:t>
            </a:r>
          </a:p>
          <a:p>
            <a:pPr marL="514350" indent="-514350">
              <a:buAutoNum type="arabicPeriod"/>
            </a:pPr>
            <a:r>
              <a:rPr lang="en-US" dirty="0"/>
              <a:t> Two (2)  M116L02 graded  index MM OM4 FC/PC and FC/PC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5023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B7225-9B47-DB57-6AE8-DF216E2F7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FCB23-A870-4423-13A6-2AA9D076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Ordered</a:t>
            </a:r>
            <a:endParaRPr lang="en-A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0D4F6-2BC6-C830-9246-0EEC6012E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277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Haroldo</a:t>
            </a:r>
          </a:p>
          <a:p>
            <a:pPr marL="514350" indent="-514350">
              <a:buAutoNum type="arabicPeriod"/>
            </a:pPr>
            <a:r>
              <a:rPr lang="en-US" dirty="0"/>
              <a:t>One (1)  CFC11P-A 480 nm</a:t>
            </a:r>
          </a:p>
          <a:p>
            <a:pPr marL="514350" indent="-514350">
              <a:buAutoNum type="arabicPeriod"/>
            </a:pPr>
            <a:r>
              <a:rPr lang="en-US" dirty="0"/>
              <a:t>One (1)  HCP Post mounting bracket for </a:t>
            </a:r>
            <a:r>
              <a:rPr lang="en-US" dirty="0" err="1"/>
              <a:t>fiberport</a:t>
            </a:r>
            <a:endParaRPr lang="en-US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          Haroldo</a:t>
            </a:r>
          </a:p>
          <a:p>
            <a:pPr marL="0" indent="0">
              <a:buNone/>
            </a:pPr>
            <a:r>
              <a:rPr lang="en-AU" dirty="0"/>
              <a:t>1. One DET025AFC 2 GHz Si FC/PC coupled photodetector 400-1100 nm </a:t>
            </a:r>
          </a:p>
          <a:p>
            <a:pPr marL="0" indent="0">
              <a:buNone/>
            </a:pPr>
            <a:r>
              <a:rPr lang="en-AU" dirty="0"/>
              <a:t>         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1199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E80C7-0046-240C-B0AF-B09AED54D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purchase</a:t>
            </a:r>
            <a:endParaRPr lang="en-A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3AD50-0D78-2794-906F-52E890E0E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1. One (1) PAF 2P- 11A (</a:t>
            </a:r>
            <a:r>
              <a:rPr lang="en-AU" dirty="0" err="1"/>
              <a:t>fiberport</a:t>
            </a:r>
            <a:r>
              <a:rPr lang="en-AU" dirty="0"/>
              <a:t>) =&gt; 689.30 USD</a:t>
            </a:r>
          </a:p>
          <a:p>
            <a:pPr marL="0" indent="0">
              <a:buNone/>
            </a:pPr>
            <a:r>
              <a:rPr lang="en-US"/>
              <a:t>2.  One </a:t>
            </a:r>
            <a:r>
              <a:rPr lang="en-US" dirty="0"/>
              <a:t>(1) DET025AFC/M Si biased detector for optical fiber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224006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CA91D-E3E6-6847-B386-E76651A04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Arrived items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93184-E803-C0EB-2DD6-44FA39D12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 </a:t>
            </a:r>
            <a:r>
              <a:rPr lang="en-AU" b="1" dirty="0"/>
              <a:t>Two CFC11P-A (480 nm) have arrived</a:t>
            </a:r>
          </a:p>
          <a:p>
            <a:r>
              <a:rPr lang="en-AU" b="1" dirty="0"/>
              <a:t>ONE 2m OM4 </a:t>
            </a:r>
            <a:r>
              <a:rPr lang="en-AU" b="1" dirty="0" err="1"/>
              <a:t>fiber</a:t>
            </a:r>
            <a:r>
              <a:rPr lang="en-AU" b="1" dirty="0"/>
              <a:t> patch has arrived</a:t>
            </a:r>
            <a:endParaRPr lang="en-AU" dirty="0"/>
          </a:p>
          <a:p>
            <a:pPr marL="0" indent="0">
              <a:buNone/>
            </a:pPr>
            <a:r>
              <a:rPr lang="en-AU" dirty="0"/>
              <a:t>* ONE HCP </a:t>
            </a:r>
            <a:r>
              <a:rPr lang="en-AU" dirty="0" err="1"/>
              <a:t>fiberport</a:t>
            </a:r>
            <a:r>
              <a:rPr lang="en-AU" dirty="0"/>
              <a:t> holder</a:t>
            </a:r>
          </a:p>
        </p:txBody>
      </p:sp>
    </p:spTree>
    <p:extLst>
      <p:ext uri="{BB962C8B-B14F-4D97-AF65-F5344CB8AC3E}">
        <p14:creationId xmlns:p14="http://schemas.microsoft.com/office/powerpoint/2010/main" val="12573225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B2482-F276-A9AC-CD52-369301AF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WDM coupler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1B750C-F5D6-4466-CC92-98FDCE750DBF}"/>
              </a:ext>
            </a:extLst>
          </p:cNvPr>
          <p:cNvSpPr txBox="1"/>
          <p:nvPr/>
        </p:nvSpPr>
        <p:spPr>
          <a:xfrm>
            <a:off x="3143251" y="2600325"/>
            <a:ext cx="2673350" cy="1569660"/>
          </a:xfrm>
          <a:prstGeom prst="rect">
            <a:avLst/>
          </a:prstGeom>
          <a:noFill/>
          <a:ln w="508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/>
              <a:t>WDM</a:t>
            </a:r>
            <a:r>
              <a:rPr lang="en-US" dirty="0"/>
              <a:t> </a:t>
            </a:r>
            <a:r>
              <a:rPr lang="en-US" sz="3200" dirty="0"/>
              <a:t>coupler</a:t>
            </a:r>
          </a:p>
          <a:p>
            <a:endParaRPr lang="en-US" sz="3200" dirty="0"/>
          </a:p>
          <a:p>
            <a:endParaRPr lang="en-AU" sz="32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E23F471-4437-4FE2-7AE3-F9E2000D0D4C}"/>
              </a:ext>
            </a:extLst>
          </p:cNvPr>
          <p:cNvCxnSpPr>
            <a:cxnSpLocks/>
          </p:cNvCxnSpPr>
          <p:nvPr/>
        </p:nvCxnSpPr>
        <p:spPr>
          <a:xfrm flipV="1">
            <a:off x="838200" y="2600325"/>
            <a:ext cx="1390651" cy="43845"/>
          </a:xfrm>
          <a:prstGeom prst="straightConnector1">
            <a:avLst/>
          </a:prstGeom>
          <a:ln w="92075">
            <a:solidFill>
              <a:srgbClr val="922E0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877952-A444-F308-E5EA-797EE4B1CE7B}"/>
              </a:ext>
            </a:extLst>
          </p:cNvPr>
          <p:cNvSpPr txBox="1"/>
          <p:nvPr/>
        </p:nvSpPr>
        <p:spPr>
          <a:xfrm>
            <a:off x="1314451" y="1566952"/>
            <a:ext cx="1828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780 nm beam</a:t>
            </a:r>
            <a:endParaRPr lang="en-AU" sz="32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9B156AB-6519-FD96-C841-45CCDEB5B245}"/>
              </a:ext>
            </a:extLst>
          </p:cNvPr>
          <p:cNvCxnSpPr/>
          <p:nvPr/>
        </p:nvCxnSpPr>
        <p:spPr>
          <a:xfrm flipV="1">
            <a:off x="838200" y="3385155"/>
            <a:ext cx="2305051" cy="43845"/>
          </a:xfrm>
          <a:prstGeom prst="line">
            <a:avLst/>
          </a:prstGeom>
          <a:ln w="635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9C3B037-72C8-639F-3541-C4D0730371F1}"/>
              </a:ext>
            </a:extLst>
          </p:cNvPr>
          <p:cNvSpPr txBox="1"/>
          <p:nvPr/>
        </p:nvSpPr>
        <p:spPr>
          <a:xfrm>
            <a:off x="1314451" y="4541013"/>
            <a:ext cx="1828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480 nm beam</a:t>
            </a:r>
            <a:endParaRPr lang="en-AU" sz="32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D04A399-2FBA-6E0E-46CF-2C3922D1138E}"/>
              </a:ext>
            </a:extLst>
          </p:cNvPr>
          <p:cNvCxnSpPr>
            <a:cxnSpLocks/>
          </p:cNvCxnSpPr>
          <p:nvPr/>
        </p:nvCxnSpPr>
        <p:spPr>
          <a:xfrm flipH="1">
            <a:off x="1092200" y="4169985"/>
            <a:ext cx="1524000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4586B18-13ED-88C2-1B36-044EA957BB02}"/>
              </a:ext>
            </a:extLst>
          </p:cNvPr>
          <p:cNvCxnSpPr/>
          <p:nvPr/>
        </p:nvCxnSpPr>
        <p:spPr>
          <a:xfrm flipV="1">
            <a:off x="5816601" y="2826355"/>
            <a:ext cx="2305051" cy="43845"/>
          </a:xfrm>
          <a:prstGeom prst="line">
            <a:avLst/>
          </a:prstGeom>
          <a:ln w="635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3B3D04-B108-5C44-AF00-629F533FB5BC}"/>
              </a:ext>
            </a:extLst>
          </p:cNvPr>
          <p:cNvCxnSpPr/>
          <p:nvPr/>
        </p:nvCxnSpPr>
        <p:spPr>
          <a:xfrm flipV="1">
            <a:off x="5842001" y="3816956"/>
            <a:ext cx="2305051" cy="43845"/>
          </a:xfrm>
          <a:prstGeom prst="line">
            <a:avLst/>
          </a:prstGeom>
          <a:ln w="635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B7942F3-7C61-7118-1C35-632BCF78BA8B}"/>
              </a:ext>
            </a:extLst>
          </p:cNvPr>
          <p:cNvCxnSpPr>
            <a:cxnSpLocks/>
          </p:cNvCxnSpPr>
          <p:nvPr/>
        </p:nvCxnSpPr>
        <p:spPr>
          <a:xfrm flipV="1">
            <a:off x="6756401" y="2192754"/>
            <a:ext cx="1390651" cy="43845"/>
          </a:xfrm>
          <a:prstGeom prst="straightConnector1">
            <a:avLst/>
          </a:prstGeom>
          <a:ln w="92075">
            <a:solidFill>
              <a:srgbClr val="922E0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E11E52B-241E-B98D-F7CC-4065A5ACB93C}"/>
              </a:ext>
            </a:extLst>
          </p:cNvPr>
          <p:cNvSpPr txBox="1"/>
          <p:nvPr/>
        </p:nvSpPr>
        <p:spPr>
          <a:xfrm>
            <a:off x="6537326" y="1028343"/>
            <a:ext cx="1828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780 nm beam</a:t>
            </a:r>
            <a:endParaRPr lang="en-AU" sz="3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F7D04A-3FE8-B824-98E4-478EDA4440FC}"/>
              </a:ext>
            </a:extLst>
          </p:cNvPr>
          <p:cNvSpPr txBox="1"/>
          <p:nvPr/>
        </p:nvSpPr>
        <p:spPr>
          <a:xfrm>
            <a:off x="6318252" y="4541013"/>
            <a:ext cx="1828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480 nm beam</a:t>
            </a:r>
            <a:endParaRPr lang="en-AU" sz="32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AB01F1E-F400-E4E5-E5C7-DBD1EA573FA9}"/>
              </a:ext>
            </a:extLst>
          </p:cNvPr>
          <p:cNvCxnSpPr>
            <a:cxnSpLocks/>
          </p:cNvCxnSpPr>
          <p:nvPr/>
        </p:nvCxnSpPr>
        <p:spPr>
          <a:xfrm flipH="1">
            <a:off x="6689726" y="4174370"/>
            <a:ext cx="1524000" cy="0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101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1342</Words>
  <Application>Microsoft Office PowerPoint</Application>
  <PresentationFormat>Widescreen</PresentationFormat>
  <Paragraphs>226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Aptos</vt:lpstr>
      <vt:lpstr>Aptos Display</vt:lpstr>
      <vt:lpstr>Arial</vt:lpstr>
      <vt:lpstr>Office Theme</vt:lpstr>
      <vt:lpstr>Portable Rydberg System</vt:lpstr>
      <vt:lpstr>Original setup</vt:lpstr>
      <vt:lpstr>1.1 Oversimplified scheme </vt:lpstr>
      <vt:lpstr>Feasibility</vt:lpstr>
      <vt:lpstr>Additional equipment needed</vt:lpstr>
      <vt:lpstr>Other</vt:lpstr>
      <vt:lpstr>Initial results 30 September 2026</vt:lpstr>
      <vt:lpstr>1.2 Oversimplified scheme HALT</vt:lpstr>
      <vt:lpstr>Additional equipment needed</vt:lpstr>
      <vt:lpstr>Other</vt:lpstr>
      <vt:lpstr>2.1 Complete scheme-&gt; Dirty scheme 1</vt:lpstr>
      <vt:lpstr>Feasibility</vt:lpstr>
      <vt:lpstr>Additional equipment needed- 780 branch</vt:lpstr>
      <vt:lpstr>Additional equipment needed- 480 branch</vt:lpstr>
      <vt:lpstr>2.2 Complete scheme-&gt; Dirty scheme 2</vt:lpstr>
      <vt:lpstr>Feasibility</vt:lpstr>
      <vt:lpstr>Other</vt:lpstr>
      <vt:lpstr>Additional equipment needed- 780 branch</vt:lpstr>
      <vt:lpstr>Additional equipment needed- 480 branch</vt:lpstr>
      <vt:lpstr>2.3 Complete scheme TEMP HALT</vt:lpstr>
      <vt:lpstr>Additional equipment needed- 780 branch</vt:lpstr>
      <vt:lpstr>Additional equipment needed- 480 branch</vt:lpstr>
      <vt:lpstr>Combined stuff</vt:lpstr>
      <vt:lpstr>2.4 Complete scheme HALT</vt:lpstr>
      <vt:lpstr>Additional equipment needed- 780 branch</vt:lpstr>
      <vt:lpstr>Additional equipment needed- 480 branch</vt:lpstr>
      <vt:lpstr>Combined stuff</vt:lpstr>
      <vt:lpstr>Phase 1 </vt:lpstr>
      <vt:lpstr>More</vt:lpstr>
      <vt:lpstr>Price list</vt:lpstr>
      <vt:lpstr>items</vt:lpstr>
      <vt:lpstr>Ordered</vt:lpstr>
      <vt:lpstr>Ordered</vt:lpstr>
      <vt:lpstr>Future purchase</vt:lpstr>
      <vt:lpstr>Arrived items</vt:lpstr>
      <vt:lpstr>WDM coupler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Haroldo Hattori</dc:creator>
  <cp:lastModifiedBy>Haroldo Hattori</cp:lastModifiedBy>
  <cp:revision>134</cp:revision>
  <dcterms:created xsi:type="dcterms:W3CDTF">2026-09-10T02:01:34Z</dcterms:created>
  <dcterms:modified xsi:type="dcterms:W3CDTF">2026-10-01T02:53:26Z</dcterms:modified>
</cp:coreProperties>
</file>